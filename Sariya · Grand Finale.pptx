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4" r:id="rId10"/>
    <p:sldId id="270" r:id="rId16"/>
    <p:sldId id="259" r:id="rId5"/>
    <p:sldId id="261" r:id="rId7"/>
    <p:sldId id="262" r:id="rId8"/>
    <p:sldId id="265" r:id="rId11"/>
    <p:sldId id="258" r:id="rId4"/>
    <p:sldId id="263" r:id="rId9"/>
    <p:sldId id="266" r:id="rId12"/>
    <p:sldId id="267" r:id="rId13"/>
    <p:sldId id="268" r:id="rId14"/>
    <p:sldId id="269" r:id="rId15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2465"/>
            <a:ext cx="10160000" cy="754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97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97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1923"/>
            <a:ext cx="10566400" cy="387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2465"/>
            <a:ext cx="10160000" cy="754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97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97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1923"/>
            <a:ext cx="10566400" cy="387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b reinforcement mesh at dusk on a construction site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1110">
                  <a:alpha val="15000"/>
                </a:srgbClr>
              </a:gs>
              <a:gs pos="45000">
                <a:srgbClr val="111110">
                  <a:alpha val="55000"/>
                </a:srgbClr>
              </a:gs>
              <a:gs pos="100000">
                <a:srgbClr val="111110">
                  <a:alpha val="96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IQOO HACKATHON 2026 · GRAND FINALE · TOP TEAMS DEMO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656979"/>
            <a:ext cx="1088339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600"/>
              </a:lnSpc>
              <a:buNone/>
            </a:pPr>
            <a:r>
              <a:rPr lang="en-US" sz="8000" b="1" i="0" spc="-30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Sariya</a:t>
            </a:r>
            <a:r>
              <a:rPr lang="en-US" sz="8000" b="1" i="0" spc="-300" kern="0" dirty="0">
                <a:solidFill>
                  <a:srgbClr val="FF6A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812800" y="3825379"/>
            <a:ext cx="9156700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10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the steel before the concrete hides it.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12800" y="4988620"/>
            <a:ext cx="850265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phone and a printed card measure every bar in millimetres, offline on the NPU. The mason hears the fix in Hindi or Kannada; the engineer signs the record.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2523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Alwin · Sabari · Melvin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55492" y="6238280"/>
            <a:ext cx="2523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Bengaluru · 11 Oct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ONE-DAY WINDOW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70918"/>
            <a:ext cx="10464800" cy="189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96"/>
              </a:lnSpc>
              <a:buNone/>
            </a:pPr>
            <a:r>
              <a:rPr lang="en-US" sz="4800" b="1" i="0" spc="-1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steel in a house is visible for a day or two. Then concrete hides it for good.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4590455"/>
            <a:ext cx="2489200" cy="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777780"/>
            <a:ext cx="2563876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Stirrups spaced evenly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379740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the drawing wants them tight at the beam ends.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5200" y="4590455"/>
            <a:ext cx="2489200" cy="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200" y="4777780"/>
            <a:ext cx="2563876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missing or swapped bar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5200" y="5379740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10 mm bar where the drawing says 12.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7600" y="4590455"/>
            <a:ext cx="2489200" cy="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7600" y="4777780"/>
            <a:ext cx="2563876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steel trampled flat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7600" y="5379740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cover blocks, nothing over the supports.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90000" y="4590455"/>
            <a:ext cx="2489200" cy="0"/>
          </a:xfrm>
          <a:prstGeom prst="line">
            <a:avLst/>
          </a:prstGeom>
          <a:noFill/>
          <a:ln w="19050">
            <a:solidFill>
              <a:srgbClr val="4F4F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0000" y="4777780"/>
            <a:ext cx="2563876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tonight, or never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90000" y="5379740"/>
            <a:ext cx="256387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Minutes to fix tonight. After the pour, the only fix is a jackhammer.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74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why this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/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4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SITE VISIT · SMALL TO MID-SIZE HOUSE · BENGALURU · 9 OCT</a:t>
            </a:r>
            <a:endParaRPr lang="en-US" sz="108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9209"/>
            <a:ext cx="10464800" cy="877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55"/>
              </a:lnSpc>
              <a:buNone/>
            </a:pPr>
            <a:r>
              <a:rPr lang="en-US" sz="3195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Everyone agrees the steel must match the drawing. Between visits, nobody measures it.</a:t>
            </a:r>
            <a:endParaRPr lang="en-US" sz="3195" dirty="0"/>
          </a:p>
        </p:txBody>
      </p:sp>
      <p:sp>
        <p:nvSpPr>
          <p:cNvPr id="4" name="Shape 2"/>
          <p:cNvSpPr/>
          <p:nvPr/>
        </p:nvSpPr>
        <p:spPr>
          <a:xfrm>
            <a:off x="815975" y="2238821"/>
            <a:ext cx="3380284" cy="2107704"/>
          </a:xfrm>
          <a:prstGeom prst="roundRect">
            <a:avLst>
              <a:gd name="adj" fmla="val 5875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95996"/>
            <a:ext cx="2951912" cy="23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COST</a:t>
            </a:r>
            <a:endParaRPr lang="en-US" sz="1159" dirty="0"/>
          </a:p>
        </p:txBody>
      </p:sp>
      <p:sp>
        <p:nvSpPr>
          <p:cNvPr id="6" name="Text 4"/>
          <p:cNvSpPr/>
          <p:nvPr/>
        </p:nvSpPr>
        <p:spPr>
          <a:xfrm>
            <a:off x="1073150" y="2790974"/>
            <a:ext cx="2951912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3"/>
              </a:lnSpc>
              <a:buNone/>
            </a:pPr>
            <a:r>
              <a:rPr lang="en-US" sz="4263" b="1" spc="-150" kern="0" dirty="0">
                <a:solidFill>
                  <a:srgbClr val="B542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₹5–10k</a:t>
            </a:r>
            <a:endParaRPr lang="en-US" sz="4263" dirty="0"/>
          </a:p>
        </p:txBody>
      </p:sp>
      <p:sp>
        <p:nvSpPr>
          <p:cNvPr id="7" name="Text 5"/>
          <p:cNvSpPr/>
          <p:nvPr/>
        </p:nvSpPr>
        <p:spPr>
          <a:xfrm>
            <a:off x="1073150" y="3419624"/>
            <a:ext cx="2951912" cy="69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7"/>
              </a:lnSpc>
              <a:buNone/>
            </a:pPr>
            <a:r>
              <a:rPr lang="en-US" sz="1255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engineer visit, quoted on site. Small houses skip it, or stretch one visit across many pours.</a:t>
            </a:r>
            <a:endParaRPr lang="en-US" sz="1255" dirty="0"/>
          </a:p>
        </p:txBody>
      </p:sp>
      <p:sp>
        <p:nvSpPr>
          <p:cNvPr id="8" name="Shape 6"/>
          <p:cNvSpPr/>
          <p:nvPr/>
        </p:nvSpPr>
        <p:spPr>
          <a:xfrm>
            <a:off x="4405809" y="2238821"/>
            <a:ext cx="3380333" cy="2107704"/>
          </a:xfrm>
          <a:prstGeom prst="roundRect">
            <a:avLst>
              <a:gd name="adj" fmla="val 5875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495996"/>
            <a:ext cx="2951963" cy="208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THE CREW SAID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2984" y="2767509"/>
            <a:ext cx="3119983" cy="6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5"/>
              </a:lnSpc>
              <a:buNone/>
            </a:pPr>
            <a:r>
              <a:rPr lang="en-US" sz="2643" b="1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“Exactly as drawn”</a:t>
            </a:r>
            <a:endParaRPr lang="en-US" sz="2643" dirty="0"/>
          </a:p>
        </p:txBody>
      </p:sp>
      <p:sp>
        <p:nvSpPr>
          <p:cNvPr id="11" name="Text 9"/>
          <p:cNvSpPr/>
          <p:nvPr/>
        </p:nvSpPr>
        <p:spPr>
          <a:xfrm>
            <a:off x="4662984" y="3495725"/>
            <a:ext cx="2951963" cy="619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deviation gets corrected until it matches. Only the engineer clears the pour.</a:t>
            </a:r>
            <a:endParaRPr lang="en-US" sz="1121" dirty="0"/>
          </a:p>
        </p:txBody>
      </p:sp>
      <p:sp>
        <p:nvSpPr>
          <p:cNvPr id="12" name="Shape 10"/>
          <p:cNvSpPr/>
          <p:nvPr/>
        </p:nvSpPr>
        <p:spPr>
          <a:xfrm>
            <a:off x="7995692" y="2238821"/>
            <a:ext cx="3380333" cy="2107704"/>
          </a:xfrm>
          <a:prstGeom prst="roundRect">
            <a:avLst>
              <a:gd name="adj" fmla="val 5875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67" y="2495996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WE SAW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2867" y="2798217"/>
            <a:ext cx="3119983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Errors in the steel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52867" y="3260477"/>
            <a:ext cx="295196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Mistakes the crew themselves said the engineer would not accept. Nobody had measured yet.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610050"/>
            <a:ext cx="105664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794200"/>
            <a:ext cx="3488233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55–57% of India's cement goes into housing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5319961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CRISIL, FY25. Rural housing alone is 32–34%.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2634" y="4794200"/>
            <a:ext cx="3589883" cy="46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53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Liability is moving onto the engineer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4402634" y="5268962"/>
            <a:ext cx="3488284" cy="59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Bengaluru's Nambike Nakshe: professionals self-certify plans. Taratala, June 2026: the structural engineer was arrested.</a:t>
            </a:r>
            <a:endParaRPr lang="en-US" sz="1076" dirty="0"/>
          </a:p>
        </p:txBody>
      </p:sp>
      <p:sp>
        <p:nvSpPr>
          <p:cNvPr id="21" name="Text 19"/>
          <p:cNvSpPr/>
          <p:nvPr/>
        </p:nvSpPr>
        <p:spPr>
          <a:xfrm>
            <a:off x="7992517" y="4794200"/>
            <a:ext cx="3488284" cy="46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445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check: a tape and a WhatsApp photo</a:t>
            </a:r>
            <a:endParaRPr lang="en-US" sz="1445" dirty="0"/>
          </a:p>
        </p:txBody>
      </p:sp>
      <p:sp>
        <p:nvSpPr>
          <p:cNvPr id="22" name="Text 20"/>
          <p:cNvSpPr/>
          <p:nvPr/>
        </p:nvSpPr>
        <p:spPr>
          <a:xfrm>
            <a:off x="7992517" y="5268962"/>
            <a:ext cx="3488284" cy="59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8"/>
              </a:lnSpc>
              <a:buNone/>
            </a:pPr>
            <a:r>
              <a:rPr lang="en-US" sz="1091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measured, nothing recorded, nothing signed. One site, first-hand. We do not quote it as a statistic.</a:t>
            </a:r>
            <a:endParaRPr lang="en-US" sz="1091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274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why this problem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WE BUILT · RUNNING ON THE IQOO 15 · AIRPLANE MODE THROUGHOUT</a:t>
            </a:r>
            <a:endParaRPr lang="en-US" sz="94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6488"/>
            <a:ext cx="11379200" cy="77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84"/>
              </a:lnSpc>
              <a:buNone/>
            </a:pPr>
            <a:r>
              <a:rPr lang="en-US" sz="3128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card, offline: the whole pour loop, scan to signature</a:t>
            </a:r>
            <a:endParaRPr lang="en-US" sz="3128" dirty="0"/>
          </a:p>
        </p:txBody>
      </p:sp>
      <p:sp>
        <p:nvSpPr>
          <p:cNvPr id="4" name="Shape 2"/>
          <p:cNvSpPr/>
          <p:nvPr/>
        </p:nvSpPr>
        <p:spPr>
          <a:xfrm>
            <a:off x="815975" y="2113855"/>
            <a:ext cx="3397250" cy="1770410"/>
          </a:xfrm>
          <a:prstGeom prst="roundRect">
            <a:avLst>
              <a:gd name="adj" fmla="val 699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320230"/>
            <a:ext cx="3021711" cy="204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Engineer phone</a:t>
            </a:r>
            <a:endParaRPr lang="en-US" sz="1016" dirty="0"/>
          </a:p>
        </p:txBody>
      </p:sp>
      <p:sp>
        <p:nvSpPr>
          <p:cNvPr id="6" name="Text 4"/>
          <p:cNvSpPr/>
          <p:nvPr/>
        </p:nvSpPr>
        <p:spPr>
          <a:xfrm>
            <a:off x="1047750" y="2575917"/>
            <a:ext cx="3021711" cy="467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53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drawing values, signed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1047750" y="3094484"/>
            <a:ext cx="3021711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1117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size, spacing, stirrup zones, cover. Signed with a PIN. The app never invents a value.</a:t>
            </a:r>
            <a:endParaRPr lang="en-US" sz="1117" dirty="0"/>
          </a:p>
        </p:txBody>
      </p:sp>
      <p:sp>
        <p:nvSpPr>
          <p:cNvPr id="8" name="Shape 6"/>
          <p:cNvSpPr/>
          <p:nvPr/>
        </p:nvSpPr>
        <p:spPr>
          <a:xfrm>
            <a:off x="4397375" y="2113855"/>
            <a:ext cx="3397250" cy="1770410"/>
          </a:xfrm>
          <a:prstGeom prst="roundRect">
            <a:avLst>
              <a:gd name="adj" fmla="val 699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150" y="2320230"/>
            <a:ext cx="3021711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74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Operator phone</a:t>
            </a:r>
            <a:endParaRPr lang="en-US" sz="874" dirty="0"/>
          </a:p>
        </p:txBody>
      </p:sp>
      <p:sp>
        <p:nvSpPr>
          <p:cNvPr id="10" name="Text 8"/>
          <p:cNvSpPr/>
          <p:nvPr/>
        </p:nvSpPr>
        <p:spPr>
          <a:xfrm>
            <a:off x="4629150" y="2550964"/>
            <a:ext cx="31623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34"/>
              </a:lnSpc>
              <a:buNone/>
            </a:pPr>
            <a:r>
              <a:rPr lang="en-US" sz="1682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Scans live, lines on every bar</a:t>
            </a:r>
            <a:endParaRPr lang="en-US" sz="1682" dirty="0"/>
          </a:p>
        </p:txBody>
      </p:sp>
      <p:sp>
        <p:nvSpPr>
          <p:cNvPr id="11" name="Text 9"/>
          <p:cNvSpPr/>
          <p:nvPr/>
        </p:nvSpPr>
        <p:spPr>
          <a:xfrm>
            <a:off x="4629150" y="3008064"/>
            <a:ext cx="3021711" cy="695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printed card gives true scale. Gaps show in mm as you move. Lock fuses ~1.2 s of sharp frames into one value with its band.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978775" y="2113855"/>
            <a:ext cx="3397250" cy="1770410"/>
          </a:xfrm>
          <a:prstGeom prst="roundRect">
            <a:avLst>
              <a:gd name="adj" fmla="val 699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0550" y="2320230"/>
            <a:ext cx="302171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Rulebook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10550" y="2579985"/>
            <a:ext cx="3021711" cy="25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586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Decides, or says re-scan</a:t>
            </a:r>
            <a:endParaRPr lang="en-US" sz="1586" dirty="0"/>
          </a:p>
        </p:txBody>
      </p:sp>
      <p:sp>
        <p:nvSpPr>
          <p:cNvPr id="15" name="Text 13"/>
          <p:cNvSpPr/>
          <p:nvPr/>
        </p:nvSpPr>
        <p:spPr>
          <a:xfrm>
            <a:off x="8210550" y="2882354"/>
            <a:ext cx="3021711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9"/>
              </a:lnSpc>
              <a:buNone/>
            </a:pPr>
            <a:r>
              <a:rPr lang="en-US" sz="1207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Drawing first, then IS 456 and IS 13920 by zone. Within limits, outside limits, needs a tape reading, or re-scan. Never "safe".</a:t>
            </a:r>
            <a:endParaRPr lang="en-US" sz="1207" dirty="0"/>
          </a:p>
        </p:txBody>
      </p:sp>
      <p:sp>
        <p:nvSpPr>
          <p:cNvPr id="16" name="Shape 14"/>
          <p:cNvSpPr/>
          <p:nvPr/>
        </p:nvSpPr>
        <p:spPr>
          <a:xfrm>
            <a:off x="815975" y="4068415"/>
            <a:ext cx="3397250" cy="1770410"/>
          </a:xfrm>
          <a:prstGeom prst="roundRect">
            <a:avLst>
              <a:gd name="adj" fmla="val 699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" y="4274790"/>
            <a:ext cx="3021711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74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By hand</a:t>
            </a:r>
            <a:endParaRPr lang="en-US" sz="874" dirty="0"/>
          </a:p>
        </p:txBody>
      </p:sp>
      <p:sp>
        <p:nvSpPr>
          <p:cNvPr id="18" name="Text 16"/>
          <p:cNvSpPr/>
          <p:nvPr/>
        </p:nvSpPr>
        <p:spPr>
          <a:xfrm>
            <a:off x="1047750" y="4505523"/>
            <a:ext cx="3162300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Asks for what a camera can't see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1047750" y="4962624"/>
            <a:ext cx="3021711" cy="695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5"/>
              </a:lnSpc>
              <a:buNone/>
            </a:pPr>
            <a:r>
              <a:rPr lang="en-US" sz="115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 by tape. Diameter by weighing a 200 mm offcut against IS 1786 bands. Hooks by template, only where the drawing asks.</a:t>
            </a:r>
            <a:endParaRPr lang="en-US" sz="1154" dirty="0"/>
          </a:p>
        </p:txBody>
      </p:sp>
      <p:sp>
        <p:nvSpPr>
          <p:cNvPr id="20" name="Shape 18"/>
          <p:cNvSpPr/>
          <p:nvPr/>
        </p:nvSpPr>
        <p:spPr>
          <a:xfrm>
            <a:off x="4397375" y="4068415"/>
            <a:ext cx="3397250" cy="1770410"/>
          </a:xfrm>
          <a:prstGeom prst="roundRect">
            <a:avLst>
              <a:gd name="adj" fmla="val 699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9150" y="4274790"/>
            <a:ext cx="3021711" cy="204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The mason</a:t>
            </a:r>
            <a:endParaRPr lang="en-US" sz="1016" dirty="0"/>
          </a:p>
        </p:txBody>
      </p:sp>
      <p:sp>
        <p:nvSpPr>
          <p:cNvPr id="22" name="Text 20"/>
          <p:cNvSpPr/>
          <p:nvPr/>
        </p:nvSpPr>
        <p:spPr>
          <a:xfrm>
            <a:off x="4629150" y="4530477"/>
            <a:ext cx="3021711" cy="467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53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Hears the fix in Hindi or Kannada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4629150" y="5049044"/>
            <a:ext cx="3021711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1"/>
              </a:lnSpc>
              <a:buNone/>
            </a:pPr>
            <a:r>
              <a:rPr lang="en-US" sz="110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"Gap 3 is 100 mm. Drawing says 50 mm. Add 1 bar in gap 3." Spoken offline, subtitled, repeatable.</a:t>
            </a:r>
            <a:endParaRPr lang="en-US" sz="1101" dirty="0"/>
          </a:p>
        </p:txBody>
      </p:sp>
      <p:sp>
        <p:nvSpPr>
          <p:cNvPr id="24" name="Shape 22"/>
          <p:cNvSpPr/>
          <p:nvPr/>
        </p:nvSpPr>
        <p:spPr>
          <a:xfrm>
            <a:off x="7975600" y="4065240"/>
            <a:ext cx="3403600" cy="1776760"/>
          </a:xfrm>
          <a:prstGeom prst="roundRect">
            <a:avLst>
              <a:gd name="adj" fmla="val 7148"/>
            </a:avLst>
          </a:prstGeom>
          <a:solidFill>
            <a:srgbClr val="111110"/>
          </a:solidFill>
          <a:ln/>
        </p:spPr>
      </p:sp>
      <p:sp>
        <p:nvSpPr>
          <p:cNvPr id="25" name="Text 23"/>
          <p:cNvSpPr/>
          <p:nvPr/>
        </p:nvSpPr>
        <p:spPr>
          <a:xfrm>
            <a:off x="8204200" y="4268440"/>
            <a:ext cx="303479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Signed record</a:t>
            </a:r>
            <a:endParaRPr lang="en-US" sz="907" dirty="0"/>
          </a:p>
        </p:txBody>
      </p:sp>
      <p:sp>
        <p:nvSpPr>
          <p:cNvPr id="26" name="Text 24"/>
          <p:cNvSpPr/>
          <p:nvPr/>
        </p:nvSpPr>
        <p:spPr>
          <a:xfrm>
            <a:off x="8204200" y="4500811"/>
            <a:ext cx="3175000" cy="410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1"/>
              </a:lnSpc>
              <a:buNone/>
            </a:pPr>
            <a:r>
              <a:rPr lang="en-US" sz="1401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 approves from their desk</a:t>
            </a:r>
            <a:endParaRPr lang="en-US" sz="1401" dirty="0"/>
          </a:p>
        </p:txBody>
      </p:sp>
      <p:sp>
        <p:nvSpPr>
          <p:cNvPr id="27" name="Text 25"/>
          <p:cNvSpPr/>
          <p:nvPr/>
        </p:nvSpPr>
        <p:spPr>
          <a:xfrm>
            <a:off x="8204200" y="4961930"/>
            <a:ext cx="3034792" cy="702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03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phones, two keys. Reviewed on the laptop over Office Kit. Sign-off QR verifies offline. Replays and edits are rejected.</a:t>
            </a:r>
            <a:endParaRPr lang="en-US" sz="1203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2194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the product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LIVE DEMO · HALF-SCALE PROPS, REAL 8 AND 12 MM STEEL · A JUDGE AT THE TABLE</a:t>
            </a:r>
            <a:endParaRPr lang="en-US" sz="101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15864"/>
            <a:ext cx="10464800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19"/>
              </a:lnSpc>
              <a:buNone/>
            </a:pPr>
            <a:r>
              <a:rPr lang="en-US" sz="2970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jury sees in the next three minutes</a:t>
            </a:r>
            <a:endParaRPr lang="en-US" sz="2970" dirty="0"/>
          </a:p>
        </p:txBody>
      </p:sp>
      <p:sp>
        <p:nvSpPr>
          <p:cNvPr id="4" name="Shape 2"/>
          <p:cNvSpPr/>
          <p:nvPr/>
        </p:nvSpPr>
        <p:spPr>
          <a:xfrm>
            <a:off x="812800" y="1743869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61344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0:20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78000" y="1861344"/>
            <a:ext cx="340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judge breaks the steel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83200" y="1877219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Draws a fault card and applies it: removes a mesh bar, opens a gap to ~80 mm where the drawing says 50, or slides a stirrup out of the end zone.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2351683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469158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0:45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78000" y="2469158"/>
            <a:ext cx="340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Lines snap onto every bar, live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83200" y="2485033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judge slides a bar and its line and number follow. Lock: a verdict with values inside 3 s, spoken in Hindi, subtitled.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2959447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076922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78000" y="3076922"/>
            <a:ext cx="340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judge checks us with a tape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3200" y="3092797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the exact segment the phone drew: "80 ± 5 mm". The band is on the screen before the tape comes out.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567261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684736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78000" y="3684736"/>
            <a:ext cx="340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Honesty on show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83200" y="3700611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0.8 m the phone says "move closer" and Lock is disabled. At 30 cm, a confident "outside limits".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4175075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292550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2:10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78000" y="4292550"/>
            <a:ext cx="340106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weigh test catches a swapped bar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3200" y="4308425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200 mm offcut labelled "12" weighs 123 g. That is a 10 mm bar; a 12 would weigh 178 g (IS 1786).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" y="4790281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800" y="5398095"/>
            <a:ext cx="105664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4907756"/>
            <a:ext cx="812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2:30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78000" y="4907756"/>
            <a:ext cx="35052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engineer signs from the desk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3200" y="4923631"/>
            <a:ext cx="62788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 phone mirrored on the laptop over Office Kit: review, PIN, approve. A third phone verifies the QR offline. Yesterday's pack replayed: rejected.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5629870"/>
            <a:ext cx="10464800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9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phone is in airplane mode. The app checks whatever the drawing says; the half-scale props only halve the distances.</a:t>
            </a:r>
            <a:endParaRPr lang="en-US" sz="1194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1865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the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/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HOW IT WORKS · ONE MODEL IN THE CAMERA LOOP, EVERYTHING ELSE IS MATHS AND RULES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2313"/>
            <a:ext cx="11379200" cy="846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49"/>
              </a:lnSpc>
              <a:buNone/>
            </a:pPr>
            <a:r>
              <a:rPr lang="en-US" sz="3285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finds the bars. Maths measures them. Rules decide.</a:t>
            </a:r>
            <a:endParaRPr lang="en-US" sz="3285" dirty="0"/>
          </a:p>
        </p:txBody>
      </p:sp>
      <p:sp>
        <p:nvSpPr>
          <p:cNvPr id="4" name="Shape 2"/>
          <p:cNvSpPr/>
          <p:nvPr/>
        </p:nvSpPr>
        <p:spPr>
          <a:xfrm>
            <a:off x="815975" y="2200821"/>
            <a:ext cx="5810250" cy="653951"/>
          </a:xfrm>
          <a:prstGeom prst="roundRect">
            <a:avLst>
              <a:gd name="adj" fmla="val 15051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421136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Camera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7850" y="2296666"/>
            <a:ext cx="473532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CameraX preview and analysis at 1920×1080, torch on, blurred frames dropped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2950021"/>
            <a:ext cx="5810250" cy="653901"/>
          </a:xfrm>
          <a:prstGeom prst="roundRect">
            <a:avLst>
              <a:gd name="adj" fmla="val 15052"/>
            </a:avLst>
          </a:prstGeom>
          <a:solidFill>
            <a:srgbClr val="FFE9DB"/>
          </a:solidFill>
          <a:ln w="6350">
            <a:solidFill>
              <a:srgbClr val="FFD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3170287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47850" y="3045867"/>
            <a:ext cx="473532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U-Net + MobileNetV3</a:t>
            </a: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segments bar pixels on the Hexagon NPU: 12 ms a frame, every frame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699173"/>
            <a:ext cx="5810250" cy="653951"/>
          </a:xfrm>
          <a:prstGeom prst="roundRect">
            <a:avLst>
              <a:gd name="adj" fmla="val 15051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950" y="3919488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7850" y="3795018"/>
            <a:ext cx="473532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ChArUco card pose (OpenCV) gives a homography; the mask is warped into the card plane, in mm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4448373"/>
            <a:ext cx="5810250" cy="653951"/>
          </a:xfrm>
          <a:prstGeom prst="roundRect">
            <a:avLst>
              <a:gd name="adj" fmla="val 15051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" y="4668689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4544219"/>
            <a:ext cx="473532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lines from an offset profile; </a:t>
            </a:r>
            <a:r>
              <a:rPr lang="en-US" sz="14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Lock</a:t>
            </a: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fuses ~15 still frames into count and gaps, each with a band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5194399"/>
            <a:ext cx="5816600" cy="647601"/>
          </a:xfrm>
          <a:prstGeom prst="roundRect">
            <a:avLst>
              <a:gd name="adj" fmla="val 15689"/>
            </a:avLst>
          </a:prstGeom>
          <a:solidFill>
            <a:srgbClr val="111110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411539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1500" y="5287070"/>
            <a:ext cx="474840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 rulebook: the drawing, then IS 456, IS 13920 by seismic zone. Plain code, unit-tested, auditable</a:t>
            </a:r>
            <a:endParaRPr lang="en-US" sz="1400" dirty="0"/>
          </a:p>
        </p:txBody>
      </p:sp>
      <p:pic>
        <p:nvPicPr>
          <p:cNvPr id="19" name="Image 0" descr="Segmentation overlay on real rebar: green masks on crossed bars">    </p:cNvPr>
          <p:cNvPicPr>
            <a:picLocks noChangeAspect="1"/>
          </p:cNvPicPr>
          <p:nvPr/>
        </p:nvPicPr>
        <p:blipFill>
          <a:blip r:embed="rId1"/>
          <a:srcRect l="0" r="0" t="6473" b="6473"/>
          <a:stretch/>
        </p:blipFill>
        <p:spPr>
          <a:xfrm>
            <a:off x="6934200" y="2197646"/>
            <a:ext cx="4445000" cy="2148979"/>
          </a:xfrm>
          <a:prstGeom prst="roundRect">
            <a:avLst>
              <a:gd name="adj" fmla="val 4728"/>
            </a:avLst>
          </a:prstGeom>
        </p:spPr>
      </p:pic>
      <p:sp>
        <p:nvSpPr>
          <p:cNvPr id="20" name="Text 17"/>
          <p:cNvSpPr/>
          <p:nvPr/>
        </p:nvSpPr>
        <p:spPr>
          <a:xfrm>
            <a:off x="6934200" y="4448225"/>
            <a:ext cx="4578350" cy="5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039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output on a real rebar test photo never seen in training (IoU 0.94 on this image). Card pose, lines, millimetres and verdicts come from maths, so they never hallucinate.</a:t>
            </a:r>
            <a:endParaRPr lang="en-US" sz="1039" dirty="0"/>
          </a:p>
        </p:txBody>
      </p:sp>
      <p:sp>
        <p:nvSpPr>
          <p:cNvPr id="21" name="Shape 18"/>
          <p:cNvSpPr/>
          <p:nvPr/>
        </p:nvSpPr>
        <p:spPr>
          <a:xfrm>
            <a:off x="6934200" y="5105797"/>
            <a:ext cx="44450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4200" y="5213747"/>
            <a:ext cx="1430834" cy="26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918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~65 ms</a:t>
            </a:r>
            <a:endParaRPr lang="en-US" sz="1918" dirty="0"/>
          </a:p>
        </p:txBody>
      </p:sp>
      <p:sp>
        <p:nvSpPr>
          <p:cNvPr id="23" name="Text 20"/>
          <p:cNvSpPr/>
          <p:nvPr/>
        </p:nvSpPr>
        <p:spPr>
          <a:xfrm>
            <a:off x="6934200" y="5477718"/>
            <a:ext cx="1430834" cy="3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24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whole frame in the app</a:t>
            </a:r>
            <a:endParaRPr lang="en-US" sz="1024" dirty="0"/>
          </a:p>
        </p:txBody>
      </p:sp>
      <p:sp>
        <p:nvSpPr>
          <p:cNvPr id="24" name="Text 21"/>
          <p:cNvSpPr/>
          <p:nvPr/>
        </p:nvSpPr>
        <p:spPr>
          <a:xfrm>
            <a:off x="8466634" y="5213747"/>
            <a:ext cx="14308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466634" y="5518547"/>
            <a:ext cx="1430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cloud calls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999117" y="5213747"/>
            <a:ext cx="1430883" cy="26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918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model</a:t>
            </a:r>
            <a:endParaRPr lang="en-US" sz="1918" dirty="0"/>
          </a:p>
        </p:txBody>
      </p:sp>
      <p:sp>
        <p:nvSpPr>
          <p:cNvPr id="27" name="Text 24"/>
          <p:cNvSpPr/>
          <p:nvPr/>
        </p:nvSpPr>
        <p:spPr>
          <a:xfrm>
            <a:off x="9999117" y="5477718"/>
            <a:ext cx="1430883" cy="3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189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one narrow job</a:t>
            </a:r>
            <a:endParaRPr lang="en-US" sz="1189" dirty="0"/>
          </a:p>
        </p:txBody>
      </p:sp>
      <p:sp>
        <p:nvSpPr>
          <p:cNvPr id="28" name="Text 25"/>
          <p:cNvSpPr/>
          <p:nvPr/>
        </p:nvSpPr>
        <p:spPr>
          <a:xfrm>
            <a:off x="812800" y="6238280"/>
            <a:ext cx="23042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how it works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50" kern="0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DESIGNED TO ABSTAIN · WHAT HAPPENS WHEN THE MODEL IS WRONG</a:t>
            </a:r>
            <a:endParaRPr lang="en-US" sz="101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16261"/>
            <a:ext cx="10464800" cy="4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6"/>
              </a:lnSpc>
              <a:buNone/>
            </a:pPr>
            <a:r>
              <a:rPr lang="en-US" sz="3015" b="1" i="0" spc="-10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Re-scan, never guess</a:t>
            </a:r>
            <a:endParaRPr lang="en-US" sz="3015" dirty="0"/>
          </a:p>
        </p:txBody>
      </p:sp>
      <p:sp>
        <p:nvSpPr>
          <p:cNvPr id="4" name="Shape 2"/>
          <p:cNvSpPr/>
          <p:nvPr/>
        </p:nvSpPr>
        <p:spPr>
          <a:xfrm>
            <a:off x="812800" y="1767384"/>
            <a:ext cx="4064000" cy="4074616"/>
          </a:xfrm>
          <a:prstGeom prst="roundRect">
            <a:avLst>
              <a:gd name="adj" fmla="val 3125"/>
            </a:avLst>
          </a:prstGeom>
          <a:solidFill>
            <a:srgbClr val="1E1E1C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21384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GEOMETRY ON A KNOWN MESH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87104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Measured, 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638524"/>
            <a:ext cx="366268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00" kern="0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50.1 · 49.9 · 64.9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6800" y="3705324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Truth, mm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3956745"/>
            <a:ext cx="36626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00" kern="0" dirty="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 · 50 · 65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66800" y="4566345"/>
            <a:ext cx="366268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Card-S mesh with known positions, the app's own geometry. Every locked value carries a band with a 5 mm field floor; the tape table on real steel grows with every pour.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81600" y="1770559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1600" y="1900734"/>
            <a:ext cx="261620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Within its own band of the limit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74000" y="1916609"/>
            <a:ext cx="361035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says </a:t>
            </a:r>
            <a:r>
              <a:rPr lang="en-US" sz="1300" b="1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re-scan</a:t>
            </a: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"outside". 68 ± 5 mm against a 65 limit says re-scan; 72 ± 5 is outside.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81600" y="2597547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600" y="2727722"/>
            <a:ext cx="26162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Blurred frame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74000" y="2743597"/>
            <a:ext cx="361035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dropped. Sharpness is judged against the best recent frame of the same scan, so nothing needs calibrating per camera.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81600" y="3424486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600" y="3554661"/>
            <a:ext cx="26162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only partly seen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74000" y="3570536"/>
            <a:ext cx="361035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drawn dashed, never counted. A short count or a wide gap that touches one turns into re-scan, not "add a bar".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81600" y="4251424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1600" y="4381599"/>
            <a:ext cx="26162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far from the card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74000" y="4413349"/>
            <a:ext cx="361035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"Move closer", Lock disabled. Only locked, quality-gated evidence ever reaches the rulebook.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81600" y="5011886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1600" y="5838825"/>
            <a:ext cx="61976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1600" y="5142061"/>
            <a:ext cx="26162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6A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Words it never says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4000" y="5157936"/>
            <a:ext cx="361035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"Safe", "certified", "PASS", "pour permit". It reports numbers, bands and evidence. The engineer certifies.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23042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how it works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1379200" cy="358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 RESEARCH · OPEN WEIGHTS, PUBLIC DATASETS, KAGGLE T4, TIMESTAMPED LOGS AND DATASET HASHES IN THE REPO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3274"/>
            <a:ext cx="10464800" cy="7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53"/>
              </a:lnSpc>
              <a:buNone/>
            </a:pPr>
            <a:r>
              <a:rPr lang="en-US" sz="2813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rounds of fine-tuning, measured on the same held-out sets</a:t>
            </a:r>
            <a:endParaRPr lang="en-US" sz="2813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90415"/>
          <a:ext cx="6692900" cy="2334220"/>
        </p:xfrm>
        <a:graphic>
          <a:graphicData uri="http://schemas.openxmlformats.org/drawingml/2006/table">
            <a:tbl>
              <a:tblPr/>
              <a:tblGrid>
                <a:gridCol w="2275586"/>
                <a:gridCol w="1472438"/>
                <a:gridCol w="1472438"/>
                <a:gridCol w="1472438"/>
              </a:tblGrid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b="1" dirty="0">
                          <a:solidFill>
                            <a:srgbClr val="7A7A7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 test sets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b="1" dirty="0">
                          <a:solidFill>
                            <a:srgbClr val="7A7A7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V1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b="1" dirty="0">
                          <a:solidFill>
                            <a:srgbClr val="7A7A7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V2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b="1" dirty="0">
                          <a:solidFill>
                            <a:srgbClr val="B5420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V3 · in the app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</a:tr>
              <a:tr h="496788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Trained on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1,555 real photos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+1,100 negatives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+2,500 stirrup scenes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 IoU (ROI-1555)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0.846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0.811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B5420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0.851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Precision / recall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0.876 / 0.951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0.930 / 0.870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0.921 / 0.919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False alarms, no-rebar tiles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C8200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80%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0%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0E7A3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0%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Recall, 233 real stirrup photos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0.873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B5420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0.910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239">
                <a:tc>
                  <a:txBody>
                    <a:bodyPr/>
                    <a:lstStyle/>
                    <a:p>
                      <a:pPr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NPU latency, iQOO 15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12.2 ms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11.6 ms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1"/>
                        </a:lnSpc>
                        <a:buNone/>
                      </a:pPr>
                      <a:r>
                        <a:rPr lang="en-US" sz="1101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12.1 ms</a:t>
                      </a:r>
                      <a:endParaRPr lang="en-US" sz="1101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8937" marR="48937" marT="48937" marB="48937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808786"/>
            <a:ext cx="67056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942136"/>
            <a:ext cx="6906768" cy="203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2"/>
              </a:lnSpc>
              <a:buNone/>
            </a:pPr>
            <a:r>
              <a:rPr lang="en-US" sz="1094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U-Net + MobileNetV3, and not an off-the-shelf detector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812800" y="5183882"/>
            <a:ext cx="6906768" cy="683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3"/>
              </a:lnSpc>
              <a:buNone/>
            </a:pPr>
            <a:r>
              <a:rPr lang="en-US" sz="117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Full-resolution masks for 9-pixel bars; MIT and Apache weights. YOLO-seg is faster on paper (2–3 ms) but gives quarter-resolution masks under AGPL; DeepLabV3+ smears thin bars; MobileSAM takes 500–750 ms. The exported phone model matches PyTorch on 100% of mask pixels.</a:t>
            </a:r>
            <a:endParaRPr lang="en-US" sz="1174" dirty="0"/>
          </a:p>
        </p:txBody>
      </p:sp>
      <p:pic>
        <p:nvPicPr>
          <p:cNvPr id="8" name="Image 0" descr="V1 on a desk: cables and keyboard marked as bars">    </p:cNvPr>
          <p:cNvPicPr>
            <a:picLocks noChangeAspect="1"/>
          </p:cNvPicPr>
          <p:nvPr/>
        </p:nvPicPr>
        <p:blipFill>
          <a:blip r:embed="rId1"/>
          <a:srcRect l="0" r="0" t="17796" b="17796"/>
          <a:stretch/>
        </p:blipFill>
        <p:spPr>
          <a:xfrm>
            <a:off x="7823200" y="2277715"/>
            <a:ext cx="1727200" cy="2447379"/>
          </a:xfrm>
          <a:prstGeom prst="roundRect">
            <a:avLst>
              <a:gd name="adj" fmla="val 5882"/>
            </a:avLst>
          </a:prstGeom>
        </p:spPr>
      </p:pic>
      <p:sp>
        <p:nvSpPr>
          <p:cNvPr id="9" name="Text 5"/>
          <p:cNvSpPr/>
          <p:nvPr/>
        </p:nvSpPr>
        <p:spPr>
          <a:xfrm>
            <a:off x="7823200" y="4788595"/>
            <a:ext cx="1779016" cy="388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103" dirty="0">
                <a:solidFill>
                  <a:srgbClr val="C8200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V1: cables read as bars</a:t>
            </a:r>
            <a:endParaRPr lang="en-US" sz="1103" dirty="0"/>
          </a:p>
        </p:txBody>
      </p:sp>
      <p:pic>
        <p:nvPicPr>
          <p:cNvPr id="10" name="Image 1" descr="V2 on the same desk: nothing marked">    </p:cNvPr>
          <p:cNvPicPr>
            <a:picLocks noChangeAspect="1"/>
          </p:cNvPicPr>
          <p:nvPr/>
        </p:nvPicPr>
        <p:blipFill>
          <a:blip r:embed="rId2"/>
          <a:srcRect l="0" r="0" t="17796" b="17796"/>
          <a:stretch/>
        </p:blipFill>
        <p:spPr>
          <a:xfrm>
            <a:off x="9652000" y="2277715"/>
            <a:ext cx="1727200" cy="2447379"/>
          </a:xfrm>
          <a:prstGeom prst="roundRect">
            <a:avLst>
              <a:gd name="adj" fmla="val 5882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9652000" y="4788595"/>
            <a:ext cx="1779016" cy="388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103" dirty="0">
                <a:solidFill>
                  <a:srgbClr val="0E7A3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V2: nothing marked, 0.0%</a:t>
            </a:r>
            <a:endParaRPr lang="en-US" sz="1103" dirty="0"/>
          </a:p>
        </p:txBody>
      </p:sp>
      <p:sp>
        <p:nvSpPr>
          <p:cNvPr id="12" name="Text 7"/>
          <p:cNvSpPr/>
          <p:nvPr/>
        </p:nvSpPr>
        <p:spPr>
          <a:xfrm>
            <a:off x="7823200" y="5253732"/>
            <a:ext cx="3662680" cy="613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10" dirty="0">
                <a:solidFill>
                  <a:srgbClr val="7A7A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desk, same phone, live on the NPU. Removing false alarms cost real bars; V3 won recall back with varied data, not more epochs.</a:t>
            </a:r>
            <a:endParaRPr lang="en-US" sz="111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19751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the model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BENCHMARK · IQOO 15 · SNAPDRAGON 8 ELITE GEN 5 · ONE 1152×640 FRAME · MEASURED ON THIS LOANER</a:t>
            </a:r>
            <a:endParaRPr lang="en-US" sz="108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2632"/>
            <a:ext cx="10464800" cy="893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6"/>
              </a:lnSpc>
              <a:buNone/>
            </a:pPr>
            <a:r>
              <a:rPr lang="en-US" sz="3263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ms a frame on the NPU, 19× faster than the CPU</a:t>
            </a:r>
            <a:endParaRPr lang="en-US" sz="3263" dirty="0"/>
          </a:p>
        </p:txBody>
      </p:sp>
      <p:sp>
        <p:nvSpPr>
          <p:cNvPr id="4" name="Text 2"/>
          <p:cNvSpPr/>
          <p:nvPr/>
        </p:nvSpPr>
        <p:spPr>
          <a:xfrm>
            <a:off x="755650" y="23458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CPU · XNNPACK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70200" y="23052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6" name="Shape 4"/>
          <p:cNvSpPr/>
          <p:nvPr/>
        </p:nvSpPr>
        <p:spPr>
          <a:xfrm>
            <a:off x="2870200" y="2305248"/>
            <a:ext cx="3937000" cy="279400"/>
          </a:xfrm>
          <a:prstGeom prst="roundRect">
            <a:avLst>
              <a:gd name="adj" fmla="val 18182"/>
            </a:avLst>
          </a:prstGeom>
          <a:solidFill>
            <a:srgbClr val="9A9A94"/>
          </a:solidFill>
          <a:ln/>
        </p:spPr>
      </p:sp>
      <p:sp>
        <p:nvSpPr>
          <p:cNvPr id="7" name="Text 5"/>
          <p:cNvSpPr/>
          <p:nvPr/>
        </p:nvSpPr>
        <p:spPr>
          <a:xfrm>
            <a:off x="7162800" y="23293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235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5650" y="28284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NPU · default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70200" y="27878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10" name="Shape 8"/>
          <p:cNvSpPr/>
          <p:nvPr/>
        </p:nvSpPr>
        <p:spPr>
          <a:xfrm>
            <a:off x="2870200" y="2787848"/>
            <a:ext cx="1231900" cy="279400"/>
          </a:xfrm>
          <a:prstGeom prst="roundRect">
            <a:avLst>
              <a:gd name="adj" fmla="val 18182"/>
            </a:avLst>
          </a:prstGeom>
          <a:solidFill>
            <a:srgbClr val="9A9A94"/>
          </a:solidFill>
          <a:ln/>
        </p:spPr>
      </p:sp>
      <p:sp>
        <p:nvSpPr>
          <p:cNvPr id="11" name="Text 9"/>
          <p:cNvSpPr/>
          <p:nvPr/>
        </p:nvSpPr>
        <p:spPr>
          <a:xfrm>
            <a:off x="7162800" y="28119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5650" y="33110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GPU · OpenCL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70200" y="32704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70200" y="3270448"/>
            <a:ext cx="330200" cy="279400"/>
          </a:xfrm>
          <a:prstGeom prst="roundRect">
            <a:avLst>
              <a:gd name="adj" fmla="val 18182"/>
            </a:avLst>
          </a:prstGeom>
          <a:solidFill>
            <a:srgbClr val="9A9A94"/>
          </a:solidFill>
          <a:ln/>
        </p:spPr>
      </p:sp>
      <p:sp>
        <p:nvSpPr>
          <p:cNvPr id="15" name="Text 13"/>
          <p:cNvSpPr/>
          <p:nvPr/>
        </p:nvSpPr>
        <p:spPr>
          <a:xfrm>
            <a:off x="7162800" y="32945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19.8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5650" y="37936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NPU · high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70200" y="37530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0200" y="3753048"/>
            <a:ext cx="285750" cy="279400"/>
          </a:xfrm>
          <a:prstGeom prst="roundRect">
            <a:avLst>
              <a:gd name="adj" fmla="val 18182"/>
            </a:avLst>
          </a:prstGeom>
          <a:solidFill>
            <a:srgbClr val="111110"/>
          </a:solidFill>
          <a:ln/>
        </p:spPr>
      </p:sp>
      <p:sp>
        <p:nvSpPr>
          <p:cNvPr id="19" name="Text 17"/>
          <p:cNvSpPr/>
          <p:nvPr/>
        </p:nvSpPr>
        <p:spPr>
          <a:xfrm>
            <a:off x="7162800" y="37771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16.9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5650" y="42762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NPU · burst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70200" y="42356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22" name="Shape 20"/>
          <p:cNvSpPr/>
          <p:nvPr/>
        </p:nvSpPr>
        <p:spPr>
          <a:xfrm>
            <a:off x="2870200" y="4235648"/>
            <a:ext cx="203200" cy="279400"/>
          </a:xfrm>
          <a:prstGeom prst="roundRect">
            <a:avLst>
              <a:gd name="adj" fmla="val 25000"/>
            </a:avLst>
          </a:prstGeom>
          <a:solidFill>
            <a:srgbClr val="111110"/>
          </a:solidFill>
          <a:ln/>
        </p:spPr>
      </p:sp>
      <p:sp>
        <p:nvSpPr>
          <p:cNvPr id="23" name="Text 21"/>
          <p:cNvSpPr/>
          <p:nvPr/>
        </p:nvSpPr>
        <p:spPr>
          <a:xfrm>
            <a:off x="7162800" y="42597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12.2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5650" y="4758879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NPU · pre-compiled file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70200" y="4718248"/>
            <a:ext cx="4191000" cy="279400"/>
          </a:xfrm>
          <a:prstGeom prst="roundRect">
            <a:avLst>
              <a:gd name="adj" fmla="val 18182"/>
            </a:avLst>
          </a:prstGeom>
          <a:solidFill>
            <a:srgbClr val="EDECE7"/>
          </a:solidFill>
          <a:ln/>
        </p:spPr>
      </p:sp>
      <p:sp>
        <p:nvSpPr>
          <p:cNvPr id="26" name="Shape 24"/>
          <p:cNvSpPr/>
          <p:nvPr/>
        </p:nvSpPr>
        <p:spPr>
          <a:xfrm>
            <a:off x="2870200" y="4718248"/>
            <a:ext cx="196850" cy="279400"/>
          </a:xfrm>
          <a:prstGeom prst="roundRect">
            <a:avLst>
              <a:gd name="adj" fmla="val 25806"/>
            </a:avLst>
          </a:prstGeom>
          <a:solidFill>
            <a:srgbClr val="FF6A13"/>
          </a:solidFill>
          <a:ln/>
        </p:spPr>
      </p:sp>
      <p:sp>
        <p:nvSpPr>
          <p:cNvPr id="27" name="Text 25"/>
          <p:cNvSpPr/>
          <p:nvPr/>
        </p:nvSpPr>
        <p:spPr>
          <a:xfrm>
            <a:off x="7162800" y="4742359"/>
            <a:ext cx="508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11.6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2508448"/>
            <a:ext cx="0" cy="2794000"/>
          </a:xfrm>
          <a:prstGeom prst="line">
            <a:avLst/>
          </a:prstGeom>
          <a:noFill/>
          <a:ln w="12700">
            <a:solidFill>
              <a:srgbClr val="C8200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505200" y="5029200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200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33 ms = one camera frame at 30 fps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26400" y="2260798"/>
            <a:ext cx="33528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6400" y="2368748"/>
            <a:ext cx="3453384" cy="272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973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160 / 160</a:t>
            </a:r>
            <a:endParaRPr lang="en-US" sz="1973" dirty="0"/>
          </a:p>
        </p:txBody>
      </p:sp>
      <p:sp>
        <p:nvSpPr>
          <p:cNvPr id="32" name="Text 30"/>
          <p:cNvSpPr/>
          <p:nvPr/>
        </p:nvSpPr>
        <p:spPr>
          <a:xfrm>
            <a:off x="8026400" y="2641451"/>
            <a:ext cx="3453384" cy="389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6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layers on the Hexagon NPU, one partition, float model, no quantisation yet</a:t>
            </a:r>
            <a:endParaRPr lang="en-US" sz="1061" dirty="0"/>
          </a:p>
        </p:txBody>
      </p:sp>
      <p:sp>
        <p:nvSpPr>
          <p:cNvPr id="33" name="Shape 31"/>
          <p:cNvSpPr/>
          <p:nvPr/>
        </p:nvSpPr>
        <p:spPr>
          <a:xfrm>
            <a:off x="8026400" y="3148509"/>
            <a:ext cx="33528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6400" y="3253284"/>
            <a:ext cx="3453384" cy="272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973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12.8 ms sustained</a:t>
            </a:r>
            <a:endParaRPr lang="en-US" sz="1973" dirty="0"/>
          </a:p>
        </p:txBody>
      </p:sp>
      <p:sp>
        <p:nvSpPr>
          <p:cNvPr id="35" name="Text 33"/>
          <p:cNvSpPr/>
          <p:nvPr/>
        </p:nvSpPr>
        <p:spPr>
          <a:xfrm>
            <a:off x="8026400" y="3525986"/>
            <a:ext cx="3453384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6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over 60 s, 4,692 runs; skin 32.7 → 39.8 °C, no throttling</a:t>
            </a:r>
            <a:endParaRPr lang="en-US" sz="1061" dirty="0"/>
          </a:p>
        </p:txBody>
      </p:sp>
      <p:sp>
        <p:nvSpPr>
          <p:cNvPr id="36" name="Shape 34"/>
          <p:cNvSpPr/>
          <p:nvPr/>
        </p:nvSpPr>
        <p:spPr>
          <a:xfrm>
            <a:off x="8026400" y="4032994"/>
            <a:ext cx="33528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26400" y="4137769"/>
            <a:ext cx="3453384" cy="272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973" b="1" spc="-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 s → 133 ms</a:t>
            </a:r>
            <a:endParaRPr lang="en-US" sz="1973" dirty="0"/>
          </a:p>
        </p:txBody>
      </p:sp>
      <p:sp>
        <p:nvSpPr>
          <p:cNvPr id="38" name="Text 36"/>
          <p:cNvSpPr/>
          <p:nvPr/>
        </p:nvSpPr>
        <p:spPr>
          <a:xfrm>
            <a:off x="8026400" y="4410472"/>
            <a:ext cx="3453384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6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start-up: the on-phone compile replaced by a pre-compiled NPU file (LiteRT 2.3, QAIRT 2.50)</a:t>
            </a:r>
            <a:endParaRPr lang="en-US" sz="1061" dirty="0"/>
          </a:p>
        </p:txBody>
      </p:sp>
      <p:sp>
        <p:nvSpPr>
          <p:cNvPr id="39" name="Shape 37"/>
          <p:cNvSpPr/>
          <p:nvPr/>
        </p:nvSpPr>
        <p:spPr>
          <a:xfrm>
            <a:off x="8026400" y="4917480"/>
            <a:ext cx="33528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6400" y="5022255"/>
            <a:ext cx="3453384" cy="272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973" b="1" spc="-50" kern="0" dirty="0">
                <a:solidFill>
                  <a:srgbClr val="B5420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~65 ms a frame</a:t>
            </a:r>
            <a:endParaRPr lang="en-US" sz="1973" dirty="0"/>
          </a:p>
        </p:txBody>
      </p:sp>
      <p:sp>
        <p:nvSpPr>
          <p:cNvPr id="41" name="Text 39"/>
          <p:cNvSpPr/>
          <p:nvPr/>
        </p:nvSpPr>
        <p:spPr>
          <a:xfrm>
            <a:off x="8026400" y="5295205"/>
            <a:ext cx="3453384" cy="572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065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the app: camera, card pose, model and geometry. Other phones fall back to GPU, then CPU, and the readiness screen says which</a:t>
            </a:r>
            <a:endParaRPr lang="en-US" sz="1065" dirty="0"/>
          </a:p>
        </p:txBody>
      </p:sp>
      <p:sp>
        <p:nvSpPr>
          <p:cNvPr id="42" name="Text 40"/>
          <p:cNvSpPr/>
          <p:nvPr/>
        </p:nvSpPr>
        <p:spPr>
          <a:xfrm>
            <a:off x="812800" y="6238280"/>
            <a:ext cx="75711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the phone · values in ms, V1 shown; V3 runs 12.1 ms in burst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20784" y="623828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/ 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TRUST · OFFICE KIT IS THE ENGINEER'S DESK</a:t>
            </a:r>
            <a:endParaRPr lang="en-US" sz="94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221"/>
            <a:ext cx="10464800" cy="756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2"/>
              </a:lnSpc>
              <a:buNone/>
            </a:pPr>
            <a:r>
              <a:rPr lang="en-US" sz="2745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phones, two keys: a record the engineer signs from their desk</a:t>
            </a:r>
            <a:endParaRPr lang="en-US" sz="2745" dirty="0"/>
          </a:p>
        </p:txBody>
      </p:sp>
      <p:sp>
        <p:nvSpPr>
          <p:cNvPr id="4" name="Shape 2"/>
          <p:cNvSpPr/>
          <p:nvPr/>
        </p:nvSpPr>
        <p:spPr>
          <a:xfrm>
            <a:off x="812800" y="2087265"/>
            <a:ext cx="2365375" cy="2002979"/>
          </a:xfrm>
          <a:prstGeom prst="roundRect">
            <a:avLst>
              <a:gd name="adj" fmla="val 6341"/>
            </a:avLst>
          </a:prstGeom>
          <a:solidFill>
            <a:srgbClr val="11111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290465"/>
            <a:ext cx="2017744" cy="19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Engineer phone</a:t>
            </a:r>
            <a:endParaRPr lang="en-US" sz="979" dirty="0"/>
          </a:p>
        </p:txBody>
      </p:sp>
      <p:sp>
        <p:nvSpPr>
          <p:cNvPr id="6" name="Text 4"/>
          <p:cNvSpPr/>
          <p:nvPr/>
        </p:nvSpPr>
        <p:spPr>
          <a:xfrm>
            <a:off x="1016000" y="2540943"/>
            <a:ext cx="201774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Issues the drawing values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016000" y="3015605"/>
            <a:ext cx="2017744" cy="89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03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with the engineer's key behind a PIN. The operator's phone accepts them only from an enrolled key.</a:t>
            </a:r>
            <a:endParaRPr lang="en-US" sz="1103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8175" y="2087265"/>
            <a:ext cx="3556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36950" y="2090440"/>
            <a:ext cx="2371725" cy="199662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3325" y="2296815"/>
            <a:ext cx="2017744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Operator phone</a:t>
            </a:r>
            <a:endParaRPr lang="en-US" sz="1016" dirty="0"/>
          </a:p>
        </p:txBody>
      </p:sp>
      <p:sp>
        <p:nvSpPr>
          <p:cNvPr id="11" name="Text 8"/>
          <p:cNvSpPr/>
          <p:nvPr/>
        </p:nvSpPr>
        <p:spPr>
          <a:xfrm>
            <a:off x="3743325" y="2548830"/>
            <a:ext cx="2017744" cy="226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and signs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43325" y="2825899"/>
            <a:ext cx="2017744" cy="108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1028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capture binds locked values, spec revision, model, rule and calibration versions, image hashes and a coverage map. Ed25519, one key per phone.</a:t>
            </a:r>
            <a:endParaRPr lang="en-US" sz="1028" dirty="0"/>
          </a:p>
        </p:txBody>
      </p:sp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1850" y="2087265"/>
            <a:ext cx="3556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70625" y="2090440"/>
            <a:ext cx="2371725" cy="199662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7000" y="2296815"/>
            <a:ext cx="2017744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74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Laptop · Office Kit</a:t>
            </a:r>
            <a:endParaRPr lang="en-US" sz="874" dirty="0"/>
          </a:p>
        </p:txBody>
      </p:sp>
      <p:sp>
        <p:nvSpPr>
          <p:cNvPr id="16" name="Text 12"/>
          <p:cNvSpPr/>
          <p:nvPr/>
        </p:nvSpPr>
        <p:spPr>
          <a:xfrm>
            <a:off x="6477000" y="2527151"/>
            <a:ext cx="2162175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445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Reviews and approves</a:t>
            </a:r>
            <a:endParaRPr lang="en-US" sz="1445" dirty="0"/>
          </a:p>
        </p:txBody>
      </p:sp>
      <p:sp>
        <p:nvSpPr>
          <p:cNvPr id="17" name="Text 13"/>
          <p:cNvSpPr/>
          <p:nvPr/>
        </p:nvSpPr>
        <p:spPr>
          <a:xfrm>
            <a:off x="6477000" y="2955776"/>
            <a:ext cx="2017744" cy="95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4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 travels as a file; the engineer phone is mirrored on the laptop. Approve, or send "fix and re-scan" with the same sentence the mason hears.</a:t>
            </a:r>
            <a:endParaRPr lang="en-US" sz="1046" dirty="0"/>
          </a:p>
        </p:txBody>
      </p:sp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45525" y="2087265"/>
            <a:ext cx="3556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04300" y="2090440"/>
            <a:ext cx="2371725" cy="199662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10675" y="2296815"/>
            <a:ext cx="2017744" cy="19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Any enrolled phone</a:t>
            </a:r>
            <a:endParaRPr lang="en-US" sz="979" dirty="0"/>
          </a:p>
        </p:txBody>
      </p:sp>
      <p:sp>
        <p:nvSpPr>
          <p:cNvPr id="21" name="Text 16"/>
          <p:cNvSpPr/>
          <p:nvPr/>
        </p:nvSpPr>
        <p:spPr>
          <a:xfrm>
            <a:off x="9210675" y="2545755"/>
            <a:ext cx="2162175" cy="420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48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Verifies the QR offline</a:t>
            </a:r>
            <a:endParaRPr lang="en-US" sz="1480" dirty="0"/>
          </a:p>
        </p:txBody>
      </p:sp>
      <p:sp>
        <p:nvSpPr>
          <p:cNvPr id="22" name="Text 17"/>
          <p:cNvSpPr/>
          <p:nvPr/>
        </p:nvSpPr>
        <p:spPr>
          <a:xfrm>
            <a:off x="9210675" y="3016895"/>
            <a:ext cx="2017744" cy="889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4"/>
              </a:lnSpc>
              <a:buNone/>
            </a:pPr>
            <a:r>
              <a:rPr lang="en-US" sz="103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owner, the lender or the brand checks the sign-off against enrolled keys, with the full evidence pack one tap away.</a:t>
            </a:r>
            <a:endParaRPr lang="en-US" sz="1031" dirty="0"/>
          </a:p>
        </p:txBody>
      </p:sp>
      <p:sp>
        <p:nvSpPr>
          <p:cNvPr id="23" name="Shape 18"/>
          <p:cNvSpPr/>
          <p:nvPr/>
        </p:nvSpPr>
        <p:spPr>
          <a:xfrm>
            <a:off x="812800" y="4350593"/>
            <a:ext cx="51816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2800" y="4483943"/>
            <a:ext cx="5337048" cy="2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435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Tamper-evident, not tamper-proof</a:t>
            </a:r>
            <a:endParaRPr lang="en-US" sz="1435" dirty="0"/>
          </a:p>
        </p:txBody>
      </p:sp>
      <p:sp>
        <p:nvSpPr>
          <p:cNvPr id="25" name="Text 20"/>
          <p:cNvSpPr/>
          <p:nvPr/>
        </p:nvSpPr>
        <p:spPr>
          <a:xfrm>
            <a:off x="867570" y="4787602"/>
            <a:ext cx="5276182" cy="1079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430" indent="-148430">
              <a:lnSpc>
                <a:spcPts val="1661"/>
              </a:lnSpc>
              <a:buSzPct val="100000"/>
              <a:buChar char="•"/>
            </a:pPr>
            <a:r>
              <a:rPr lang="en-US" sz="114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 a signed value and the signature drops; the review shows "typed on site".</a:t>
            </a:r>
            <a:endParaRPr lang="en-US" sz="1146" dirty="0"/>
          </a:p>
          <a:p>
            <a:pPr algn="l" marL="148430" indent="-148430">
              <a:lnSpc>
                <a:spcPts val="1661"/>
              </a:lnSpc>
              <a:buSzPct val="100000"/>
              <a:buChar char="•"/>
            </a:pPr>
            <a:r>
              <a:rPr lang="en-US" sz="114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Replay yesterday's pack: "already processed". Same key cannot approve its own capture.</a:t>
            </a:r>
            <a:endParaRPr lang="en-US" sz="1146" dirty="0"/>
          </a:p>
          <a:p>
            <a:pPr algn="l" marL="148430" indent="-148430">
              <a:lnSpc>
                <a:spcPts val="1661"/>
              </a:lnSpc>
              <a:buSzPct val="100000"/>
              <a:buChar char="•"/>
            </a:pPr>
            <a:r>
              <a:rPr lang="en-US" sz="114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Values that differ from what the engineer signed block approval.</a:t>
            </a:r>
            <a:endParaRPr lang="en-US" sz="1146" dirty="0"/>
          </a:p>
        </p:txBody>
      </p:sp>
      <p:sp>
        <p:nvSpPr>
          <p:cNvPr id="26" name="Shape 21"/>
          <p:cNvSpPr/>
          <p:nvPr/>
        </p:nvSpPr>
        <p:spPr>
          <a:xfrm>
            <a:off x="6197600" y="4350593"/>
            <a:ext cx="51816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97600" y="4483943"/>
            <a:ext cx="53370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for the engineer with many sites</a:t>
            </a:r>
            <a:endParaRPr lang="en-US" sz="1225" dirty="0"/>
          </a:p>
        </p:txBody>
      </p:sp>
      <p:sp>
        <p:nvSpPr>
          <p:cNvPr id="28" name="Text 23"/>
          <p:cNvSpPr/>
          <p:nvPr/>
        </p:nvSpPr>
        <p:spPr>
          <a:xfrm>
            <a:off x="6245061" y="4756993"/>
            <a:ext cx="5283491" cy="1110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739" indent="-155739">
              <a:lnSpc>
                <a:spcPts val="1844"/>
              </a:lnSpc>
              <a:buSzPct val="100000"/>
              <a:buChar char="•"/>
            </a:pPr>
            <a:r>
              <a:rPr lang="en-US" sz="1272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inbox: sites sorted by what needs a decision, then the next pour.</a:t>
            </a:r>
            <a:endParaRPr lang="en-US" sz="1272" dirty="0"/>
          </a:p>
          <a:p>
            <a:pPr algn="l" marL="155739" indent="-155739">
              <a:lnSpc>
                <a:spcPts val="1844"/>
              </a:lnSpc>
              <a:buSzPct val="100000"/>
              <a:buChar char="•"/>
            </a:pPr>
            <a:r>
              <a:rPr lang="en-US" sz="1272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 loop on both phones: "widest gap 80 ± 5 → 50 ± 5 mm, closed".</a:t>
            </a:r>
            <a:endParaRPr lang="en-US" sz="1272" dirty="0"/>
          </a:p>
          <a:p>
            <a:pPr algn="l" marL="155739" indent="-155739">
              <a:lnSpc>
                <a:spcPts val="1844"/>
              </a:lnSpc>
              <a:buSzPct val="100000"/>
              <a:buChar char="•"/>
            </a:pPr>
            <a:r>
              <a:rPr lang="en-US" sz="1272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Slab, beam and column members; Hindi, Kannada and English fixes.</a:t>
            </a:r>
            <a:endParaRPr lang="en-US" sz="1272" dirty="0"/>
          </a:p>
        </p:txBody>
      </p:sp>
      <p:sp>
        <p:nvSpPr>
          <p:cNvPr id="29" name="Text 24"/>
          <p:cNvSpPr/>
          <p:nvPr/>
        </p:nvSpPr>
        <p:spPr>
          <a:xfrm>
            <a:off x="812800" y="6238280"/>
            <a:ext cx="15362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trust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836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NOVELTY · PRIOR ART WE LEAN ON, AND WHAT IS NEW</a:t>
            </a:r>
            <a:endParaRPr lang="en-US" sz="83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5900"/>
            <a:ext cx="1046480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1"/>
              </a:lnSpc>
              <a:buNone/>
            </a:pPr>
            <a:r>
              <a:rPr lang="en-US" sz="2486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Japan validated the physics in 2023. We rebuilt it for India's self-built pour.</a:t>
            </a:r>
            <a:endParaRPr lang="en-US" sz="248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0023"/>
          <a:ext cx="10553700" cy="2700486"/>
        </p:xfrm>
        <a:graphic>
          <a:graphicData uri="http://schemas.openxmlformats.org/drawingml/2006/table">
            <a:tbl>
              <a:tblPr/>
              <a:tblGrid>
                <a:gridCol w="2110740"/>
                <a:gridCol w="4221480"/>
                <a:gridCol w="4221480"/>
              </a:tblGrid>
              <a:tr h="481261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7A7A7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Japan: IHI, AIJO, Kajima and others, MLIT-accepted since July 2023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b="1" dirty="0">
                          <a:solidFill>
                            <a:srgbClr val="B5420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Sariya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</a:tr>
              <a:tr h="481261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Who checks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Contractor QA teams on large sites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person paid to check a house the evening before the pour; a remote engineer signs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184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Where it runs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Tablet or PC, cloud workflow, stereo or LiDAR at the high end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phone, fully offline, the model on the NPU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61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Rules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Japanese codes; 5 mm guide on spacing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drawing, IS 456, IS 13920 by zone; an error band and "re-scan" on every number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61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Bar sizes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mm steps (D10, D13, D16) judged from images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mm steps (8, 10, 12): diameter from a weighed 200 mm offcut against IS 1786, which also catches underweight steel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61"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Who hears it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4F4F4C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QA report in Japanese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73"/>
                        </a:lnSpc>
                        <a:buNone/>
                      </a:pPr>
                      <a:r>
                        <a:rPr lang="en-US" sz="1052" dirty="0">
                          <a:solidFill>
                            <a:srgbClr val="11111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mason, in Hindi or Kannada; the engineer, as a two-key signed record</a:t>
                      </a:r>
                      <a:endParaRPr lang="en-US" sz="1052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46770" marR="46770" marT="46770" marB="4677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970859"/>
            <a:ext cx="105664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129609"/>
            <a:ext cx="5337048" cy="73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new:</a:t>
            </a: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measuring rebar with a camera. Japan ships it, and that is why we trust the physics.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97600" y="5129609"/>
            <a:ext cx="5337048" cy="73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New:</a:t>
            </a:r>
            <a:r>
              <a:rPr lang="en-US" sz="140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 it runs and whom it serves. We found no phone-based pre-pour rebar measurement product in India; brand visits, builder checklists and inspectors all photograph, none measures.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926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novelty · MLIT guideline 2023; IHI ±1 mm diameter, ±5 mm spacing; AIJO 70% time saved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BUSINESS · STEEL BRANDS FIRST · THE UNIT IS THE SIGNED POUR RECORD</a:t>
            </a:r>
            <a:endParaRPr lang="en-US" sz="97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8422"/>
            <a:ext cx="11379200" cy="784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19"/>
              </a:lnSpc>
              <a:buNone/>
            </a:pPr>
            <a:r>
              <a:rPr lang="en-US" sz="2970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pays: whoever already sends a paid person to the pour</a:t>
            </a:r>
            <a:endParaRPr lang="en-US" sz="2970" dirty="0"/>
          </a:p>
        </p:txBody>
      </p:sp>
      <p:sp>
        <p:nvSpPr>
          <p:cNvPr id="4" name="Shape 2"/>
          <p:cNvSpPr/>
          <p:nvPr/>
        </p:nvSpPr>
        <p:spPr>
          <a:xfrm>
            <a:off x="812800" y="2124472"/>
            <a:ext cx="64516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241947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0800" y="2251472"/>
            <a:ext cx="2158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Steel brands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8700" y="2270522"/>
            <a:ext cx="3806571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"missing bar" finding sells steel. The scan verifies their brand on site and gives the dealer the slab date 24–48 h ahead. Sponsor the record for their customers.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206800"/>
            <a:ext cx="64516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3324275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0800" y="3333800"/>
            <a:ext cx="21583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Cement technical services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8700" y="3352850"/>
            <a:ext cx="380657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at the pour for free: Ambuja supervised slab casting at 31,698 sites in a year. The visit becomes a branded, signed report and more sites per engineer.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4084141"/>
            <a:ext cx="64516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4201616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0800" y="4211141"/>
            <a:ext cx="21583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Builders, engineers, inspectors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8700" y="4230191"/>
            <a:ext cx="380657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record, resold to the owner as a pre-pour report. Owners already pay ₹4,999 a visit (TeamHome) and ₹5–10k an engineer visit.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961483"/>
            <a:ext cx="64516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" y="5838825"/>
            <a:ext cx="6451600" cy="0"/>
          </a:xfrm>
          <a:prstGeom prst="line">
            <a:avLst/>
          </a:prstGeom>
          <a:noFill/>
          <a:ln w="6350">
            <a:solidFill>
              <a:srgbClr val="DCD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5078958"/>
            <a:ext cx="40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0800" y="5088483"/>
            <a:ext cx="215836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Lenders and insurers, year 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8700" y="5107533"/>
            <a:ext cx="380657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 the evidence layer only: a signed stage pack for tranche release (borrowers pay ₹750–1,500 a visit today) and for inherent-defects cover.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69200" y="2121297"/>
            <a:ext cx="3810000" cy="3720703"/>
          </a:xfrm>
          <a:prstGeom prst="roundRect">
            <a:avLst>
              <a:gd name="adj" fmla="val 3413"/>
            </a:avLst>
          </a:prstGeom>
          <a:solidFill>
            <a:srgbClr val="111110"/>
          </a:solidFill>
          <a:ln/>
        </p:spPr>
      </p:sp>
      <p:sp>
        <p:nvSpPr>
          <p:cNvPr id="22" name="Text 20"/>
          <p:cNvSpPr/>
          <p:nvPr/>
        </p:nvSpPr>
        <p:spPr>
          <a:xfrm>
            <a:off x="7823200" y="2375297"/>
            <a:ext cx="3401060" cy="34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19" b="1" spc="100" kern="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SIZING · OUR ARITHMETIC, PILOTS WILL TEST IT</a:t>
            </a:r>
            <a:endParaRPr lang="en-US" sz="919" dirty="0"/>
          </a:p>
        </p:txBody>
      </p:sp>
      <p:sp>
        <p:nvSpPr>
          <p:cNvPr id="23" name="Text 21"/>
          <p:cNvSpPr/>
          <p:nvPr/>
        </p:nvSpPr>
        <p:spPr>
          <a:xfrm>
            <a:off x="7823200" y="2825899"/>
            <a:ext cx="3401060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723" b="1" spc="-100" kern="0" dirty="0">
                <a:solidFill>
                  <a:srgbClr val="FF6A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~8M</a:t>
            </a:r>
            <a:endParaRPr lang="en-US" sz="2723" dirty="0"/>
          </a:p>
        </p:txBody>
      </p:sp>
      <p:sp>
        <p:nvSpPr>
          <p:cNvPr id="24" name="Text 22"/>
          <p:cNvSpPr/>
          <p:nvPr/>
        </p:nvSpPr>
        <p:spPr>
          <a:xfrm>
            <a:off x="7823200" y="3194794"/>
            <a:ext cx="3401060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15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RCC slab pours a year in India (range 5–12M), from ~10M new dwellings and cement tonnage</a:t>
            </a:r>
            <a:endParaRPr lang="en-US" sz="915" dirty="0"/>
          </a:p>
        </p:txBody>
      </p:sp>
      <p:sp>
        <p:nvSpPr>
          <p:cNvPr id="25" name="Text 23"/>
          <p:cNvSpPr/>
          <p:nvPr/>
        </p:nvSpPr>
        <p:spPr>
          <a:xfrm>
            <a:off x="7823200" y="3630960"/>
            <a:ext cx="1600200" cy="2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18"/>
              </a:lnSpc>
              <a:buNone/>
            </a:pPr>
            <a:r>
              <a:rPr lang="en-US" sz="2118" b="1" spc="-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₹99–299</a:t>
            </a:r>
            <a:endParaRPr lang="en-US" sz="2118" dirty="0"/>
          </a:p>
        </p:txBody>
      </p:sp>
      <p:sp>
        <p:nvSpPr>
          <p:cNvPr id="26" name="Text 24"/>
          <p:cNvSpPr/>
          <p:nvPr/>
        </p:nvSpPr>
        <p:spPr>
          <a:xfrm>
            <a:off x="7823200" y="3924201"/>
            <a:ext cx="1600200" cy="645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5"/>
              </a:lnSpc>
              <a:buNone/>
            </a:pPr>
            <a:r>
              <a:rPr lang="en-US" sz="1196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signed record, against ₹5–10k for one engineer visit</a:t>
            </a:r>
            <a:endParaRPr lang="en-US" sz="1196" dirty="0"/>
          </a:p>
        </p:txBody>
      </p:sp>
      <p:sp>
        <p:nvSpPr>
          <p:cNvPr id="27" name="Text 25"/>
          <p:cNvSpPr/>
          <p:nvPr/>
        </p:nvSpPr>
        <p:spPr>
          <a:xfrm>
            <a:off x="9575800" y="3630960"/>
            <a:ext cx="1600200" cy="2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18"/>
              </a:lnSpc>
              <a:buNone/>
            </a:pPr>
            <a:r>
              <a:rPr lang="en-US" sz="2118" b="1" spc="-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₹200 Cr</a:t>
            </a:r>
            <a:endParaRPr lang="en-US" sz="2118" dirty="0"/>
          </a:p>
        </p:txBody>
      </p:sp>
      <p:sp>
        <p:nvSpPr>
          <p:cNvPr id="28" name="Text 26"/>
          <p:cNvSpPr/>
          <p:nvPr/>
        </p:nvSpPr>
        <p:spPr>
          <a:xfrm>
            <a:off x="9575800" y="3924201"/>
            <a:ext cx="1600200" cy="645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3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year software TAM at ₹250 a record; Bengaluru beachhead 25–50k pours</a:t>
            </a:r>
            <a:endParaRPr lang="en-US" sz="1013" dirty="0"/>
          </a:p>
        </p:txBody>
      </p:sp>
      <p:sp>
        <p:nvSpPr>
          <p:cNvPr id="29" name="Shape 27"/>
          <p:cNvSpPr/>
          <p:nvPr/>
        </p:nvSpPr>
        <p:spPr>
          <a:xfrm>
            <a:off x="7823200" y="4674245"/>
            <a:ext cx="33020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3200" y="4779020"/>
            <a:ext cx="3401060" cy="8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043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Inference never leaves the phone, so the marginal cost of a record is a printed card. Value in Indian construction accrues to materials platforms; Sariya is built to be the trust instrument a steel brand embeds.</a:t>
            </a:r>
            <a:endParaRPr lang="en-US" sz="1043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7461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business · prices are hypotheses; no partner has agreed yet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NEXT · 12 OCT 2026 TO 10 JAN 2027</a:t>
            </a:r>
            <a:endParaRPr lang="en-US" sz="97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067"/>
            <a:ext cx="10464800" cy="78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12"/>
              </a:lnSpc>
              <a:buNone/>
            </a:pPr>
            <a:r>
              <a:rPr lang="en-US" sz="2869" b="1" i="0" spc="-10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90 days: three Bengaluru pilots and one growing error table</a:t>
            </a:r>
            <a:endParaRPr lang="en-US" sz="2869" dirty="0"/>
          </a:p>
        </p:txBody>
      </p:sp>
      <p:sp>
        <p:nvSpPr>
          <p:cNvPr id="4" name="Shape 2"/>
          <p:cNvSpPr/>
          <p:nvPr/>
        </p:nvSpPr>
        <p:spPr>
          <a:xfrm>
            <a:off x="815975" y="2127994"/>
            <a:ext cx="3397250" cy="1903958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334369"/>
            <a:ext cx="3021711" cy="1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Pilot A · brand technical team</a:t>
            </a:r>
            <a:endParaRPr lang="en-US" sz="907" dirty="0"/>
          </a:p>
        </p:txBody>
      </p:sp>
      <p:sp>
        <p:nvSpPr>
          <p:cNvPr id="6" name="Text 4"/>
          <p:cNvSpPr/>
          <p:nvPr/>
        </p:nvSpPr>
        <p:spPr>
          <a:xfrm>
            <a:off x="1047750" y="2571353"/>
            <a:ext cx="3162300" cy="399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679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3–5 engineers, 60 pours</a:t>
            </a:r>
            <a:endParaRPr lang="en-US" sz="1679" dirty="0"/>
          </a:p>
        </p:txBody>
      </p:sp>
      <p:sp>
        <p:nvSpPr>
          <p:cNvPr id="7" name="Text 5"/>
          <p:cNvSpPr/>
          <p:nvPr/>
        </p:nvSpPr>
        <p:spPr>
          <a:xfrm>
            <a:off x="1047750" y="3021707"/>
            <a:ext cx="3021711" cy="82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9"/>
              </a:lnSpc>
              <a:buNone/>
            </a:pPr>
            <a:r>
              <a:rPr lang="en-US" sz="110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Minutes per member; agreement with tape (target ≤ 5 mm spacing error, ≥ 98% count); share of checks outside limits. Success: used unprompted at 70% of pours by week 8.</a:t>
            </a:r>
            <a:endParaRPr lang="en-US" sz="1106" dirty="0"/>
          </a:p>
        </p:txBody>
      </p:sp>
      <p:sp>
        <p:nvSpPr>
          <p:cNvPr id="8" name="Shape 6"/>
          <p:cNvSpPr/>
          <p:nvPr/>
        </p:nvSpPr>
        <p:spPr>
          <a:xfrm>
            <a:off x="4397375" y="2127994"/>
            <a:ext cx="3397250" cy="1903958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150" y="2334369"/>
            <a:ext cx="3021711" cy="1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Pilot B · organised builder</a:t>
            </a:r>
            <a:endParaRPr lang="en-US" sz="907" dirty="0"/>
          </a:p>
        </p:txBody>
      </p:sp>
      <p:sp>
        <p:nvSpPr>
          <p:cNvPr id="10" name="Text 8"/>
          <p:cNvSpPr/>
          <p:nvPr/>
        </p:nvSpPr>
        <p:spPr>
          <a:xfrm>
            <a:off x="4629150" y="2571353"/>
            <a:ext cx="3162300" cy="399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631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QC supervisors, 20–30 pours</a:t>
            </a:r>
            <a:endParaRPr lang="en-US" sz="1631" dirty="0"/>
          </a:p>
        </p:txBody>
      </p:sp>
      <p:sp>
        <p:nvSpPr>
          <p:cNvPr id="11" name="Text 9"/>
          <p:cNvSpPr/>
          <p:nvPr/>
        </p:nvSpPr>
        <p:spPr>
          <a:xfrm>
            <a:off x="4629150" y="3021707"/>
            <a:ext cx="3021711" cy="82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1"/>
              </a:lnSpc>
              <a:buNone/>
            </a:pPr>
            <a:r>
              <a:rPr lang="en-US" sz="113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measurement module inside their checklist, the signed record attached to the stage payout. Success: a rebar step written into their SOP and a 2027 per-site price.</a:t>
            </a:r>
            <a:endParaRPr lang="en-US" sz="1136" dirty="0"/>
          </a:p>
        </p:txBody>
      </p:sp>
      <p:sp>
        <p:nvSpPr>
          <p:cNvPr id="12" name="Shape 10"/>
          <p:cNvSpPr/>
          <p:nvPr/>
        </p:nvSpPr>
        <p:spPr>
          <a:xfrm>
            <a:off x="7978775" y="2127994"/>
            <a:ext cx="3397250" cy="1903958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6350">
            <a:solidFill>
              <a:srgbClr val="DC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0550" y="2334369"/>
            <a:ext cx="3021711" cy="20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542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Pilot C · inspector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10550" y="2593280"/>
            <a:ext cx="3021711" cy="450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466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SKU: pre-pour steel check</a:t>
            </a:r>
            <a:endParaRPr lang="en-US" sz="1466" dirty="0"/>
          </a:p>
        </p:txBody>
      </p:sp>
      <p:sp>
        <p:nvSpPr>
          <p:cNvPr id="15" name="Text 13"/>
          <p:cNvSpPr/>
          <p:nvPr/>
        </p:nvSpPr>
        <p:spPr>
          <a:xfrm>
            <a:off x="8210550" y="3094732"/>
            <a:ext cx="3021711" cy="75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15–20 paid visits at ₹2,999–4,999 with a second engineer grading the reports. Success: 10 paid visits and the SKU listed publicly.</a:t>
            </a:r>
            <a:endParaRPr lang="en-US" sz="1076" dirty="0"/>
          </a:p>
        </p:txBody>
      </p:sp>
      <p:sp>
        <p:nvSpPr>
          <p:cNvPr id="16" name="Shape 14"/>
          <p:cNvSpPr/>
          <p:nvPr/>
        </p:nvSpPr>
        <p:spPr>
          <a:xfrm>
            <a:off x="812800" y="4295477"/>
            <a:ext cx="51308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428827"/>
            <a:ext cx="5284724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after the pilots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874261" y="4709914"/>
            <a:ext cx="5217167" cy="1157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1739" indent="-141739">
              <a:lnSpc>
                <a:spcPts val="1596"/>
              </a:lnSpc>
              <a:buSzPct val="100000"/>
              <a:buChar char="•"/>
            </a:pPr>
            <a:r>
              <a:rPr lang="en-US" sz="110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Photograph the bar-bending schedule to pre-fill the spec, every field confirmed.</a:t>
            </a:r>
            <a:endParaRPr lang="en-US" sz="1101" dirty="0"/>
          </a:p>
          <a:p>
            <a:pPr algn="l" marL="141739" indent="-141739">
              <a:lnSpc>
                <a:spcPts val="1596"/>
              </a:lnSpc>
              <a:buSzPct val="100000"/>
              <a:buChar char="•"/>
            </a:pPr>
            <a:r>
              <a:rPr lang="en-US" sz="110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Per-site registered cards and a hash-chained site log for self-certifying engineers.</a:t>
            </a:r>
            <a:endParaRPr lang="en-US" sz="1101" dirty="0"/>
          </a:p>
          <a:p>
            <a:pPr algn="l" marL="141739" indent="-141739">
              <a:lnSpc>
                <a:spcPts val="1596"/>
              </a:lnSpc>
              <a:buSzPct val="100000"/>
              <a:buChar char="•"/>
            </a:pPr>
            <a:r>
              <a:rPr lang="en-US" sz="1101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Device-bound biometric keys; one-tap PDF to WhatsApp with the verify QR.</a:t>
            </a:r>
            <a:endParaRPr lang="en-US" sz="1101" dirty="0"/>
          </a:p>
        </p:txBody>
      </p:sp>
      <p:sp>
        <p:nvSpPr>
          <p:cNvPr id="19" name="Shape 17"/>
          <p:cNvSpPr/>
          <p:nvPr/>
        </p:nvSpPr>
        <p:spPr>
          <a:xfrm>
            <a:off x="6248400" y="4295477"/>
            <a:ext cx="5130800" cy="0"/>
          </a:xfrm>
          <a:prstGeom prst="line">
            <a:avLst/>
          </a:prstGeom>
          <a:noFill/>
          <a:ln w="12700">
            <a:solidFill>
              <a:srgbClr val="1111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8400" y="4428827"/>
            <a:ext cx="5284724" cy="2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475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will not claim until measured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6296449" y="4741813"/>
            <a:ext cx="5230579" cy="1125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51" indent="-155151">
              <a:lnSpc>
                <a:spcPts val="1732"/>
              </a:lnSpc>
              <a:buSzPct val="100000"/>
              <a:buChar char="•"/>
            </a:pPr>
            <a:r>
              <a:rPr lang="en-US" sz="119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on real steel beyond our tape table; the band stays at a 5 mm floor until it earns less.</a:t>
            </a:r>
            <a:endParaRPr lang="en-US" sz="1194" dirty="0"/>
          </a:p>
          <a:p>
            <a:pPr algn="l" marL="155151" indent="-155151">
              <a:lnSpc>
                <a:spcPts val="1732"/>
              </a:lnSpc>
              <a:buSzPct val="100000"/>
              <a:buChar char="•"/>
            </a:pPr>
            <a:r>
              <a:rPr lang="en-US" sz="119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Defect rates: no "N of M sites" statistic exists in India yet. Pilot A produces the first one.</a:t>
            </a:r>
            <a:endParaRPr lang="en-US" sz="1194" dirty="0"/>
          </a:p>
          <a:p>
            <a:pPr algn="l" marL="155151" indent="-155151">
              <a:lnSpc>
                <a:spcPts val="1732"/>
              </a:lnSpc>
              <a:buSzPct val="100000"/>
              <a:buChar char="•"/>
            </a:pPr>
            <a:r>
              <a:rPr lang="en-US" sz="1194" dirty="0">
                <a:solidFill>
                  <a:srgbClr val="4F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Diameter from a standing scan. The scale decides, by design.</a:t>
            </a:r>
            <a:endParaRPr lang="en-US" sz="1194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2194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what's next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TEAM · VISION, ANDROID AND TRUST ENGINEERING, TOGETHER 3+ YEARS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4648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10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in 48 hours, all code written at the event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7141"/>
            <a:ext cx="3403600" cy="2052241"/>
          </a:xfrm>
          <a:prstGeom prst="roundRect">
            <a:avLst>
              <a:gd name="adj" fmla="val 6188"/>
            </a:avLst>
          </a:prstGeom>
          <a:solidFill>
            <a:srgbClr val="1E1E1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1574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spc="-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1400" y="2496741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UI and 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2786261"/>
            <a:ext cx="30347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screen, the live overlay, the manual-mark fallback, Hindi and Kannada output, the review desk and the pour inbox.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87141"/>
            <a:ext cx="3403600" cy="2052241"/>
          </a:xfrm>
          <a:prstGeom prst="roundRect">
            <a:avLst>
              <a:gd name="adj" fmla="val 6188"/>
            </a:avLst>
          </a:prstGeom>
          <a:solidFill>
            <a:srgbClr val="1E1E1C"/>
          </a:solidFill>
          <a:ln/>
        </p:spPr>
      </p:sp>
      <p:sp>
        <p:nvSpPr>
          <p:cNvPr id="9" name="Text 7"/>
          <p:cNvSpPr/>
          <p:nvPr/>
        </p:nvSpPr>
        <p:spPr>
          <a:xfrm>
            <a:off x="4622800" y="211574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spc="-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Sabari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22800" y="2496741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Vision and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2800" y="2786261"/>
            <a:ext cx="30347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model rounds on Kaggle, the NPU runtime through LiteRT and QAIRT, card calibration, live bar geometry and Lock uncertainty.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87141"/>
            <a:ext cx="3403600" cy="2052241"/>
          </a:xfrm>
          <a:prstGeom prst="roundRect">
            <a:avLst>
              <a:gd name="adj" fmla="val 6188"/>
            </a:avLst>
          </a:prstGeom>
          <a:solidFill>
            <a:srgbClr val="1E1E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211574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spc="-50" kern="0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Melvin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04200" y="2496741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A1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Rules, trust,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4200" y="2786261"/>
            <a:ext cx="30347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IS rulebook, signed captures and approvals, key enrolment, replay policy, Office Kit transport and the release build.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196556"/>
            <a:ext cx="10566400" cy="0"/>
          </a:xfrm>
          <a:prstGeom prst="line">
            <a:avLst/>
          </a:prstGeom>
          <a:noFill/>
          <a:ln w="6350">
            <a:solidFill>
              <a:srgbClr val="2E2E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377531"/>
            <a:ext cx="348823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this phone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4659461"/>
            <a:ext cx="34882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 local AI agent on the same iQOO 15 at the Chennai City Battle. Nothing from it is reused here.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2634" y="4377531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 AI products for a living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2634" y="4659461"/>
            <a:ext cx="3488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features at Xavier AI, LiveAltLife, Kalvium Labs and Montra Electric. 3+ years and 3+ state-level TinkerHub wins together.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92517" y="4377531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Did the homework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92517" y="4659461"/>
            <a:ext cx="3488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idea survived an adversarial red team and a six-idea comparison. Every number on these slides has a graded source in the repo.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88492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team · open weights attributed; OpenCV, LiteRT and public datasets disclosed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8E8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Backup B10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6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SARIYA · THE ASK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85975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0" spc="-250" kern="0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Sariya measures and records. The engineer certifies.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12800" y="4679355"/>
            <a:ext cx="3386634" cy="0"/>
          </a:xfrm>
          <a:prstGeom prst="line">
            <a:avLst/>
          </a:prstGeom>
          <a:noFill/>
          <a:ln w="19050">
            <a:solidFill>
              <a:srgbClr val="1111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841280"/>
            <a:ext cx="348823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steel or cement brand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148610"/>
            <a:ext cx="348823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23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introduction to a technical-services team in Bengaluru for a 60-pour pilot from November.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34" y="4679355"/>
            <a:ext cx="3386683" cy="0"/>
          </a:xfrm>
          <a:prstGeom prst="line">
            <a:avLst/>
          </a:prstGeom>
          <a:noFill/>
          <a:ln w="19050">
            <a:solidFill>
              <a:srgbClr val="1111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4841280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structural engineer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2634" y="5148610"/>
            <a:ext cx="348828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23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sign off the rulebook's spacing tolerances, which IS 456 leaves open.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17" y="4679355"/>
            <a:ext cx="3386683" cy="0"/>
          </a:xfrm>
          <a:prstGeom prst="line">
            <a:avLst/>
          </a:prstGeom>
          <a:noFill/>
          <a:ln w="19050">
            <a:solidFill>
              <a:srgbClr val="1111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517" y="4841280"/>
            <a:ext cx="3488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1111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iQOO 15s on real sites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2517" y="5148610"/>
            <a:ext cx="34882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23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phone whose NPU makes a live, offline measurement loop possible at zero marginal cost.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2669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Alwin · Sabari · Melvin · github.com/Melvin0070/sariya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11068" y="6238280"/>
            <a:ext cx="768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1111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 /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riya · Grand Finale">
  <a:themeElements>
    <a:clrScheme name="Sariya · Grand Finale">
      <a:dk1>
        <a:srgbClr val="111110"/>
      </a:dk1>
      <a:lt1>
        <a:srgbClr val="F7F6F2"/>
      </a:lt1>
      <a:dk2>
        <a:srgbClr val="4B4A49"/>
      </a:dk2>
      <a:lt2>
        <a:srgbClr val="E0DFDB"/>
      </a:lt2>
      <a:accent1>
        <a:srgbClr val="B5420A"/>
      </a:accent1>
      <a:accent2>
        <a:srgbClr val="FF6A13"/>
      </a:accent2>
      <a:accent3>
        <a:srgbClr val="C8200D"/>
      </a:accent3>
      <a:accent4>
        <a:srgbClr val="0E7A3E"/>
      </a:accent4>
      <a:accent5>
        <a:srgbClr val="4F4F4C"/>
      </a:accent5>
      <a:accent6>
        <a:srgbClr val="7A7A75"/>
      </a:accent6>
      <a:hlink>
        <a:srgbClr val="0563C1"/>
      </a:hlink>
      <a:folHlink>
        <a:srgbClr val="954F72"/>
      </a:folHlink>
    </a:clrScheme>
    <a:fontScheme name="Sariya · Grand Final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Sariya · Grand Finale</dc:title>
  <dc:subject/>
  <dc:creator/>
  <cp:lastModifiedBy/>
  <cp:revision>1</cp:revision>
  <dcterms:created xsi:type="dcterms:W3CDTF">2026-10-11T03:32:01Z</dcterms:created>
  <dcterms:modified xsi:type="dcterms:W3CDTF">2026-10-11T03:32:01Z</dcterms:modified>
</cp:coreProperties>
</file>