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a phone checks a house's steel the evening before the concrete covers it. Everything on this slide is the product: the cyan traces are what the NPU model finds, the orange gap is a missing bar measured against the drawing, the card gives true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screener's slide: one line per screening factor. Each later slide expands one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about the moment, not about collapses. We never link any named collapse to its steel. The point: the check window is one evening, and nothing measures or records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the mason: a flagged fault would incriminate him and cost him a gang-day. The operator is whoever is already paid to check. After the event, the first users are brand technical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spec fields per member: bar diameter, bar count or spacing, stirrup diameter, stirrup spacing at end zone and mid-span, end-zone length. The language model only transcribes and words; it never decides a number. Mock-up only: no code exists before the event, by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earns trust with a technical jury. The rulebook is versioned: the drawing first, IS 456 everywhere, IS 13920 required in zones III to V and advisory in zone II (Bengaluru). Sariya measures and records; the engineer certifies.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Gemma 4 E2B has no NPU build for this chip, so it runs on the GPU; segmentation owns the NPU. Quantisation: int8 weights with int16 activations, compared against float for thin-bar mask quality. Model choice in hour 1: YOLO-seg (measured on this chip, AGPL, fine for a public repo) or DeepLabV3+-MobileNet (permissive). All models open and attributed: Gemma 4 E2B (Apache-2.0), IndicConformer (MIT), OpenCV.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sensor named here is used in the four build items, not decoration. No cloud cost per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Japan first, before a judge does. It proves the category and the physics. Examples: Japan also has Kajima's stereo system; Indian site-QC apps include Brick&amp;Bolt and Powerplay; brand engineers from JSW Cement and UltraTech; cover meters include Profometer and Nirixense ReX. Our search for Indian competitors was English web search, not app-store or Hindi/Kannada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Screeners scored scope as the weak spot in reviews, so this slide answers it head-on: four numbered items, a fallback for each, and a hard line on what is not built. Scope is bounded by the card: planar faces, one homography, no 3-D reconstruction. The model starts from public pretrained weights, attributed, and is fine-tuned at the event. Stretch goals: diameter close-up, hook template, NPU/GPU/CPU numbers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survives a noisy hall: nothing depends on audio, subtitles always on. Failure branch: if segmentation struggles under stage light, tap-to-mark fallback still runs the card metrology and rulebook.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on the top row was opened at its source: CRISIL industry report in JSW Cement's offer document (FY25); Ambuja Cement annual report, slab supervision at 31,698 customer sites; TeamHome TH-Shield, Rs 4,999 per visit; Aptus HFC fee schedule, Rs 1,500 to 2,000 plus GST for the first technical visit and Rs 750 plus GST after. Brands are the first target: their engineers already stand at the pour, and Sariya lets each one cover more sites with a signed, measured report. Pricing is a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Finale the work is data and people, not code: site visits with a tape, one structural engineer on record, the props. At the Finale, the four build items. After, brand technical engineers first, because they already stand at the pour. The closing line is the ask to iQOO: the phone's camera is already a measuring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guardrail line. If you have site data by the time you submit (N Bengaluru pre-pour sites taped), add it as one line; it is the strongest single proof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6191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3F1EC"/>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F3F1E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191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3F1EC"/>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F3F1E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C"/>
        </a:solidFill>
      </p:bgPr>
    </p:bg>
    <p:spTree>
      <p:nvGrpSpPr>
        <p:cNvPr id="1" name=""/>
        <p:cNvGrpSpPr/>
        <p:nvPr/>
      </p:nvGrpSpPr>
      <p:grpSpPr>
        <a:xfrm>
          <a:off x="0" y="0"/>
          <a:ext cx="0" cy="0"/>
          <a:chOff x="0" y="0"/>
          <a:chExt cx="0" cy="0"/>
        </a:xfrm>
      </p:grpSpPr>
      <p:pic>
        <p:nvPicPr>
          <p:cNvPr id="2" name="Image 0" descr="Camera view of a rebar mesh with a printed marker card. Detected bars are traced in cyan; one bar is missing and the wide gap is flagged in orange.">    </p:cNvPr>
          <p:cNvPicPr>
            <a:picLocks noChangeAspect="1"/>
          </p:cNvPicPr>
          <p:nvPr/>
        </p:nvPicPr>
        <p:blipFill>
          <a:blip r:embed="rId1"/>
          <a:srcRect l="0" r="0" t="0" b="0"/>
          <a:stretch/>
        </p:blipFill>
        <p:spPr>
          <a:xfrm>
            <a:off x="6807200" y="1143000"/>
            <a:ext cx="4572000" cy="4572000"/>
          </a:xfrm>
          <a:prstGeom prst="rect">
            <a:avLst/>
          </a:prstGeom>
        </p:spPr>
      </p:pic>
      <p:sp>
        <p:nvSpPr>
          <p:cNvPr id="3" name="Text 0"/>
          <p:cNvSpPr/>
          <p:nvPr/>
        </p:nvSpPr>
        <p:spPr>
          <a:xfrm>
            <a:off x="7137400" y="2362200"/>
            <a:ext cx="1054100" cy="264120"/>
          </a:xfrm>
          <a:custGeom>
            <a:avLst/>
            <a:gdLst/>
            <a:ahLst/>
            <a:cxnLst/>
            <a:rect l="l" t="t" r="r" b="b"/>
            <a:pathLst>
              <a:path w="1054100" h="264120">
                <a:moveTo>
                  <a:pt x="50800" y="0"/>
                </a:moveTo>
                <a:lnTo>
                  <a:pt x="1003300" y="0"/>
                </a:lnTo>
                <a:arcTo hR="50800" wR="50800" stAng="16200000" swAng="5400000"/>
                <a:lnTo>
                  <a:pt x="1054100" y="213320"/>
                </a:lnTo>
                <a:arcTo hR="50800" wR="50800" stAng="0" swAng="5400000"/>
                <a:lnTo>
                  <a:pt x="50800" y="264120"/>
                </a:lnTo>
                <a:arcTo hR="50800" wR="50800" stAng="5400000" swAng="5400000"/>
                <a:lnTo>
                  <a:pt x="0" y="50800"/>
                </a:lnTo>
                <a:arcTo hR="50800" wR="50800" stAng="10800000" swAng="5400000"/>
                <a:close/>
              </a:path>
            </a:pathLst>
          </a:custGeom>
          <a:solidFill>
            <a:srgbClr val="39C5CF"/>
          </a:solidFill>
          <a:ln/>
        </p:spPr>
        <p:txBody>
          <a:bodyPr wrap="square" lIns="38100" tIns="25400" rIns="38100" bIns="0" rtlCol="0" anchor="t">
            <a:normAutofit/>
          </a:bodyPr>
          <a:lstStyle/>
          <a:p>
            <a:pPr algn="ctr" indent="0" marL="0">
              <a:lnSpc>
                <a:spcPts val="1680"/>
              </a:lnSpc>
              <a:buNone/>
            </a:pPr>
            <a:r>
              <a:rPr lang="en-US" sz="1200" b="1" dirty="0">
                <a:solidFill>
                  <a:srgbClr val="16191C"/>
                </a:solidFill>
                <a:latin typeface="IBM Plex Mono" pitchFamily="49" charset="0"/>
                <a:ea typeface="IBM Plex Mono" pitchFamily="49" charset="-122"/>
                <a:cs typeface="IBM Plex Mono" pitchFamily="49" charset="-120"/>
              </a:rPr>
              <a:t>150 ± 5 mm</a:t>
            </a:r>
            <a:endParaRPr lang="en-US" sz="1200" dirty="0"/>
          </a:p>
        </p:txBody>
      </p:sp>
      <p:sp>
        <p:nvSpPr>
          <p:cNvPr id="4" name="Text 1"/>
          <p:cNvSpPr/>
          <p:nvPr/>
        </p:nvSpPr>
        <p:spPr>
          <a:xfrm>
            <a:off x="8204200" y="3060700"/>
            <a:ext cx="2413000" cy="264120"/>
          </a:xfrm>
          <a:custGeom>
            <a:avLst/>
            <a:gdLst/>
            <a:ahLst/>
            <a:cxnLst/>
            <a:rect l="l" t="t" r="r" b="b"/>
            <a:pathLst>
              <a:path w="2413000" h="264120">
                <a:moveTo>
                  <a:pt x="50800" y="0"/>
                </a:moveTo>
                <a:lnTo>
                  <a:pt x="2362200" y="0"/>
                </a:lnTo>
                <a:arcTo hR="50800" wR="50800" stAng="16200000" swAng="5400000"/>
                <a:lnTo>
                  <a:pt x="2413000" y="213320"/>
                </a:lnTo>
                <a:arcTo hR="50800" wR="50800" stAng="0" swAng="5400000"/>
                <a:lnTo>
                  <a:pt x="50800" y="264120"/>
                </a:lnTo>
                <a:arcTo hR="50800" wR="50800" stAng="5400000" swAng="5400000"/>
                <a:lnTo>
                  <a:pt x="0" y="50800"/>
                </a:lnTo>
                <a:arcTo hR="50800" wR="50800" stAng="10800000" swAng="5400000"/>
                <a:close/>
              </a:path>
            </a:pathLst>
          </a:custGeom>
          <a:solidFill>
            <a:srgbClr val="E2611B"/>
          </a:solidFill>
          <a:ln/>
        </p:spPr>
        <p:txBody>
          <a:bodyPr wrap="square" lIns="29210" tIns="25400" rIns="29210" bIns="0" rtlCol="0" anchor="t">
            <a:normAutofit/>
          </a:bodyPr>
          <a:lstStyle/>
          <a:p>
            <a:pPr algn="ctr" indent="0" marL="0">
              <a:lnSpc>
                <a:spcPts val="1680"/>
              </a:lnSpc>
              <a:buNone/>
            </a:pPr>
            <a:r>
              <a:rPr lang="en-US" sz="1200" b="1" dirty="0">
                <a:solidFill>
                  <a:srgbClr val="16191C"/>
                </a:solidFill>
                <a:latin typeface="IBM Plex Mono" pitchFamily="49" charset="0"/>
                <a:ea typeface="IBM Plex Mono" pitchFamily="49" charset="-122"/>
                <a:cs typeface="IBM Plex Mono" pitchFamily="49" charset="-120"/>
              </a:rPr>
              <a:t>300 ± 6 mm · drawing 150</a:t>
            </a:r>
            <a:endParaRPr lang="en-US" sz="1200" dirty="0"/>
          </a:p>
        </p:txBody>
      </p:sp>
      <p:sp>
        <p:nvSpPr>
          <p:cNvPr id="5" name="Text 2"/>
          <p:cNvSpPr/>
          <p:nvPr/>
        </p:nvSpPr>
        <p:spPr>
          <a:xfrm>
            <a:off x="812800" y="12074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611B"/>
                </a:solidFill>
                <a:latin typeface="IBM Plex Mono" pitchFamily="49" charset="0"/>
                <a:ea typeface="IBM Plex Mono" pitchFamily="49" charset="-122"/>
                <a:cs typeface="IBM Plex Mono" pitchFamily="49" charset="-120"/>
              </a:rPr>
              <a:t>IQOO HACKATHON 2026 · GRAND FINALE</a:t>
            </a:r>
            <a:endParaRPr lang="en-US" sz="1200" dirty="0"/>
          </a:p>
        </p:txBody>
      </p:sp>
      <p:sp>
        <p:nvSpPr>
          <p:cNvPr id="6" name="Text 3"/>
          <p:cNvSpPr/>
          <p:nvPr>
            <p:ph type="title"/>
          </p:nvPr>
        </p:nvSpPr>
        <p:spPr>
          <a:xfrm>
            <a:off x="812800" y="1598613"/>
            <a:ext cx="5624830" cy="1231900"/>
          </a:xfrm>
          <a:prstGeom prst="rect">
            <a:avLst/>
          </a:prstGeom>
          <a:noFill/>
          <a:ln/>
        </p:spPr>
        <p:txBody>
          <a:bodyPr wrap="square" lIns="0" tIns="0" rIns="0" bIns="0" rtlCol="0" anchor="t">
            <a:normAutofit/>
          </a:bodyPr>
          <a:lstStyle/>
          <a:p>
            <a:pPr algn="l" indent="0" marL="0">
              <a:lnSpc>
                <a:spcPts val="9500"/>
              </a:lnSpc>
              <a:buNone/>
            </a:pPr>
            <a:r>
              <a:rPr lang="en-US" sz="10000" b="1" i="0" spc="200" kern="0" dirty="0">
                <a:solidFill>
                  <a:srgbClr val="F3F1EC"/>
                </a:solidFill>
                <a:latin typeface="Oswald" pitchFamily="34" charset="0"/>
                <a:ea typeface="Oswald" pitchFamily="34" charset="-122"/>
                <a:cs typeface="Oswald" pitchFamily="34" charset="-120"/>
              </a:rPr>
              <a:t>SARIYA</a:t>
            </a:r>
            <a:endParaRPr lang="en-US" sz="10000" dirty="0"/>
          </a:p>
        </p:txBody>
      </p:sp>
      <p:sp>
        <p:nvSpPr>
          <p:cNvPr id="7" name="Text 4"/>
          <p:cNvSpPr/>
          <p:nvPr/>
        </p:nvSpPr>
        <p:spPr>
          <a:xfrm>
            <a:off x="812800" y="2830513"/>
            <a:ext cx="562483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9096"/>
                </a:solidFill>
                <a:latin typeface="IBM Plex Sans" pitchFamily="34" charset="0"/>
                <a:ea typeface="IBM Plex Sans" pitchFamily="34" charset="-122"/>
                <a:cs typeface="IBM Plex Sans" pitchFamily="34" charset="-120"/>
              </a:rPr>
              <a:t>सरिया · what India's building sites call rebar</a:t>
            </a:r>
            <a:endParaRPr lang="en-US" sz="1400" dirty="0"/>
          </a:p>
        </p:txBody>
      </p:sp>
      <p:sp>
        <p:nvSpPr>
          <p:cNvPr id="8" name="Text 5"/>
          <p:cNvSpPr/>
          <p:nvPr/>
        </p:nvSpPr>
        <p:spPr>
          <a:xfrm>
            <a:off x="812800" y="3257203"/>
            <a:ext cx="5624830" cy="91946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F3F1EC"/>
                </a:solidFill>
                <a:latin typeface="Oswald" pitchFamily="34" charset="0"/>
                <a:ea typeface="Oswald" pitchFamily="34" charset="-122"/>
                <a:cs typeface="Oswald" pitchFamily="34" charset="-120"/>
              </a:rPr>
              <a:t>Check the steel before</a:t>
            </a:r>
            <a:endParaRPr lang="en-US" sz="3200" dirty="0"/>
          </a:p>
          <a:p>
            <a:pPr algn="l" indent="0" marL="0">
              <a:lnSpc>
                <a:spcPts val="3520"/>
              </a:lnSpc>
              <a:buNone/>
            </a:pPr>
            <a:r>
              <a:rPr lang="en-US" sz="3200" dirty="0">
                <a:solidFill>
                  <a:srgbClr val="F3F1EC"/>
                </a:solidFill>
                <a:latin typeface="Oswald" pitchFamily="34" charset="0"/>
                <a:ea typeface="Oswald" pitchFamily="34" charset="-122"/>
                <a:cs typeface="Oswald" pitchFamily="34" charset="-120"/>
              </a:rPr>
              <a:t>the concrete hides it.</a:t>
            </a:r>
            <a:endParaRPr lang="en-US" sz="3200" dirty="0"/>
          </a:p>
        </p:txBody>
      </p:sp>
      <p:sp>
        <p:nvSpPr>
          <p:cNvPr id="9" name="Text 6"/>
          <p:cNvSpPr/>
          <p:nvPr/>
        </p:nvSpPr>
        <p:spPr>
          <a:xfrm>
            <a:off x="812800" y="4329063"/>
            <a:ext cx="536321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9BEC3"/>
                </a:solidFill>
                <a:latin typeface="IBM Plex Sans" pitchFamily="34" charset="0"/>
                <a:ea typeface="IBM Plex Sans" pitchFamily="34" charset="-122"/>
                <a:cs typeface="IBM Plex Sans" pitchFamily="34" charset="-120"/>
              </a:rPr>
              <a:t>One iQOO phone and a printed card measure the steel live on the Snapdragon NPU, speak the fix in Hindi or Kannada, and sign a record for the engineer. Fully offline.</a:t>
            </a:r>
            <a:endParaRPr lang="en-US" sz="1500" dirty="0"/>
          </a:p>
        </p:txBody>
      </p:sp>
      <p:sp>
        <p:nvSpPr>
          <p:cNvPr id="10" name="Text 7"/>
          <p:cNvSpPr/>
          <p:nvPr/>
        </p:nvSpPr>
        <p:spPr>
          <a:xfrm>
            <a:off x="819150" y="5341888"/>
            <a:ext cx="1442641" cy="302220"/>
          </a:xfrm>
          <a:prstGeom prst="roundRect">
            <a:avLst>
              <a:gd name="adj" fmla="val 50000"/>
            </a:avLst>
          </a:prstGeom>
          <a:noFill/>
          <a:ln w="12700">
            <a:solidFill>
              <a:srgbClr val="39C5CF"/>
            </a:solidFill>
            <a:prstDash val="solid"/>
          </a:ln>
        </p:spPr>
        <p:txBody>
          <a:bodyPr wrap="none" lIns="0" tIns="0" rIns="0" bIns="0" rtlCol="0" anchor="ctr">
            <a:normAutofit/>
          </a:bodyPr>
          <a:lstStyle/>
          <a:p>
            <a:pPr algn="ctr" indent="0" marL="0">
              <a:lnSpc>
                <a:spcPts val="1680"/>
              </a:lnSpc>
              <a:buNone/>
            </a:pPr>
            <a:r>
              <a:rPr lang="en-US" sz="1200" b="1" dirty="0">
                <a:solidFill>
                  <a:srgbClr val="39C5CF"/>
                </a:solidFill>
                <a:latin typeface="IBM Plex Sans" pitchFamily="34" charset="0"/>
                <a:ea typeface="IBM Plex Sans" pitchFamily="34" charset="-122"/>
                <a:cs typeface="IBM Plex Sans" pitchFamily="34" charset="-120"/>
              </a:rPr>
              <a:t>Open Innovation</a:t>
            </a:r>
            <a:endParaRPr lang="en-US" sz="1200" dirty="0"/>
          </a:p>
        </p:txBody>
      </p:sp>
      <p:sp>
        <p:nvSpPr>
          <p:cNvPr id="11" name="Text 8"/>
          <p:cNvSpPr/>
          <p:nvPr/>
        </p:nvSpPr>
        <p:spPr>
          <a:xfrm>
            <a:off x="2376091" y="5341888"/>
            <a:ext cx="1335236" cy="302220"/>
          </a:xfrm>
          <a:prstGeom prst="roundRect">
            <a:avLst>
              <a:gd name="adj" fmla="val 50000"/>
            </a:avLst>
          </a:prstGeom>
          <a:noFill/>
          <a:ln w="12700">
            <a:solidFill>
              <a:srgbClr val="39C5CF"/>
            </a:solidFill>
            <a:prstDash val="solid"/>
          </a:ln>
        </p:spPr>
        <p:txBody>
          <a:bodyPr wrap="none" lIns="0" tIns="0" rIns="0" bIns="0" rtlCol="0" anchor="ctr">
            <a:normAutofit/>
          </a:bodyPr>
          <a:lstStyle/>
          <a:p>
            <a:pPr algn="ctr" indent="0" marL="0">
              <a:lnSpc>
                <a:spcPts val="1680"/>
              </a:lnSpc>
              <a:buNone/>
            </a:pPr>
            <a:r>
              <a:rPr lang="en-US" sz="1200" b="1" dirty="0">
                <a:solidFill>
                  <a:srgbClr val="39C5CF"/>
                </a:solidFill>
                <a:latin typeface="IBM Plex Sans" pitchFamily="34" charset="0"/>
                <a:ea typeface="IBM Plex Sans" pitchFamily="34" charset="-122"/>
                <a:cs typeface="IBM Plex Sans" pitchFamily="34" charset="-120"/>
              </a:rPr>
              <a:t>On-device NPU</a:t>
            </a:r>
            <a:endParaRPr lang="en-US" sz="1200" dirty="0"/>
          </a:p>
        </p:txBody>
      </p:sp>
      <p:sp>
        <p:nvSpPr>
          <p:cNvPr id="12" name="Text 9"/>
          <p:cNvSpPr/>
          <p:nvPr/>
        </p:nvSpPr>
        <p:spPr>
          <a:xfrm>
            <a:off x="3825627" y="5341888"/>
            <a:ext cx="924620" cy="302220"/>
          </a:xfrm>
          <a:prstGeom prst="roundRect">
            <a:avLst>
              <a:gd name="adj" fmla="val 50000"/>
            </a:avLst>
          </a:prstGeom>
          <a:noFill/>
          <a:ln w="12700">
            <a:solidFill>
              <a:srgbClr val="39C5CF"/>
            </a:solidFill>
            <a:prstDash val="solid"/>
          </a:ln>
        </p:spPr>
        <p:txBody>
          <a:bodyPr wrap="none" lIns="0" tIns="0" rIns="0" bIns="0" rtlCol="0" anchor="ctr">
            <a:normAutofit/>
          </a:bodyPr>
          <a:lstStyle/>
          <a:p>
            <a:pPr algn="ctr" indent="0" marL="0">
              <a:lnSpc>
                <a:spcPts val="1680"/>
              </a:lnSpc>
              <a:buNone/>
            </a:pPr>
            <a:r>
              <a:rPr lang="en-US" sz="1200" b="1" dirty="0">
                <a:solidFill>
                  <a:srgbClr val="39C5CF"/>
                </a:solidFill>
                <a:latin typeface="IBM Plex Sans" pitchFamily="34" charset="0"/>
                <a:ea typeface="IBM Plex Sans" pitchFamily="34" charset="-122"/>
                <a:cs typeface="IBM Plex Sans" pitchFamily="34" charset="-120"/>
              </a:rPr>
              <a:t>Office Kit</a:t>
            </a:r>
            <a:endParaRPr lang="en-US" sz="1200" dirty="0"/>
          </a:p>
        </p:txBody>
      </p:sp>
      <p:sp>
        <p:nvSpPr>
          <p:cNvPr id="13" name="Text 10"/>
          <p:cNvSpPr/>
          <p:nvPr/>
        </p:nvSpPr>
        <p:spPr>
          <a:xfrm>
            <a:off x="4864546" y="5341888"/>
            <a:ext cx="1393775" cy="302220"/>
          </a:xfrm>
          <a:prstGeom prst="roundRect">
            <a:avLst>
              <a:gd name="adj" fmla="val 50000"/>
            </a:avLst>
          </a:prstGeom>
          <a:noFill/>
          <a:ln w="12700">
            <a:solidFill>
              <a:srgbClr val="39C5CF"/>
            </a:solidFill>
            <a:prstDash val="solid"/>
          </a:ln>
        </p:spPr>
        <p:txBody>
          <a:bodyPr wrap="none" lIns="0" tIns="0" rIns="0" bIns="0" rtlCol="0" anchor="ctr">
            <a:normAutofit/>
          </a:bodyPr>
          <a:lstStyle/>
          <a:p>
            <a:pPr algn="ctr" indent="0" marL="0">
              <a:lnSpc>
                <a:spcPts val="1680"/>
              </a:lnSpc>
              <a:buNone/>
            </a:pPr>
            <a:r>
              <a:rPr lang="en-US" sz="1200" b="1" dirty="0">
                <a:solidFill>
                  <a:srgbClr val="39C5CF"/>
                </a:solidFill>
                <a:latin typeface="IBM Plex Sans" pitchFamily="34" charset="0"/>
                <a:ea typeface="IBM Plex Sans" pitchFamily="34" charset="-122"/>
                <a:cs typeface="IBM Plex Sans" pitchFamily="34" charset="-120"/>
              </a:rPr>
              <a:t>Hindi · Kannada</a:t>
            </a:r>
            <a:endParaRPr lang="en-US" sz="1200" dirty="0"/>
          </a:p>
        </p:txBody>
      </p:sp>
      <p:sp>
        <p:nvSpPr>
          <p:cNvPr id="14" name="Text 11"/>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EEEBE5"/>
                </a:solidFill>
                <a:latin typeface="IBM Plex Sans" pitchFamily="34" charset="0"/>
                <a:ea typeface="IBM Plex Sans" pitchFamily="34" charset="-122"/>
                <a:cs typeface="IBM Plex Sans" pitchFamily="34" charset="-120"/>
              </a:rPr>
              <a:t>Team Sarpatta</a:t>
            </a:r>
            <a:r>
              <a:rPr lang="en-US" sz="1200" dirty="0">
                <a:solidFill>
                  <a:srgbClr val="8A9096"/>
                </a:solidFill>
                <a:latin typeface="IBM Plex Sans" pitchFamily="34" charset="0"/>
                <a:ea typeface="IBM Plex Sans" pitchFamily="34" charset="-122"/>
                <a:cs typeface="IBM Plex Sans" pitchFamily="34" charset="-120"/>
              </a:rPr>
              <a:t> · Melvin, Lead Engineer · Alwin, UI/UX · Sabari, AI Engineer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BE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70F"/>
                </a:solidFill>
                <a:latin typeface="IBM Plex Mono" pitchFamily="49" charset="0"/>
                <a:ea typeface="IBM Plex Mono" pitchFamily="49" charset="-122"/>
                <a:cs typeface="IBM Plex Mono" pitchFamily="49" charset="-120"/>
              </a:rPr>
              <a:t>AT A GLANCE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C"/>
                </a:solidFill>
                <a:latin typeface="Oswald" pitchFamily="34" charset="0"/>
                <a:ea typeface="Oswald" pitchFamily="34" charset="-122"/>
                <a:cs typeface="Oswald" pitchFamily="34" charset="-120"/>
              </a:rPr>
              <a:t>Sariya in 30 seconds</a:t>
            </a:r>
            <a:endParaRPr lang="en-US" sz="3600" dirty="0"/>
          </a:p>
        </p:txBody>
      </p:sp>
      <p:sp>
        <p:nvSpPr>
          <p:cNvPr id="4" name="Shape 2"/>
          <p:cNvSpPr/>
          <p:nvPr/>
        </p:nvSpPr>
        <p:spPr>
          <a:xfrm>
            <a:off x="812800" y="1995736"/>
            <a:ext cx="10566400" cy="0"/>
          </a:xfrm>
          <a:prstGeom prst="line">
            <a:avLst/>
          </a:prstGeom>
          <a:noFill/>
          <a:ln w="19050">
            <a:solidFill>
              <a:srgbClr val="16191C"/>
            </a:solidFill>
            <a:prstDash val="solid"/>
          </a:ln>
        </p:spPr>
      </p:sp>
      <p:sp>
        <p:nvSpPr>
          <p:cNvPr id="5" name="Text 3"/>
          <p:cNvSpPr/>
          <p:nvPr/>
        </p:nvSpPr>
        <p:spPr>
          <a:xfrm>
            <a:off x="812800" y="2270820"/>
            <a:ext cx="1701800" cy="25653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4470F"/>
                </a:solidFill>
                <a:latin typeface="IBM Plex Mono" pitchFamily="49" charset="0"/>
                <a:ea typeface="IBM Plex Mono" pitchFamily="49" charset="-122"/>
                <a:cs typeface="IBM Plex Mono" pitchFamily="49" charset="-120"/>
              </a:rPr>
              <a:t>PROBLEM</a:t>
            </a:r>
            <a:endParaRPr lang="en-US" sz="1300" dirty="0"/>
          </a:p>
        </p:txBody>
      </p:sp>
      <p:sp>
        <p:nvSpPr>
          <p:cNvPr id="6" name="Text 4"/>
          <p:cNvSpPr/>
          <p:nvPr/>
        </p:nvSpPr>
        <p:spPr>
          <a:xfrm>
            <a:off x="2717800" y="2240310"/>
            <a:ext cx="366268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Steel hidden within days</a:t>
            </a:r>
            <a:endParaRPr lang="en-US" sz="2000" dirty="0"/>
          </a:p>
        </p:txBody>
      </p:sp>
      <p:sp>
        <p:nvSpPr>
          <p:cNvPr id="7" name="Text 5"/>
          <p:cNvSpPr/>
          <p:nvPr/>
        </p:nvSpPr>
        <p:spPr>
          <a:xfrm>
            <a:off x="6527800" y="2146350"/>
            <a:ext cx="499694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5"/>
                </a:solidFill>
                <a:latin typeface="IBM Plex Sans" pitchFamily="34" charset="0"/>
                <a:ea typeface="IBM Plex Sans" pitchFamily="34" charset="-122"/>
                <a:cs typeface="IBM Plex Sans" pitchFamily="34" charset="-120"/>
              </a:rPr>
              <a:t>Concrete covers it for good. Today it is checked by eye, with no record.</a:t>
            </a:r>
            <a:endParaRPr lang="en-US" sz="1400" dirty="0"/>
          </a:p>
        </p:txBody>
      </p:sp>
      <p:sp>
        <p:nvSpPr>
          <p:cNvPr id="8" name="Shape 6"/>
          <p:cNvSpPr/>
          <p:nvPr/>
        </p:nvSpPr>
        <p:spPr>
          <a:xfrm>
            <a:off x="812800" y="2770684"/>
            <a:ext cx="10566400" cy="0"/>
          </a:xfrm>
          <a:prstGeom prst="line">
            <a:avLst/>
          </a:prstGeom>
          <a:noFill/>
          <a:ln w="6350">
            <a:solidFill>
              <a:srgbClr val="C4BFB5"/>
            </a:solidFill>
            <a:prstDash val="solid"/>
          </a:ln>
        </p:spPr>
      </p:sp>
      <p:sp>
        <p:nvSpPr>
          <p:cNvPr id="9" name="Text 7"/>
          <p:cNvSpPr/>
          <p:nvPr/>
        </p:nvSpPr>
        <p:spPr>
          <a:xfrm>
            <a:off x="812800" y="3039418"/>
            <a:ext cx="1701800" cy="25653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4470F"/>
                </a:solidFill>
                <a:latin typeface="IBM Plex Mono" pitchFamily="49" charset="0"/>
                <a:ea typeface="IBM Plex Mono" pitchFamily="49" charset="-122"/>
                <a:cs typeface="IBM Plex Mono" pitchFamily="49" charset="-120"/>
              </a:rPr>
              <a:t>NOVELTY</a:t>
            </a:r>
            <a:endParaRPr lang="en-US" sz="1300" dirty="0"/>
          </a:p>
        </p:txBody>
      </p:sp>
      <p:sp>
        <p:nvSpPr>
          <p:cNvPr id="10" name="Text 8"/>
          <p:cNvSpPr/>
          <p:nvPr/>
        </p:nvSpPr>
        <p:spPr>
          <a:xfrm>
            <a:off x="2717800" y="3008957"/>
            <a:ext cx="366268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Japan has it. India doesn't.</a:t>
            </a:r>
            <a:endParaRPr lang="en-US" sz="2000" dirty="0"/>
          </a:p>
        </p:txBody>
      </p:sp>
      <p:sp>
        <p:nvSpPr>
          <p:cNvPr id="11" name="Text 9"/>
          <p:cNvSpPr/>
          <p:nvPr/>
        </p:nvSpPr>
        <p:spPr>
          <a:xfrm>
            <a:off x="6527800" y="2914997"/>
            <a:ext cx="499694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5"/>
                </a:solidFill>
                <a:latin typeface="IBM Plex Sans" pitchFamily="34" charset="0"/>
                <a:ea typeface="IBM Plex Sans" pitchFamily="34" charset="-122"/>
                <a:cs typeface="IBM Plex Sans" pitchFamily="34" charset="-120"/>
              </a:rPr>
              <a:t>Camera rebar checks accepted in Japan since 2023. No phone tool for India's pour.</a:t>
            </a:r>
            <a:endParaRPr lang="en-US" sz="1400" dirty="0"/>
          </a:p>
        </p:txBody>
      </p:sp>
      <p:sp>
        <p:nvSpPr>
          <p:cNvPr id="12" name="Shape 10"/>
          <p:cNvSpPr/>
          <p:nvPr/>
        </p:nvSpPr>
        <p:spPr>
          <a:xfrm>
            <a:off x="812800" y="3539331"/>
            <a:ext cx="10566400" cy="0"/>
          </a:xfrm>
          <a:prstGeom prst="line">
            <a:avLst/>
          </a:prstGeom>
          <a:noFill/>
          <a:ln w="6350">
            <a:solidFill>
              <a:srgbClr val="C4BFB5"/>
            </a:solidFill>
            <a:prstDash val="solid"/>
          </a:ln>
        </p:spPr>
      </p:sp>
      <p:sp>
        <p:nvSpPr>
          <p:cNvPr id="13" name="Text 11"/>
          <p:cNvSpPr/>
          <p:nvPr/>
        </p:nvSpPr>
        <p:spPr>
          <a:xfrm>
            <a:off x="812800" y="3808065"/>
            <a:ext cx="1701800" cy="25653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4470F"/>
                </a:solidFill>
                <a:latin typeface="IBM Plex Mono" pitchFamily="49" charset="0"/>
                <a:ea typeface="IBM Plex Mono" pitchFamily="49" charset="-122"/>
                <a:cs typeface="IBM Plex Mono" pitchFamily="49" charset="-120"/>
              </a:rPr>
              <a:t>TECH IMPACT</a:t>
            </a:r>
            <a:endParaRPr lang="en-US" sz="1300" dirty="0"/>
          </a:p>
        </p:txBody>
      </p:sp>
      <p:sp>
        <p:nvSpPr>
          <p:cNvPr id="14" name="Text 12"/>
          <p:cNvSpPr/>
          <p:nvPr/>
        </p:nvSpPr>
        <p:spPr>
          <a:xfrm>
            <a:off x="2717800" y="3777555"/>
            <a:ext cx="366268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Live measurement on the NPU</a:t>
            </a:r>
            <a:endParaRPr lang="en-US" sz="2000" dirty="0"/>
          </a:p>
        </p:txBody>
      </p:sp>
      <p:sp>
        <p:nvSpPr>
          <p:cNvPr id="15" name="Text 13"/>
          <p:cNvSpPr/>
          <p:nvPr/>
        </p:nvSpPr>
        <p:spPr>
          <a:xfrm>
            <a:off x="6527800" y="3683595"/>
            <a:ext cx="499694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5"/>
                </a:solidFill>
                <a:latin typeface="IBM Plex Sans" pitchFamily="34" charset="0"/>
                <a:ea typeface="IBM Plex Sans" pitchFamily="34" charset="-122"/>
                <a:cs typeface="IBM Plex Sans" pitchFamily="34" charset="-120"/>
              </a:rPr>
              <a:t>An open segmentation model finds every bar; plain-code rules keep verdicts auditable.</a:t>
            </a:r>
            <a:endParaRPr lang="en-US" sz="1400" dirty="0"/>
          </a:p>
        </p:txBody>
      </p:sp>
      <p:sp>
        <p:nvSpPr>
          <p:cNvPr id="16" name="Shape 14"/>
          <p:cNvSpPr/>
          <p:nvPr/>
        </p:nvSpPr>
        <p:spPr>
          <a:xfrm>
            <a:off x="812800" y="4307929"/>
            <a:ext cx="10566400" cy="0"/>
          </a:xfrm>
          <a:prstGeom prst="line">
            <a:avLst/>
          </a:prstGeom>
          <a:noFill/>
          <a:ln w="6350">
            <a:solidFill>
              <a:srgbClr val="C4BFB5"/>
            </a:solidFill>
            <a:prstDash val="solid"/>
          </a:ln>
        </p:spPr>
      </p:sp>
      <p:sp>
        <p:nvSpPr>
          <p:cNvPr id="17" name="Text 15"/>
          <p:cNvSpPr/>
          <p:nvPr/>
        </p:nvSpPr>
        <p:spPr>
          <a:xfrm>
            <a:off x="812800" y="4576663"/>
            <a:ext cx="1701800" cy="25653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4470F"/>
                </a:solidFill>
                <a:latin typeface="IBM Plex Mono" pitchFamily="49" charset="0"/>
                <a:ea typeface="IBM Plex Mono" pitchFamily="49" charset="-122"/>
                <a:cs typeface="IBM Plex Mono" pitchFamily="49" charset="-120"/>
              </a:rPr>
              <a:t>PHONE-FIRST</a:t>
            </a:r>
            <a:endParaRPr lang="en-US" sz="1300" dirty="0"/>
          </a:p>
        </p:txBody>
      </p:sp>
      <p:sp>
        <p:nvSpPr>
          <p:cNvPr id="18" name="Text 16"/>
          <p:cNvSpPr/>
          <p:nvPr/>
        </p:nvSpPr>
        <p:spPr>
          <a:xfrm>
            <a:off x="2717800" y="4546203"/>
            <a:ext cx="366268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The camera is the instrument</a:t>
            </a:r>
            <a:endParaRPr lang="en-US" sz="2000" dirty="0"/>
          </a:p>
        </p:txBody>
      </p:sp>
      <p:sp>
        <p:nvSpPr>
          <p:cNvPr id="19" name="Text 17"/>
          <p:cNvSpPr/>
          <p:nvPr/>
        </p:nvSpPr>
        <p:spPr>
          <a:xfrm>
            <a:off x="6527800" y="4452243"/>
            <a:ext cx="499694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5"/>
                </a:solidFill>
                <a:latin typeface="IBM Plex Sans" pitchFamily="34" charset="0"/>
                <a:ea typeface="IBM Plex Sans" pitchFamily="34" charset="-122"/>
                <a:cs typeface="IBM Plex Sans" pitchFamily="34" charset="-120"/>
              </a:rPr>
              <a:t>Torch, gyro, mic, speaker, keystore and Office Kit all carry load. Fully offline.</a:t>
            </a:r>
            <a:endParaRPr lang="en-US" sz="1400" dirty="0"/>
          </a:p>
        </p:txBody>
      </p:sp>
      <p:sp>
        <p:nvSpPr>
          <p:cNvPr id="20" name="Shape 18"/>
          <p:cNvSpPr/>
          <p:nvPr/>
        </p:nvSpPr>
        <p:spPr>
          <a:xfrm>
            <a:off x="812800" y="5076577"/>
            <a:ext cx="10566400" cy="0"/>
          </a:xfrm>
          <a:prstGeom prst="line">
            <a:avLst/>
          </a:prstGeom>
          <a:noFill/>
          <a:ln w="6350">
            <a:solidFill>
              <a:srgbClr val="C4BFB5"/>
            </a:solidFill>
            <a:prstDash val="solid"/>
          </a:ln>
        </p:spPr>
      </p:sp>
      <p:sp>
        <p:nvSpPr>
          <p:cNvPr id="21" name="Text 19"/>
          <p:cNvSpPr/>
          <p:nvPr/>
        </p:nvSpPr>
        <p:spPr>
          <a:xfrm>
            <a:off x="812800" y="5345311"/>
            <a:ext cx="1701800" cy="25653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4470F"/>
                </a:solidFill>
                <a:latin typeface="IBM Plex Mono" pitchFamily="49" charset="0"/>
                <a:ea typeface="IBM Plex Mono" pitchFamily="49" charset="-122"/>
                <a:cs typeface="IBM Plex Mono" pitchFamily="49" charset="-120"/>
              </a:rPr>
              <a:t>SCOPE FIT</a:t>
            </a:r>
            <a:endParaRPr lang="en-US" sz="1300" dirty="0"/>
          </a:p>
        </p:txBody>
      </p:sp>
      <p:sp>
        <p:nvSpPr>
          <p:cNvPr id="22" name="Text 20"/>
          <p:cNvSpPr/>
          <p:nvPr/>
        </p:nvSpPr>
        <p:spPr>
          <a:xfrm>
            <a:off x="2717800" y="5314801"/>
            <a:ext cx="366268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Four items, loop by hour 30</a:t>
            </a:r>
            <a:endParaRPr lang="en-US" sz="2000" dirty="0"/>
          </a:p>
        </p:txBody>
      </p:sp>
      <p:sp>
        <p:nvSpPr>
          <p:cNvPr id="23" name="Text 21"/>
          <p:cNvSpPr/>
          <p:nvPr/>
        </p:nvSpPr>
        <p:spPr>
          <a:xfrm>
            <a:off x="6527800" y="5340846"/>
            <a:ext cx="499694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5"/>
                </a:solidFill>
                <a:latin typeface="IBM Plex Sans" pitchFamily="34" charset="0"/>
                <a:ea typeface="IBM Plex Sans" pitchFamily="34" charset="-122"/>
                <a:cs typeface="IBM Plex Sans" pitchFamily="34" charset="-120"/>
              </a:rPr>
              <a:t>A fallback for every risky part. Everything else is roadmap.</a:t>
            </a:r>
            <a:endParaRPr lang="en-US" sz="1400" dirty="0"/>
          </a:p>
        </p:txBody>
      </p:sp>
      <p:sp>
        <p:nvSpPr>
          <p:cNvPr id="24" name="Text 22"/>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36A"/>
                </a:solidFill>
                <a:latin typeface="IBM Plex Sans" pitchFamily="34" charset="0"/>
                <a:ea typeface="IBM Plex Sans" pitchFamily="34" charset="-122"/>
                <a:cs typeface="IBM Plex Sans" pitchFamily="34" charset="-120"/>
              </a:rPr>
              <a:t>Sariya · Team Sarpatta · Open Innovation track</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9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611B"/>
                </a:solidFill>
                <a:latin typeface="IBM Plex Mono" pitchFamily="49" charset="0"/>
                <a:ea typeface="IBM Plex Mono" pitchFamily="49" charset="-122"/>
                <a:cs typeface="IBM Plex Mono" pitchFamily="49" charset="-120"/>
              </a:rPr>
              <a:t>PROBLEM CHOICE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1EC"/>
                </a:solidFill>
                <a:latin typeface="Oswald" pitchFamily="34" charset="0"/>
                <a:ea typeface="Oswald" pitchFamily="34" charset="-122"/>
                <a:cs typeface="Oswald" pitchFamily="34" charset="-120"/>
              </a:rPr>
              <a:t>Steel is visible for a day or two, then hidden for good</a:t>
            </a:r>
            <a:endParaRPr lang="en-US" sz="3600" dirty="0"/>
          </a:p>
        </p:txBody>
      </p:sp>
      <p:sp>
        <p:nvSpPr>
          <p:cNvPr id="4" name="Text 2"/>
          <p:cNvSpPr/>
          <p:nvPr/>
        </p:nvSpPr>
        <p:spPr>
          <a:xfrm>
            <a:off x="812800" y="1986211"/>
            <a:ext cx="24289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DAY 1–2</a:t>
            </a:r>
            <a:endParaRPr lang="en-US" sz="1200" dirty="0"/>
          </a:p>
        </p:txBody>
      </p:sp>
      <p:sp>
        <p:nvSpPr>
          <p:cNvPr id="5" name="Text 3"/>
          <p:cNvSpPr/>
          <p:nvPr/>
        </p:nvSpPr>
        <p:spPr>
          <a:xfrm>
            <a:off x="812800" y="2224931"/>
            <a:ext cx="24289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F1EC"/>
                </a:solidFill>
                <a:latin typeface="IBM Plex Sans" pitchFamily="34" charset="0"/>
                <a:ea typeface="IBM Plex Sans" pitchFamily="34" charset="-122"/>
                <a:cs typeface="IBM Plex Sans" pitchFamily="34" charset="-120"/>
              </a:rPr>
              <a:t>Steel tied</a:t>
            </a:r>
            <a:endParaRPr lang="en-US" sz="1500" dirty="0"/>
          </a:p>
        </p:txBody>
      </p:sp>
      <p:sp>
        <p:nvSpPr>
          <p:cNvPr id="6" name="Text 4"/>
          <p:cNvSpPr/>
          <p:nvPr/>
        </p:nvSpPr>
        <p:spPr>
          <a:xfrm>
            <a:off x="3234482" y="1986211"/>
            <a:ext cx="2186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2611B"/>
                </a:solidFill>
                <a:latin typeface="IBM Plex Mono" pitchFamily="49" charset="0"/>
                <a:ea typeface="IBM Plex Mono" pitchFamily="49" charset="-122"/>
                <a:cs typeface="IBM Plex Mono" pitchFamily="49" charset="-120"/>
              </a:rPr>
              <a:t>EVENING BEFORE</a:t>
            </a:r>
            <a:endParaRPr lang="en-US" sz="1200" dirty="0"/>
          </a:p>
        </p:txBody>
      </p:sp>
      <p:sp>
        <p:nvSpPr>
          <p:cNvPr id="7" name="Text 5"/>
          <p:cNvSpPr/>
          <p:nvPr/>
        </p:nvSpPr>
        <p:spPr>
          <a:xfrm>
            <a:off x="3234482" y="2224931"/>
            <a:ext cx="218600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2611B"/>
                </a:solidFill>
                <a:latin typeface="IBM Plex Sans" pitchFamily="34" charset="0"/>
                <a:ea typeface="IBM Plex Sans" pitchFamily="34" charset="-122"/>
                <a:cs typeface="IBM Plex Sans" pitchFamily="34" charset="-120"/>
              </a:rPr>
              <a:t>Last chance to check</a:t>
            </a:r>
            <a:endParaRPr lang="en-US" sz="1500" dirty="0"/>
          </a:p>
        </p:txBody>
      </p:sp>
      <p:sp>
        <p:nvSpPr>
          <p:cNvPr id="8" name="Text 6"/>
          <p:cNvSpPr/>
          <p:nvPr/>
        </p:nvSpPr>
        <p:spPr>
          <a:xfrm>
            <a:off x="5420320" y="1986211"/>
            <a:ext cx="12298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POUR DAY</a:t>
            </a:r>
            <a:endParaRPr lang="en-US" sz="1200" dirty="0"/>
          </a:p>
        </p:txBody>
      </p:sp>
      <p:sp>
        <p:nvSpPr>
          <p:cNvPr id="9" name="Text 7"/>
          <p:cNvSpPr/>
          <p:nvPr/>
        </p:nvSpPr>
        <p:spPr>
          <a:xfrm>
            <a:off x="5420320" y="2224931"/>
            <a:ext cx="122986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F1EC"/>
                </a:solidFill>
                <a:latin typeface="IBM Plex Sans" pitchFamily="34" charset="0"/>
                <a:ea typeface="IBM Plex Sans" pitchFamily="34" charset="-122"/>
                <a:cs typeface="IBM Plex Sans" pitchFamily="34" charset="-120"/>
              </a:rPr>
              <a:t>Pour</a:t>
            </a:r>
            <a:endParaRPr lang="en-US" sz="1500" dirty="0"/>
          </a:p>
        </p:txBody>
      </p:sp>
      <p:sp>
        <p:nvSpPr>
          <p:cNvPr id="10" name="Text 8"/>
          <p:cNvSpPr/>
          <p:nvPr/>
        </p:nvSpPr>
        <p:spPr>
          <a:xfrm>
            <a:off x="6662886" y="1986211"/>
            <a:ext cx="48578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AFTER</a:t>
            </a:r>
            <a:endParaRPr lang="en-US" sz="1200" dirty="0"/>
          </a:p>
        </p:txBody>
      </p:sp>
      <p:sp>
        <p:nvSpPr>
          <p:cNvPr id="11" name="Text 9"/>
          <p:cNvSpPr/>
          <p:nvPr/>
        </p:nvSpPr>
        <p:spPr>
          <a:xfrm>
            <a:off x="6662886" y="2224931"/>
            <a:ext cx="48578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F1EC"/>
                </a:solidFill>
                <a:latin typeface="IBM Plex Sans" pitchFamily="34" charset="0"/>
                <a:ea typeface="IBM Plex Sans" pitchFamily="34" charset="-122"/>
                <a:cs typeface="IBM Plex Sans" pitchFamily="34" charset="-120"/>
              </a:rPr>
              <a:t>Hidden for 50+ years</a:t>
            </a:r>
            <a:endParaRPr lang="en-US" sz="1500" dirty="0"/>
          </a:p>
        </p:txBody>
      </p:sp>
      <p:sp>
        <p:nvSpPr>
          <p:cNvPr id="12" name="Shape 10"/>
          <p:cNvSpPr/>
          <p:nvPr/>
        </p:nvSpPr>
        <p:spPr>
          <a:xfrm>
            <a:off x="812800" y="2605931"/>
            <a:ext cx="2358182" cy="127000"/>
          </a:xfrm>
          <a:prstGeom prst="roundRect">
            <a:avLst>
              <a:gd name="adj" fmla="val 50000"/>
            </a:avLst>
          </a:prstGeom>
          <a:solidFill>
            <a:srgbClr val="8B5A3C"/>
          </a:solidFill>
          <a:ln/>
        </p:spPr>
      </p:sp>
      <p:sp>
        <p:nvSpPr>
          <p:cNvPr id="13" name="Shape 11"/>
          <p:cNvSpPr/>
          <p:nvPr/>
        </p:nvSpPr>
        <p:spPr>
          <a:xfrm>
            <a:off x="3234482" y="2605931"/>
            <a:ext cx="2122339" cy="127000"/>
          </a:xfrm>
          <a:prstGeom prst="roundRect">
            <a:avLst>
              <a:gd name="adj" fmla="val 50000"/>
            </a:avLst>
          </a:prstGeom>
          <a:solidFill>
            <a:srgbClr val="E2611B"/>
          </a:solidFill>
          <a:ln/>
        </p:spPr>
      </p:sp>
      <p:sp>
        <p:nvSpPr>
          <p:cNvPr id="14" name="Shape 12"/>
          <p:cNvSpPr/>
          <p:nvPr/>
        </p:nvSpPr>
        <p:spPr>
          <a:xfrm>
            <a:off x="5420320" y="2605931"/>
            <a:ext cx="1179066" cy="127000"/>
          </a:xfrm>
          <a:prstGeom prst="roundRect">
            <a:avLst>
              <a:gd name="adj" fmla="val 50000"/>
            </a:avLst>
          </a:prstGeom>
          <a:solidFill>
            <a:srgbClr val="6B7177"/>
          </a:solidFill>
          <a:ln/>
        </p:spPr>
      </p:sp>
      <p:sp>
        <p:nvSpPr>
          <p:cNvPr id="15" name="Shape 13"/>
          <p:cNvSpPr/>
          <p:nvPr/>
        </p:nvSpPr>
        <p:spPr>
          <a:xfrm>
            <a:off x="6662886" y="2605931"/>
            <a:ext cx="4716314" cy="127000"/>
          </a:xfrm>
          <a:prstGeom prst="roundRect">
            <a:avLst>
              <a:gd name="adj" fmla="val 50000"/>
            </a:avLst>
          </a:prstGeom>
          <a:solidFill>
            <a:srgbClr val="2E3439"/>
          </a:solidFill>
          <a:ln/>
        </p:spPr>
      </p:sp>
      <p:sp>
        <p:nvSpPr>
          <p:cNvPr id="16" name="Text 14"/>
          <p:cNvSpPr/>
          <p:nvPr/>
        </p:nvSpPr>
        <p:spPr>
          <a:xfrm>
            <a:off x="3248868" y="2847231"/>
            <a:ext cx="21993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2611B"/>
                </a:solidFill>
                <a:latin typeface="IBM Plex Mono" pitchFamily="49" charset="0"/>
                <a:ea typeface="IBM Plex Mono" pitchFamily="49" charset="-122"/>
                <a:cs typeface="IBM Plex Mono" pitchFamily="49" charset="-120"/>
              </a:rPr>
              <a:t>↑ SARIYA SCANS HERE</a:t>
            </a:r>
            <a:endParaRPr lang="en-US" sz="1200" dirty="0"/>
          </a:p>
        </p:txBody>
      </p:sp>
      <p:sp>
        <p:nvSpPr>
          <p:cNvPr id="17" name="Text 15"/>
          <p:cNvSpPr/>
          <p:nvPr/>
        </p:nvSpPr>
        <p:spPr>
          <a:xfrm>
            <a:off x="812800" y="3906639"/>
            <a:ext cx="51800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1EC"/>
                </a:solidFill>
                <a:latin typeface="IBM Plex Sans" pitchFamily="34" charset="0"/>
                <a:ea typeface="IBM Plex Sans" pitchFamily="34" charset="-122"/>
                <a:cs typeface="IBM Plex Sans" pitchFamily="34" charset="-120"/>
              </a:rPr>
              <a:t>What vanishes under the concrete</a:t>
            </a:r>
            <a:endParaRPr lang="en-US" sz="1600" dirty="0"/>
          </a:p>
        </p:txBody>
      </p:sp>
      <p:sp>
        <p:nvSpPr>
          <p:cNvPr id="18" name="Text 16"/>
          <p:cNvSpPr/>
          <p:nvPr/>
        </p:nvSpPr>
        <p:spPr>
          <a:xfrm>
            <a:off x="891032" y="4277469"/>
            <a:ext cx="5094224" cy="1127720"/>
          </a:xfrm>
          <a:prstGeom prst="rect">
            <a:avLst/>
          </a:prstGeom>
          <a:noFill/>
          <a:ln/>
        </p:spPr>
        <p:txBody>
          <a:bodyPr wrap="square" lIns="0" tIns="0" rIns="0" bIns="0" rtlCol="0" anchor="t">
            <a:normAutofit/>
          </a:bodyPr>
          <a:lstStyle/>
          <a:p>
            <a:pPr algn="l" marL="175768" indent="-175768">
              <a:lnSpc>
                <a:spcPts val="2170"/>
              </a:lnSpc>
              <a:buSzPct val="100000"/>
              <a:buChar char="•"/>
            </a:pPr>
            <a:r>
              <a:rPr lang="en-US" sz="1400" dirty="0">
                <a:solidFill>
                  <a:srgbClr val="B9BEC3"/>
                </a:solidFill>
                <a:latin typeface="IBM Plex Sans" pitchFamily="34" charset="0"/>
                <a:ea typeface="IBM Plex Sans" pitchFamily="34" charset="-122"/>
                <a:cs typeface="IBM Plex Sans" pitchFamily="34" charset="-120"/>
              </a:rPr>
              <a:t>Uniform stirrups that skip the tight spacing at beam ends</a:t>
            </a:r>
            <a:endParaRPr lang="en-US" sz="1400" dirty="0"/>
          </a:p>
          <a:p>
            <a:pPr algn="l" marL="175768" indent="-175768">
              <a:lnSpc>
                <a:spcPts val="2170"/>
              </a:lnSpc>
              <a:buSzPct val="100000"/>
              <a:buChar char="•"/>
            </a:pPr>
            <a:r>
              <a:rPr lang="en-US" sz="1400" dirty="0">
                <a:solidFill>
                  <a:srgbClr val="B9BEC3"/>
                </a:solidFill>
                <a:latin typeface="IBM Plex Sans" pitchFamily="34" charset="0"/>
                <a:ea typeface="IBM Plex Sans" pitchFamily="34" charset="-122"/>
                <a:cs typeface="IBM Plex Sans" pitchFamily="34" charset="-120"/>
              </a:rPr>
              <a:t>Missing, substituted or wider-spaced bars</a:t>
            </a:r>
            <a:endParaRPr lang="en-US" sz="1400" dirty="0"/>
          </a:p>
          <a:p>
            <a:pPr algn="l" marL="175768" indent="-175768">
              <a:lnSpc>
                <a:spcPts val="2170"/>
              </a:lnSpc>
              <a:buSzPct val="100000"/>
              <a:buChar char="•"/>
            </a:pPr>
            <a:r>
              <a:rPr lang="en-US" sz="1400" dirty="0">
                <a:solidFill>
                  <a:srgbClr val="B9BEC3"/>
                </a:solidFill>
                <a:latin typeface="IBM Plex Sans" pitchFamily="34" charset="0"/>
                <a:ea typeface="IBM Plex Sans" pitchFamily="34" charset="-122"/>
                <a:cs typeface="IBM Plex Sans" pitchFamily="34" charset="-120"/>
              </a:rPr>
              <a:t>Top steel trampled flat over supports</a:t>
            </a:r>
            <a:endParaRPr lang="en-US" sz="1400" dirty="0"/>
          </a:p>
          <a:p>
            <a:pPr algn="l" marL="175768" indent="-175768">
              <a:lnSpc>
                <a:spcPts val="2170"/>
              </a:lnSpc>
              <a:buSzPct val="100000"/>
              <a:buChar char="•"/>
            </a:pPr>
            <a:r>
              <a:rPr lang="en-US" sz="1400" dirty="0">
                <a:solidFill>
                  <a:srgbClr val="B9BEC3"/>
                </a:solidFill>
                <a:latin typeface="IBM Plex Sans" pitchFamily="34" charset="0"/>
                <a:ea typeface="IBM Plex Sans" pitchFamily="34" charset="-122"/>
                <a:cs typeface="IBM Plex Sans" pitchFamily="34" charset="-120"/>
              </a:rPr>
              <a:t>No cover blocks under the mesh</a:t>
            </a:r>
            <a:endParaRPr lang="en-US" sz="1400" dirty="0"/>
          </a:p>
        </p:txBody>
      </p:sp>
      <p:sp>
        <p:nvSpPr>
          <p:cNvPr id="19" name="Text 17"/>
          <p:cNvSpPr/>
          <p:nvPr/>
        </p:nvSpPr>
        <p:spPr>
          <a:xfrm>
            <a:off x="6350000" y="3906639"/>
            <a:ext cx="518007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39C5CF"/>
                </a:solidFill>
                <a:latin typeface="Oswald" pitchFamily="34" charset="0"/>
                <a:ea typeface="Oswald" pitchFamily="34" charset="-122"/>
                <a:cs typeface="Oswald" pitchFamily="34" charset="-120"/>
              </a:rPr>
              <a:t>55–57%</a:t>
            </a:r>
            <a:endParaRPr lang="en-US" sz="6000" dirty="0"/>
          </a:p>
        </p:txBody>
      </p:sp>
      <p:sp>
        <p:nvSpPr>
          <p:cNvPr id="20" name="Text 18"/>
          <p:cNvSpPr/>
          <p:nvPr/>
        </p:nvSpPr>
        <p:spPr>
          <a:xfrm>
            <a:off x="6350000" y="4719439"/>
            <a:ext cx="518007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of India's cement demand is housing (CRISIL, FY25)</a:t>
            </a:r>
            <a:endParaRPr lang="en-US" sz="1400" dirty="0"/>
          </a:p>
        </p:txBody>
      </p:sp>
      <p:sp>
        <p:nvSpPr>
          <p:cNvPr id="21" name="Text 19"/>
          <p:cNvSpPr/>
          <p:nvPr/>
        </p:nvSpPr>
        <p:spPr>
          <a:xfrm>
            <a:off x="6350000" y="5095329"/>
            <a:ext cx="5180076"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C"/>
                </a:solidFill>
                <a:latin typeface="IBM Plex Sans" pitchFamily="34" charset="0"/>
                <a:ea typeface="IBM Plex Sans" pitchFamily="34" charset="-122"/>
                <a:cs typeface="IBM Plex Sans" pitchFamily="34" charset="-120"/>
              </a:rPr>
              <a:t>Risk is moving to the engineer.</a:t>
            </a:r>
            <a:r>
              <a:rPr lang="en-US" sz="1400" dirty="0">
                <a:solidFill>
                  <a:srgbClr val="B9BEC3"/>
                </a:solidFill>
                <a:latin typeface="IBM Plex Sans" pitchFamily="34" charset="0"/>
                <a:ea typeface="IBM Plex Sans" pitchFamily="34" charset="-122"/>
                <a:cs typeface="IBM Plex Sans" pitchFamily="34" charset="-120"/>
              </a:rPr>
              <a:t> Bengaluru lets registered professionals self-certify plans, and small Karnataka homes no longer need an occupancy certificate.</a:t>
            </a:r>
            <a:endParaRPr lang="en-US" sz="1400" dirty="0"/>
          </a:p>
        </p:txBody>
      </p:sp>
      <p:sp>
        <p:nvSpPr>
          <p:cNvPr id="22" name="Text 20"/>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8A9096"/>
                </a:solidFill>
                <a:latin typeface="IBM Plex Sans" pitchFamily="34" charset="0"/>
                <a:ea typeface="IBM Plex Sans" pitchFamily="34" charset="-122"/>
                <a:cs typeface="IBM Plex Sans" pitchFamily="34" charset="-120"/>
              </a:rPr>
              <a:t>Sources: CRISIL Industry Report (Jul 2025) · BBMP Nambike Nakshe · Karnataka OC exemption (2025–26)</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BE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70F"/>
                </a:solidFill>
                <a:latin typeface="IBM Plex Mono" pitchFamily="49" charset="0"/>
                <a:ea typeface="IBM Plex Mono" pitchFamily="49" charset="-122"/>
                <a:cs typeface="IBM Plex Mono" pitchFamily="49" charset="-120"/>
              </a:rPr>
              <a:t>ONE USER, ONE MOMENT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C"/>
                </a:solidFill>
                <a:latin typeface="Oswald" pitchFamily="34" charset="0"/>
                <a:ea typeface="Oswald" pitchFamily="34" charset="-122"/>
                <a:cs typeface="Oswald" pitchFamily="34" charset="-120"/>
              </a:rPr>
              <a:t>The site engineer, the evening before the pour</a:t>
            </a:r>
            <a:endParaRPr lang="en-US" sz="3600" dirty="0"/>
          </a:p>
        </p:txBody>
      </p:sp>
      <p:sp>
        <p:nvSpPr>
          <p:cNvPr id="4" name="Shape 2"/>
          <p:cNvSpPr/>
          <p:nvPr/>
        </p:nvSpPr>
        <p:spPr>
          <a:xfrm>
            <a:off x="815975" y="1989386"/>
            <a:ext cx="3401467" cy="3290639"/>
          </a:xfrm>
          <a:prstGeom prst="roundRect">
            <a:avLst>
              <a:gd name="adj" fmla="val 3763"/>
            </a:avLst>
          </a:prstGeom>
          <a:solidFill>
            <a:srgbClr val="F8F6F2"/>
          </a:solidFill>
          <a:ln w="6350">
            <a:solidFill>
              <a:srgbClr val="D3CEC5"/>
            </a:solidFill>
            <a:prstDash val="solid"/>
          </a:ln>
        </p:spPr>
      </p:sp>
      <p:pic>
        <p:nvPicPr>
          <p:cNvPr id="5" name="Image 0" descr="Users">    </p:cNvPr>
          <p:cNvPicPr>
            <a:picLocks noChangeAspect="1"/>
          </p:cNvPicPr>
          <p:nvPr/>
        </p:nvPicPr>
        <p:blipFill>
          <a:blip r:embed="rId1"/>
          <a:srcRect l="0" r="0" t="0" b="0"/>
          <a:stretch/>
        </p:blipFill>
        <p:spPr>
          <a:xfrm>
            <a:off x="1073150" y="2246561"/>
            <a:ext cx="355600" cy="355600"/>
          </a:xfrm>
          <a:prstGeom prst="rect">
            <a:avLst/>
          </a:prstGeom>
        </p:spPr>
      </p:pic>
      <p:sp>
        <p:nvSpPr>
          <p:cNvPr id="6" name="Text 3"/>
          <p:cNvSpPr/>
          <p:nvPr/>
        </p:nvSpPr>
        <p:spPr>
          <a:xfrm>
            <a:off x="1073150" y="2729161"/>
            <a:ext cx="297373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Who holds the phone</a:t>
            </a:r>
            <a:endParaRPr lang="en-US" sz="2000" dirty="0"/>
          </a:p>
        </p:txBody>
      </p:sp>
      <p:sp>
        <p:nvSpPr>
          <p:cNvPr id="7" name="Text 4"/>
          <p:cNvSpPr/>
          <p:nvPr/>
        </p:nvSpPr>
        <p:spPr>
          <a:xfrm>
            <a:off x="1073150" y="3148261"/>
            <a:ext cx="2973730"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F55"/>
                </a:solidFill>
                <a:latin typeface="IBM Plex Sans" pitchFamily="34" charset="0"/>
                <a:ea typeface="IBM Plex Sans" pitchFamily="34" charset="-122"/>
                <a:cs typeface="IBM Plex Sans" pitchFamily="34" charset="-120"/>
              </a:rPr>
              <a:t>Whoever is already paid to check the steel: the owner's engineer, a builder's QC lead, or a brand's technical engineer.</a:t>
            </a:r>
            <a:endParaRPr lang="en-US" sz="1400" dirty="0"/>
          </a:p>
        </p:txBody>
      </p:sp>
      <p:sp>
        <p:nvSpPr>
          <p:cNvPr id="8" name="Shape 5"/>
          <p:cNvSpPr/>
          <p:nvPr/>
        </p:nvSpPr>
        <p:spPr>
          <a:xfrm>
            <a:off x="4401592" y="1989386"/>
            <a:ext cx="3401516" cy="3290639"/>
          </a:xfrm>
          <a:prstGeom prst="roundRect">
            <a:avLst>
              <a:gd name="adj" fmla="val 3763"/>
            </a:avLst>
          </a:prstGeom>
          <a:solidFill>
            <a:srgbClr val="F8F6F2"/>
          </a:solidFill>
          <a:ln w="6350">
            <a:solidFill>
              <a:srgbClr val="D3CEC5"/>
            </a:solidFill>
            <a:prstDash val="solid"/>
          </a:ln>
        </p:spPr>
      </p:sp>
      <p:pic>
        <p:nvPicPr>
          <p:cNvPr id="9" name="Image 1" descr="Warning">    </p:cNvPr>
          <p:cNvPicPr>
            <a:picLocks noChangeAspect="1"/>
          </p:cNvPicPr>
          <p:nvPr/>
        </p:nvPicPr>
        <p:blipFill>
          <a:blip r:embed="rId2"/>
          <a:srcRect l="0" r="0" t="0" b="0"/>
          <a:stretch/>
        </p:blipFill>
        <p:spPr>
          <a:xfrm>
            <a:off x="4658767" y="2246561"/>
            <a:ext cx="355600" cy="355600"/>
          </a:xfrm>
          <a:prstGeom prst="rect">
            <a:avLst/>
          </a:prstGeom>
        </p:spPr>
      </p:pic>
      <p:sp>
        <p:nvSpPr>
          <p:cNvPr id="10" name="Text 6"/>
          <p:cNvSpPr/>
          <p:nvPr/>
        </p:nvSpPr>
        <p:spPr>
          <a:xfrm>
            <a:off x="4658767" y="2729161"/>
            <a:ext cx="2973781"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Today</a:t>
            </a:r>
            <a:endParaRPr lang="en-US" sz="2000" dirty="0"/>
          </a:p>
        </p:txBody>
      </p:sp>
      <p:sp>
        <p:nvSpPr>
          <p:cNvPr id="11" name="Text 7"/>
          <p:cNvSpPr/>
          <p:nvPr/>
        </p:nvSpPr>
        <p:spPr>
          <a:xfrm>
            <a:off x="4658767" y="3148261"/>
            <a:ext cx="2973781"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F55"/>
                </a:solidFill>
                <a:latin typeface="IBM Plex Sans" pitchFamily="34" charset="0"/>
                <a:ea typeface="IBM Plex Sans" pitchFamily="34" charset="-122"/>
                <a:cs typeface="IBM Plex Sans" pitchFamily="34" charset="-120"/>
              </a:rPr>
              <a:t>A walk-round by eye, a tape on a few bars, a phone photo. No numbers against the drawing. No record.</a:t>
            </a:r>
            <a:endParaRPr lang="en-US" sz="1400" dirty="0"/>
          </a:p>
        </p:txBody>
      </p:sp>
      <p:sp>
        <p:nvSpPr>
          <p:cNvPr id="12" name="Shape 8"/>
          <p:cNvSpPr/>
          <p:nvPr/>
        </p:nvSpPr>
        <p:spPr>
          <a:xfrm>
            <a:off x="7984083" y="1986211"/>
            <a:ext cx="3395117" cy="3296989"/>
          </a:xfrm>
          <a:prstGeom prst="roundRect">
            <a:avLst>
              <a:gd name="adj" fmla="val 3852"/>
            </a:avLst>
          </a:prstGeom>
          <a:solidFill>
            <a:srgbClr val="16191C"/>
          </a:solidFill>
          <a:ln/>
        </p:spPr>
      </p:sp>
      <p:pic>
        <p:nvPicPr>
          <p:cNvPr id="13" name="Image 2" descr="CheckCircle">    </p:cNvPr>
          <p:cNvPicPr>
            <a:picLocks noChangeAspect="1"/>
          </p:cNvPicPr>
          <p:nvPr/>
        </p:nvPicPr>
        <p:blipFill>
          <a:blip r:embed="rId3"/>
          <a:srcRect l="0" r="0" t="0" b="0"/>
          <a:stretch/>
        </p:blipFill>
        <p:spPr>
          <a:xfrm>
            <a:off x="8238083" y="2240211"/>
            <a:ext cx="355600" cy="355600"/>
          </a:xfrm>
          <a:prstGeom prst="rect">
            <a:avLst/>
          </a:prstGeom>
        </p:spPr>
      </p:pic>
      <p:sp>
        <p:nvSpPr>
          <p:cNvPr id="14" name="Text 9"/>
          <p:cNvSpPr/>
          <p:nvPr/>
        </p:nvSpPr>
        <p:spPr>
          <a:xfrm>
            <a:off x="8238083" y="2722811"/>
            <a:ext cx="297373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With Sariya</a:t>
            </a:r>
            <a:endParaRPr lang="en-US" sz="2000" dirty="0"/>
          </a:p>
        </p:txBody>
      </p:sp>
      <p:sp>
        <p:nvSpPr>
          <p:cNvPr id="15" name="Text 10"/>
          <p:cNvSpPr/>
          <p:nvPr/>
        </p:nvSpPr>
        <p:spPr>
          <a:xfrm>
            <a:off x="8238083" y="3141911"/>
            <a:ext cx="2973730"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9BEC3"/>
                </a:solidFill>
                <a:latin typeface="IBM Plex Sans" pitchFamily="34" charset="0"/>
                <a:ea typeface="IBM Plex Sans" pitchFamily="34" charset="-122"/>
                <a:cs typeface="IBM Plex Sans" pitchFamily="34" charset="-120"/>
              </a:rPr>
              <a:t>Measured values with error bands, checked against the drawing. The fix spoken to the mason. A signed, dated record.</a:t>
            </a:r>
            <a:endParaRPr lang="en-US" sz="1400" dirty="0"/>
          </a:p>
        </p:txBody>
      </p:sp>
      <p:pic>
        <p:nvPicPr>
          <p:cNvPr id="16" name="Image 3" descr="Chat">    </p:cNvPr>
          <p:cNvPicPr>
            <a:picLocks noChangeAspect="1"/>
          </p:cNvPicPr>
          <p:nvPr/>
        </p:nvPicPr>
        <p:blipFill>
          <a:blip r:embed="rId4"/>
          <a:srcRect l="0" r="0" t="0" b="0"/>
          <a:stretch/>
        </p:blipFill>
        <p:spPr>
          <a:xfrm>
            <a:off x="812800" y="5537200"/>
            <a:ext cx="304800" cy="304800"/>
          </a:xfrm>
          <a:prstGeom prst="rect">
            <a:avLst/>
          </a:prstGeom>
        </p:spPr>
      </p:pic>
      <p:sp>
        <p:nvSpPr>
          <p:cNvPr id="17" name="Text 11"/>
          <p:cNvSpPr/>
          <p:nvPr/>
        </p:nvSpPr>
        <p:spPr>
          <a:xfrm>
            <a:off x="1270000" y="5556250"/>
            <a:ext cx="104124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2F34"/>
                </a:solidFill>
                <a:latin typeface="IBM Plex Sans" pitchFamily="34" charset="0"/>
                <a:ea typeface="IBM Plex Sans" pitchFamily="34" charset="-122"/>
                <a:cs typeface="IBM Plex Sans" pitchFamily="34" charset="-120"/>
              </a:rPr>
              <a:t>The mason never holds the phone. They hear the fix in their language, and the record shows what they corrected.</a:t>
            </a:r>
            <a:endParaRPr lang="en-US" sz="1500" dirty="0"/>
          </a:p>
        </p:txBody>
      </p:sp>
      <p:sp>
        <p:nvSpPr>
          <p:cNvPr id="18" name="Text 12"/>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36A"/>
                </a:solidFill>
                <a:latin typeface="IBM Plex Sans" pitchFamily="34" charset="0"/>
                <a:ea typeface="IBM Plex Sans" pitchFamily="34" charset="-122"/>
                <a:cs typeface="IBM Plex Sans" pitchFamily="34" charset="-120"/>
              </a:rPr>
              <a:t>Brands already send engineers to slab casting (JSW Cement, UltraTech), unmeasured and unrecorded</a:t>
            </a:r>
            <a:endParaRPr lang="en-US" sz="1200" dirty="0"/>
          </a:p>
        </p:txBody>
      </p:sp>
      <p:sp>
        <p:nvSpPr>
          <p:cNvPr id="19" name="Text 1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91C"/>
        </a:solidFill>
      </p:bgPr>
    </p:bg>
    <p:spTree>
      <p:nvGrpSpPr>
        <p:cNvPr id="1" name=""/>
        <p:cNvGrpSpPr/>
        <p:nvPr/>
      </p:nvGrpSpPr>
      <p:grpSpPr>
        <a:xfrm>
          <a:off x="0" y="0"/>
          <a:ext cx="0" cy="0"/>
          <a:chOff x="0" y="0"/>
          <a:chExt cx="0" cy="0"/>
        </a:xfrm>
      </p:grpSpPr>
      <p:sp>
        <p:nvSpPr>
          <p:cNvPr id="2" name="Shape 0"/>
          <p:cNvSpPr/>
          <p:nvPr/>
        </p:nvSpPr>
        <p:spPr>
          <a:xfrm>
            <a:off x="8518525" y="822325"/>
            <a:ext cx="2851150" cy="5010150"/>
          </a:xfrm>
          <a:prstGeom prst="roundRect">
            <a:avLst>
              <a:gd name="adj" fmla="val 13029"/>
            </a:avLst>
          </a:prstGeom>
          <a:solidFill>
            <a:srgbClr val="0D0F11"/>
          </a:solidFill>
          <a:ln w="19050">
            <a:solidFill>
              <a:srgbClr val="3A4047"/>
            </a:solidFill>
            <a:prstDash val="solid"/>
          </a:ln>
        </p:spPr>
      </p:sp>
      <p:sp>
        <p:nvSpPr>
          <p:cNvPr id="3" name="Text 1"/>
          <p:cNvSpPr/>
          <p:nvPr/>
        </p:nvSpPr>
        <p:spPr>
          <a:xfrm>
            <a:off x="8577136" y="1022350"/>
            <a:ext cx="273392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offline · NPU live</a:t>
            </a:r>
            <a:endParaRPr lang="en-US" sz="1200" dirty="0"/>
          </a:p>
        </p:txBody>
      </p:sp>
      <p:pic>
        <p:nvPicPr>
          <p:cNvPr id="4" name="Image 0" descr="Camera view of a beam side face: stirrups near the left end are spaced too wide, flagged in orange">    </p:cNvPr>
          <p:cNvPicPr>
            <a:picLocks noChangeAspect="1"/>
          </p:cNvPicPr>
          <p:nvPr/>
        </p:nvPicPr>
        <p:blipFill>
          <a:blip r:embed="rId1"/>
          <a:srcRect l="0" r="0" t="0" b="0"/>
          <a:stretch/>
        </p:blipFill>
        <p:spPr>
          <a:xfrm>
            <a:off x="8616950" y="1349970"/>
            <a:ext cx="2616200" cy="1524000"/>
          </a:xfrm>
          <a:prstGeom prst="rect">
            <a:avLst/>
          </a:prstGeom>
        </p:spPr>
      </p:pic>
      <p:sp>
        <p:nvSpPr>
          <p:cNvPr id="5" name="Shape 2"/>
          <p:cNvSpPr/>
          <p:nvPr/>
        </p:nvSpPr>
        <p:spPr>
          <a:xfrm>
            <a:off x="8616950" y="2988270"/>
            <a:ext cx="2654300" cy="2542580"/>
          </a:xfrm>
          <a:prstGeom prst="roundRect">
            <a:avLst>
              <a:gd name="adj" fmla="val 5994"/>
            </a:avLst>
          </a:prstGeom>
          <a:solidFill>
            <a:srgbClr val="1C2024"/>
          </a:solidFill>
          <a:ln/>
        </p:spPr>
      </p:sp>
      <p:sp>
        <p:nvSpPr>
          <p:cNvPr id="6" name="Text 3"/>
          <p:cNvSpPr/>
          <p:nvPr/>
        </p:nvSpPr>
        <p:spPr>
          <a:xfrm>
            <a:off x="8782050" y="3153370"/>
            <a:ext cx="23938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BEAM B2 · LEFT END</a:t>
            </a:r>
            <a:endParaRPr lang="en-US" sz="1200" dirty="0"/>
          </a:p>
        </p:txBody>
      </p:sp>
      <p:sp>
        <p:nvSpPr>
          <p:cNvPr id="7" name="Text 4"/>
          <p:cNvSpPr/>
          <p:nvPr/>
        </p:nvSpPr>
        <p:spPr>
          <a:xfrm>
            <a:off x="8782050" y="3486100"/>
            <a:ext cx="2393823"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3F1EC"/>
                </a:solidFill>
                <a:latin typeface="IBM Plex Mono" pitchFamily="49" charset="0"/>
                <a:ea typeface="IBM Plex Mono" pitchFamily="49" charset="-122"/>
                <a:cs typeface="IBM Plex Mono" pitchFamily="49" charset="-120"/>
              </a:rPr>
              <a:t>180 ± 7 mm</a:t>
            </a:r>
            <a:endParaRPr lang="en-US" sz="2400" dirty="0"/>
          </a:p>
        </p:txBody>
      </p:sp>
      <p:sp>
        <p:nvSpPr>
          <p:cNvPr id="8" name="Text 5"/>
          <p:cNvSpPr/>
          <p:nvPr/>
        </p:nvSpPr>
        <p:spPr>
          <a:xfrm>
            <a:off x="8782050" y="3940820"/>
            <a:ext cx="239382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9BEC3"/>
                </a:solidFill>
                <a:latin typeface="IBM Plex Sans" pitchFamily="34" charset="0"/>
                <a:ea typeface="IBM Plex Sans" pitchFamily="34" charset="-122"/>
                <a:cs typeface="IBM Plex Sans" pitchFamily="34" charset="-120"/>
              </a:rPr>
              <a:t>Drawing: 100 mm for the first 600 mm</a:t>
            </a:r>
            <a:endParaRPr lang="en-US" sz="1200" dirty="0"/>
          </a:p>
        </p:txBody>
      </p:sp>
      <p:sp>
        <p:nvSpPr>
          <p:cNvPr id="9" name="Text 6"/>
          <p:cNvSpPr/>
          <p:nvPr/>
        </p:nvSpPr>
        <p:spPr>
          <a:xfrm>
            <a:off x="8782050" y="4471690"/>
            <a:ext cx="2324100" cy="332730"/>
          </a:xfrm>
          <a:prstGeom prst="roundRect">
            <a:avLst>
              <a:gd name="adj" fmla="val 19085"/>
            </a:avLst>
          </a:prstGeom>
          <a:solidFill>
            <a:srgbClr val="E2611B"/>
          </a:solidFill>
          <a:ln/>
        </p:spPr>
        <p:txBody>
          <a:bodyPr wrap="square" lIns="83001" tIns="32201" rIns="19374" bIns="6801" rtlCol="0" anchor="t">
            <a:normAutofit/>
          </a:bodyPr>
          <a:lstStyle/>
          <a:p>
            <a:pPr algn="l" indent="0" marL="0">
              <a:lnSpc>
                <a:spcPts val="1820"/>
              </a:lnSpc>
              <a:buNone/>
            </a:pPr>
            <a:r>
              <a:rPr lang="en-US" sz="1300" b="1" dirty="0">
                <a:solidFill>
                  <a:srgbClr val="16191C"/>
                </a:solidFill>
                <a:latin typeface="IBM Plex Sans" pitchFamily="34" charset="0"/>
                <a:ea typeface="IBM Plex Sans" pitchFamily="34" charset="-122"/>
                <a:cs typeface="IBM Plex Sans" pitchFamily="34" charset="-120"/>
              </a:rPr>
              <a:t>Outside limits · add 4</a:t>
            </a:r>
            <a:endParaRPr lang="en-US" sz="1300" dirty="0"/>
          </a:p>
        </p:txBody>
      </p:sp>
      <p:sp>
        <p:nvSpPr>
          <p:cNvPr id="10" name="Text 7"/>
          <p:cNvSpPr/>
          <p:nvPr/>
        </p:nvSpPr>
        <p:spPr>
          <a:xfrm>
            <a:off x="8782050" y="4923830"/>
            <a:ext cx="239382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F1EC"/>
                </a:solidFill>
                <a:latin typeface="IBM Plex Sans" pitchFamily="34" charset="0"/>
                <a:ea typeface="IBM Plex Sans" pitchFamily="34" charset="-122"/>
                <a:cs typeface="IBM Plex Sans" pitchFamily="34" charset="-120"/>
              </a:rPr>
              <a:t>"बीम B2, बाएँ सिरे पर रिंग 180 पर हैं, ड्रॉइंग में 100। चार रिंग और डालिए।"</a:t>
            </a:r>
            <a:endParaRPr lang="en-US" sz="1200" dirty="0"/>
          </a:p>
        </p:txBody>
      </p:sp>
      <p:sp>
        <p:nvSpPr>
          <p:cNvPr id="11" name="Shape 8"/>
          <p:cNvSpPr/>
          <p:nvPr/>
        </p:nvSpPr>
        <p:spPr>
          <a:xfrm>
            <a:off x="9563100" y="5645150"/>
            <a:ext cx="762000" cy="38100"/>
          </a:xfrm>
          <a:prstGeom prst="roundRect">
            <a:avLst>
              <a:gd name="adj" fmla="val 50000"/>
            </a:avLst>
          </a:prstGeom>
          <a:solidFill>
            <a:srgbClr val="3A4047"/>
          </a:solidFill>
          <a:ln/>
        </p:spPr>
      </p:sp>
      <p:sp>
        <p:nvSpPr>
          <p:cNvPr id="12" name="Text 9"/>
          <p:cNvSpPr/>
          <p:nvPr/>
        </p:nvSpPr>
        <p:spPr>
          <a:xfrm>
            <a:off x="812800" y="812800"/>
            <a:ext cx="73253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611B"/>
                </a:solidFill>
                <a:latin typeface="IBM Plex Mono" pitchFamily="49" charset="0"/>
                <a:ea typeface="IBM Plex Mono" pitchFamily="49" charset="-122"/>
                <a:cs typeface="IBM Plex Mono" pitchFamily="49" charset="-120"/>
              </a:rPr>
              <a:t>THE PRODUCT LOOP</a:t>
            </a:r>
            <a:endParaRPr lang="en-US" sz="1200" dirty="0"/>
          </a:p>
        </p:txBody>
      </p:sp>
      <p:sp>
        <p:nvSpPr>
          <p:cNvPr id="13" name="Text 10"/>
          <p:cNvSpPr/>
          <p:nvPr>
            <p:ph type="title"/>
          </p:nvPr>
        </p:nvSpPr>
        <p:spPr>
          <a:xfrm>
            <a:off x="812800" y="1127720"/>
            <a:ext cx="732536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1EC"/>
                </a:solidFill>
                <a:latin typeface="Oswald" pitchFamily="34" charset="0"/>
                <a:ea typeface="Oswald" pitchFamily="34" charset="-122"/>
                <a:cs typeface="Oswald" pitchFamily="34" charset="-120"/>
              </a:rPr>
              <a:t>Speak. Scan. Fix. Sign.</a:t>
            </a:r>
            <a:endParaRPr lang="en-US" sz="3600" dirty="0"/>
          </a:p>
        </p:txBody>
      </p:sp>
      <p:sp>
        <p:nvSpPr>
          <p:cNvPr id="14" name="Text 11"/>
          <p:cNvSpPr/>
          <p:nvPr/>
        </p:nvSpPr>
        <p:spPr>
          <a:xfrm>
            <a:off x="812800" y="1986211"/>
            <a:ext cx="4572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39C5CF"/>
                </a:solidFill>
                <a:latin typeface="Oswald" pitchFamily="34" charset="0"/>
                <a:ea typeface="Oswald" pitchFamily="34" charset="-122"/>
                <a:cs typeface="Oswald" pitchFamily="34" charset="-120"/>
              </a:rPr>
              <a:t>1</a:t>
            </a:r>
            <a:endParaRPr lang="en-US" sz="3200" dirty="0"/>
          </a:p>
        </p:txBody>
      </p:sp>
      <p:sp>
        <p:nvSpPr>
          <p:cNvPr id="15" name="Text 12"/>
          <p:cNvSpPr/>
          <p:nvPr/>
        </p:nvSpPr>
        <p:spPr>
          <a:xfrm>
            <a:off x="1422400" y="1986211"/>
            <a:ext cx="66974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C"/>
                </a:solidFill>
                <a:latin typeface="IBM Plex Sans" pitchFamily="34" charset="0"/>
                <a:ea typeface="IBM Plex Sans" pitchFamily="34" charset="-122"/>
                <a:cs typeface="IBM Plex Sans" pitchFamily="34" charset="-120"/>
              </a:rPr>
              <a:t>Speak the drawing</a:t>
            </a:r>
            <a:endParaRPr lang="en-US" sz="1700" dirty="0"/>
          </a:p>
        </p:txBody>
      </p:sp>
      <p:sp>
        <p:nvSpPr>
          <p:cNvPr id="16" name="Text 13"/>
          <p:cNvSpPr/>
          <p:nvPr/>
        </p:nvSpPr>
        <p:spPr>
          <a:xfrm>
            <a:off x="1422400" y="2296071"/>
            <a:ext cx="66974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"Beam B2: four 12s, stirrups 8 at 100 near the ends." Gemma fills five typed fields; the engineer confirms each.</a:t>
            </a:r>
            <a:endParaRPr lang="en-US" sz="1400" dirty="0"/>
          </a:p>
        </p:txBody>
      </p:sp>
      <p:sp>
        <p:nvSpPr>
          <p:cNvPr id="17" name="Text 14"/>
          <p:cNvSpPr/>
          <p:nvPr/>
        </p:nvSpPr>
        <p:spPr>
          <a:xfrm>
            <a:off x="812800" y="3002260"/>
            <a:ext cx="4572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39C5CF"/>
                </a:solidFill>
                <a:latin typeface="Oswald" pitchFamily="34" charset="0"/>
                <a:ea typeface="Oswald" pitchFamily="34" charset="-122"/>
                <a:cs typeface="Oswald" pitchFamily="34" charset="-120"/>
              </a:rPr>
              <a:t>2</a:t>
            </a:r>
            <a:endParaRPr lang="en-US" sz="3200" dirty="0"/>
          </a:p>
        </p:txBody>
      </p:sp>
      <p:sp>
        <p:nvSpPr>
          <p:cNvPr id="18" name="Text 15"/>
          <p:cNvSpPr/>
          <p:nvPr/>
        </p:nvSpPr>
        <p:spPr>
          <a:xfrm>
            <a:off x="1422400" y="3002260"/>
            <a:ext cx="66974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C"/>
                </a:solidFill>
                <a:latin typeface="IBM Plex Sans" pitchFamily="34" charset="0"/>
                <a:ea typeface="IBM Plex Sans" pitchFamily="34" charset="-122"/>
                <a:cs typeface="IBM Plex Sans" pitchFamily="34" charset="-120"/>
              </a:rPr>
              <a:t>Lay the card, scan</a:t>
            </a:r>
            <a:endParaRPr lang="en-US" sz="1700" dirty="0"/>
          </a:p>
        </p:txBody>
      </p:sp>
      <p:sp>
        <p:nvSpPr>
          <p:cNvPr id="19" name="Text 16"/>
          <p:cNvSpPr/>
          <p:nvPr/>
        </p:nvSpPr>
        <p:spPr>
          <a:xfrm>
            <a:off x="1422400" y="3312120"/>
            <a:ext cx="66974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The printed card gives true scale. A live overlay shows which bars are measured and where to move next.</a:t>
            </a:r>
            <a:endParaRPr lang="en-US" sz="1400" dirty="0"/>
          </a:p>
        </p:txBody>
      </p:sp>
      <p:sp>
        <p:nvSpPr>
          <p:cNvPr id="20" name="Text 17"/>
          <p:cNvSpPr/>
          <p:nvPr/>
        </p:nvSpPr>
        <p:spPr>
          <a:xfrm>
            <a:off x="812800" y="4018310"/>
            <a:ext cx="4572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39C5CF"/>
                </a:solidFill>
                <a:latin typeface="Oswald" pitchFamily="34" charset="0"/>
                <a:ea typeface="Oswald" pitchFamily="34" charset="-122"/>
                <a:cs typeface="Oswald" pitchFamily="34" charset="-120"/>
              </a:rPr>
              <a:t>3</a:t>
            </a:r>
            <a:endParaRPr lang="en-US" sz="3200" dirty="0"/>
          </a:p>
        </p:txBody>
      </p:sp>
      <p:sp>
        <p:nvSpPr>
          <p:cNvPr id="21" name="Text 18"/>
          <p:cNvSpPr/>
          <p:nvPr/>
        </p:nvSpPr>
        <p:spPr>
          <a:xfrm>
            <a:off x="1422400" y="4018310"/>
            <a:ext cx="66974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C"/>
                </a:solidFill>
                <a:latin typeface="IBM Plex Sans" pitchFamily="34" charset="0"/>
                <a:ea typeface="IBM Plex Sans" pitchFamily="34" charset="-122"/>
                <a:cs typeface="IBM Plex Sans" pitchFamily="34" charset="-120"/>
              </a:rPr>
              <a:t>Read the verdict</a:t>
            </a:r>
            <a:endParaRPr lang="en-US" sz="1700" dirty="0"/>
          </a:p>
        </p:txBody>
      </p:sp>
      <p:sp>
        <p:nvSpPr>
          <p:cNvPr id="22" name="Text 19"/>
          <p:cNvSpPr/>
          <p:nvPr/>
        </p:nvSpPr>
        <p:spPr>
          <a:xfrm>
            <a:off x="1422400" y="4328170"/>
            <a:ext cx="66974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Count, spacing and stirrup zones against the drawing and IS 456, each with ± error. Too close to call: "re-scan".</a:t>
            </a:r>
            <a:endParaRPr lang="en-US" sz="1400" dirty="0"/>
          </a:p>
        </p:txBody>
      </p:sp>
      <p:sp>
        <p:nvSpPr>
          <p:cNvPr id="23" name="Text 20"/>
          <p:cNvSpPr/>
          <p:nvPr/>
        </p:nvSpPr>
        <p:spPr>
          <a:xfrm>
            <a:off x="812800" y="5034359"/>
            <a:ext cx="4572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39C5CF"/>
                </a:solidFill>
                <a:latin typeface="Oswald" pitchFamily="34" charset="0"/>
                <a:ea typeface="Oswald" pitchFamily="34" charset="-122"/>
                <a:cs typeface="Oswald" pitchFamily="34" charset="-120"/>
              </a:rPr>
              <a:t>4</a:t>
            </a:r>
            <a:endParaRPr lang="en-US" sz="3200" dirty="0"/>
          </a:p>
        </p:txBody>
      </p:sp>
      <p:sp>
        <p:nvSpPr>
          <p:cNvPr id="24" name="Text 21"/>
          <p:cNvSpPr/>
          <p:nvPr/>
        </p:nvSpPr>
        <p:spPr>
          <a:xfrm>
            <a:off x="1422400" y="5034359"/>
            <a:ext cx="66974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1EC"/>
                </a:solidFill>
                <a:latin typeface="IBM Plex Sans" pitchFamily="34" charset="0"/>
                <a:ea typeface="IBM Plex Sans" pitchFamily="34" charset="-122"/>
                <a:cs typeface="IBM Plex Sans" pitchFamily="34" charset="-120"/>
              </a:rPr>
              <a:t>Fix, then sign</a:t>
            </a:r>
            <a:endParaRPr lang="en-US" sz="1700" dirty="0"/>
          </a:p>
        </p:txBody>
      </p:sp>
      <p:sp>
        <p:nvSpPr>
          <p:cNvPr id="25" name="Text 22"/>
          <p:cNvSpPr/>
          <p:nvPr/>
        </p:nvSpPr>
        <p:spPr>
          <a:xfrm>
            <a:off x="1422400" y="5344220"/>
            <a:ext cx="66974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The fix is spoken in Hindi or Kannada with subtitles. Signed on the phone, countersigned over Office Kit.</a:t>
            </a:r>
            <a:endParaRPr lang="en-US" sz="1400" dirty="0"/>
          </a:p>
        </p:txBody>
      </p:sp>
      <p:sp>
        <p:nvSpPr>
          <p:cNvPr id="26" name="Text 23"/>
          <p:cNvSpPr/>
          <p:nvPr/>
        </p:nvSpPr>
        <p:spPr>
          <a:xfrm>
            <a:off x="812800" y="6238280"/>
            <a:ext cx="71945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8A9096"/>
                </a:solidFill>
                <a:latin typeface="IBM Plex Sans" pitchFamily="34" charset="0"/>
                <a:ea typeface="IBM Plex Sans" pitchFamily="34" charset="-122"/>
                <a:cs typeface="IBM Plex Sans" pitchFamily="34" charset="-120"/>
              </a:rPr>
              <a:t>No drawing? Measurement-only mode: values, no verdict</a:t>
            </a:r>
            <a:endParaRPr lang="en-US" sz="1200" dirty="0"/>
          </a:p>
        </p:txBody>
      </p:sp>
      <p:sp>
        <p:nvSpPr>
          <p:cNvPr id="27"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BE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70F"/>
                </a:solidFill>
                <a:latin typeface="IBM Plex Mono" pitchFamily="49" charset="0"/>
                <a:ea typeface="IBM Plex Mono" pitchFamily="49" charset="-122"/>
                <a:cs typeface="IBM Plex Mono" pitchFamily="49" charset="-120"/>
              </a:rPr>
              <a:t>HONEST BY DESIGN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C"/>
                </a:solidFill>
                <a:latin typeface="Oswald" pitchFamily="34" charset="0"/>
                <a:ea typeface="Oswald" pitchFamily="34" charset="-122"/>
                <a:cs typeface="Oswald" pitchFamily="34" charset="-120"/>
              </a:rPr>
              <a:t>It measures what it sees, and says when it can't</a:t>
            </a:r>
            <a:endParaRPr lang="en-US" sz="3600" dirty="0"/>
          </a:p>
        </p:txBody>
      </p:sp>
      <p:sp>
        <p:nvSpPr>
          <p:cNvPr id="4" name="Text 2"/>
          <p:cNvSpPr/>
          <p:nvPr/>
        </p:nvSpPr>
        <p:spPr>
          <a:xfrm>
            <a:off x="812800" y="1986211"/>
            <a:ext cx="497078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Four verdicts. Never "safe".</a:t>
            </a:r>
            <a:endParaRPr lang="en-US" sz="2000" dirty="0"/>
          </a:p>
        </p:txBody>
      </p:sp>
      <p:sp>
        <p:nvSpPr>
          <p:cNvPr id="5" name="Text 3"/>
          <p:cNvSpPr/>
          <p:nvPr/>
        </p:nvSpPr>
        <p:spPr>
          <a:xfrm>
            <a:off x="819150" y="2411661"/>
            <a:ext cx="2349500" cy="515590"/>
          </a:xfrm>
          <a:prstGeom prst="roundRect">
            <a:avLst>
              <a:gd name="adj" fmla="val 16011"/>
            </a:avLst>
          </a:prstGeom>
          <a:solidFill>
            <a:srgbClr val="F8F6F2"/>
          </a:solidFill>
          <a:ln w="12700">
            <a:solidFill>
              <a:srgbClr val="0A6E78"/>
            </a:solidFill>
            <a:prstDash val="solid"/>
          </a:ln>
        </p:spPr>
        <p:txBody>
          <a:bodyPr wrap="square" lIns="134572" tIns="109172" rIns="73612" bIns="83772" rtlCol="0" anchor="t">
            <a:normAutofit/>
          </a:bodyPr>
          <a:lstStyle/>
          <a:p>
            <a:pPr algn="l" indent="0" marL="0">
              <a:lnSpc>
                <a:spcPts val="1960"/>
              </a:lnSpc>
              <a:buNone/>
            </a:pPr>
            <a:r>
              <a:rPr lang="en-US" sz="1400" b="1" dirty="0">
                <a:solidFill>
                  <a:srgbClr val="0A6E78"/>
                </a:solidFill>
                <a:latin typeface="IBM Plex Sans" pitchFamily="34" charset="0"/>
                <a:ea typeface="IBM Plex Sans" pitchFamily="34" charset="-122"/>
                <a:cs typeface="IBM Plex Sans" pitchFamily="34" charset="-120"/>
              </a:rPr>
              <a:t>Within limits</a:t>
            </a:r>
            <a:endParaRPr lang="en-US" sz="1400" dirty="0"/>
          </a:p>
        </p:txBody>
      </p:sp>
      <p:sp>
        <p:nvSpPr>
          <p:cNvPr id="6" name="Text 4"/>
          <p:cNvSpPr/>
          <p:nvPr/>
        </p:nvSpPr>
        <p:spPr>
          <a:xfrm>
            <a:off x="3282950" y="2411661"/>
            <a:ext cx="2349500" cy="515590"/>
          </a:xfrm>
          <a:prstGeom prst="roundRect">
            <a:avLst>
              <a:gd name="adj" fmla="val 16011"/>
            </a:avLst>
          </a:prstGeom>
          <a:solidFill>
            <a:srgbClr val="F8F6F2"/>
          </a:solidFill>
          <a:ln w="12700">
            <a:solidFill>
              <a:srgbClr val="B4470F"/>
            </a:solidFill>
            <a:prstDash val="solid"/>
          </a:ln>
        </p:spPr>
        <p:txBody>
          <a:bodyPr wrap="square" lIns="134572" tIns="109172" rIns="73612" bIns="83772" rtlCol="0" anchor="t">
            <a:normAutofit/>
          </a:bodyPr>
          <a:lstStyle/>
          <a:p>
            <a:pPr algn="l" indent="0" marL="0">
              <a:lnSpc>
                <a:spcPts val="1960"/>
              </a:lnSpc>
              <a:buNone/>
            </a:pPr>
            <a:r>
              <a:rPr lang="en-US" sz="1400" b="1" dirty="0">
                <a:solidFill>
                  <a:srgbClr val="B4470F"/>
                </a:solidFill>
                <a:latin typeface="IBM Plex Sans" pitchFamily="34" charset="0"/>
                <a:ea typeface="IBM Plex Sans" pitchFamily="34" charset="-122"/>
                <a:cs typeface="IBM Plex Sans" pitchFamily="34" charset="-120"/>
              </a:rPr>
              <a:t>Outside limits</a:t>
            </a:r>
            <a:endParaRPr lang="en-US" sz="1400" dirty="0"/>
          </a:p>
        </p:txBody>
      </p:sp>
      <p:sp>
        <p:nvSpPr>
          <p:cNvPr id="7" name="Text 5"/>
          <p:cNvSpPr/>
          <p:nvPr/>
        </p:nvSpPr>
        <p:spPr>
          <a:xfrm>
            <a:off x="819150" y="3041551"/>
            <a:ext cx="2349500" cy="515590"/>
          </a:xfrm>
          <a:prstGeom prst="roundRect">
            <a:avLst>
              <a:gd name="adj" fmla="val 16011"/>
            </a:avLst>
          </a:prstGeom>
          <a:solidFill>
            <a:srgbClr val="F8F6F2"/>
          </a:solidFill>
          <a:ln w="12700">
            <a:solidFill>
              <a:srgbClr val="6B7077"/>
            </a:solidFill>
            <a:prstDash val="dash"/>
          </a:ln>
        </p:spPr>
        <p:txBody>
          <a:bodyPr wrap="square" lIns="134572" tIns="109172" rIns="73612" bIns="83772" rtlCol="0" anchor="t">
            <a:normAutofit/>
          </a:bodyPr>
          <a:lstStyle/>
          <a:p>
            <a:pPr algn="l" indent="0" marL="0">
              <a:lnSpc>
                <a:spcPts val="1960"/>
              </a:lnSpc>
              <a:buNone/>
            </a:pPr>
            <a:r>
              <a:rPr lang="en-US" sz="1400" b="1" dirty="0">
                <a:solidFill>
                  <a:srgbClr val="4A4F55"/>
                </a:solidFill>
                <a:latin typeface="IBM Plex Sans" pitchFamily="34" charset="0"/>
                <a:ea typeface="IBM Plex Sans" pitchFamily="34" charset="-122"/>
                <a:cs typeface="IBM Plex Sans" pitchFamily="34" charset="-120"/>
              </a:rPr>
              <a:t>Needs a tape reading</a:t>
            </a:r>
            <a:endParaRPr lang="en-US" sz="1400" dirty="0"/>
          </a:p>
        </p:txBody>
      </p:sp>
      <p:sp>
        <p:nvSpPr>
          <p:cNvPr id="8" name="Text 6"/>
          <p:cNvSpPr/>
          <p:nvPr/>
        </p:nvSpPr>
        <p:spPr>
          <a:xfrm>
            <a:off x="3282950" y="3041551"/>
            <a:ext cx="2349500" cy="515590"/>
          </a:xfrm>
          <a:prstGeom prst="roundRect">
            <a:avLst>
              <a:gd name="adj" fmla="val 16011"/>
            </a:avLst>
          </a:prstGeom>
          <a:solidFill>
            <a:srgbClr val="F8F6F2"/>
          </a:solidFill>
          <a:ln w="12700">
            <a:solidFill>
              <a:srgbClr val="6B7077"/>
            </a:solidFill>
            <a:prstDash val="dash"/>
          </a:ln>
        </p:spPr>
        <p:txBody>
          <a:bodyPr wrap="square" lIns="134572" tIns="109172" rIns="73612" bIns="83772" rtlCol="0" anchor="t">
            <a:normAutofit/>
          </a:bodyPr>
          <a:lstStyle/>
          <a:p>
            <a:pPr algn="l" indent="0" marL="0">
              <a:lnSpc>
                <a:spcPts val="1960"/>
              </a:lnSpc>
              <a:buNone/>
            </a:pPr>
            <a:r>
              <a:rPr lang="en-US" sz="1400" b="1" dirty="0">
                <a:solidFill>
                  <a:srgbClr val="4A4F55"/>
                </a:solidFill>
                <a:latin typeface="IBM Plex Sans" pitchFamily="34" charset="0"/>
                <a:ea typeface="IBM Plex Sans" pitchFamily="34" charset="-122"/>
                <a:cs typeface="IBM Plex Sans" pitchFamily="34" charset="-120"/>
              </a:rPr>
              <a:t>Not seen</a:t>
            </a:r>
            <a:endParaRPr lang="en-US" sz="1400" dirty="0"/>
          </a:p>
        </p:txBody>
      </p:sp>
      <p:sp>
        <p:nvSpPr>
          <p:cNvPr id="9" name="Text 7"/>
          <p:cNvSpPr/>
          <p:nvPr/>
        </p:nvSpPr>
        <p:spPr>
          <a:xfrm>
            <a:off x="812800" y="389766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THE RE-SCAN RULE</a:t>
            </a:r>
            <a:endParaRPr lang="en-US" sz="1200" dirty="0"/>
          </a:p>
        </p:txBody>
      </p:sp>
      <p:sp>
        <p:nvSpPr>
          <p:cNvPr id="10" name="Text 8"/>
          <p:cNvSpPr/>
          <p:nvPr/>
        </p:nvSpPr>
        <p:spPr>
          <a:xfrm>
            <a:off x="812800" y="4187180"/>
            <a:ext cx="49707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2F34"/>
                </a:solidFill>
                <a:latin typeface="IBM Plex Sans" pitchFamily="34" charset="0"/>
                <a:ea typeface="IBM Plex Sans" pitchFamily="34" charset="-122"/>
                <a:cs typeface="IBM Plex Sans" pitchFamily="34" charset="-120"/>
              </a:rPr>
              <a:t>If a value sits within its own error band of the limit, the phone says "re-scan" instead of guessing.</a:t>
            </a:r>
            <a:endParaRPr lang="en-US" sz="1500" dirty="0"/>
          </a:p>
        </p:txBody>
      </p:sp>
      <p:sp>
        <p:nvSpPr>
          <p:cNvPr id="11" name="Text 9"/>
          <p:cNvSpPr/>
          <p:nvPr/>
        </p:nvSpPr>
        <p:spPr>
          <a:xfrm>
            <a:off x="812800" y="5054699"/>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RESOLUTION</a:t>
            </a:r>
            <a:endParaRPr lang="en-US" sz="1200" dirty="0"/>
          </a:p>
        </p:txBody>
      </p:sp>
      <p:sp>
        <p:nvSpPr>
          <p:cNvPr id="12" name="Text 10"/>
          <p:cNvSpPr/>
          <p:nvPr/>
        </p:nvSpPr>
        <p:spPr>
          <a:xfrm>
            <a:off x="812800" y="5344220"/>
            <a:ext cx="49707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5"/>
                </a:solidFill>
                <a:latin typeface="IBM Plex Sans" pitchFamily="34" charset="0"/>
                <a:ea typeface="IBM Plex Sans" pitchFamily="34" charset="-122"/>
                <a:cs typeface="IBM Plex Sans" pitchFamily="34" charset="-120"/>
              </a:rPr>
              <a:t>About 0.19 mm per pixel at 50 cm and 0.38 mm at 1 m (main camera, 4K). Every number carries its ± band.</a:t>
            </a:r>
            <a:endParaRPr lang="en-US" sz="1400" dirty="0"/>
          </a:p>
        </p:txBody>
      </p:sp>
      <p:sp>
        <p:nvSpPr>
          <p:cNvPr id="13" name="Shape 11"/>
          <p:cNvSpPr/>
          <p:nvPr/>
        </p:nvSpPr>
        <p:spPr>
          <a:xfrm>
            <a:off x="5994400" y="1986211"/>
            <a:ext cx="5384800" cy="3855789"/>
          </a:xfrm>
          <a:prstGeom prst="roundRect">
            <a:avLst>
              <a:gd name="adj" fmla="val 3952"/>
            </a:avLst>
          </a:prstGeom>
          <a:solidFill>
            <a:srgbClr val="16191C"/>
          </a:solidFill>
          <a:ln/>
        </p:spPr>
      </p:sp>
      <p:sp>
        <p:nvSpPr>
          <p:cNvPr id="14" name="Text 12"/>
          <p:cNvSpPr/>
          <p:nvPr/>
        </p:nvSpPr>
        <p:spPr>
          <a:xfrm>
            <a:off x="6273800" y="2265611"/>
            <a:ext cx="497078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What a camera can't see, it asks for</a:t>
            </a:r>
            <a:endParaRPr lang="en-US" sz="2000" dirty="0"/>
          </a:p>
        </p:txBody>
      </p:sp>
      <p:sp>
        <p:nvSpPr>
          <p:cNvPr id="15" name="Shape 13"/>
          <p:cNvSpPr/>
          <p:nvPr/>
        </p:nvSpPr>
        <p:spPr>
          <a:xfrm>
            <a:off x="6273800" y="2724845"/>
            <a:ext cx="4826000" cy="0"/>
          </a:xfrm>
          <a:prstGeom prst="line">
            <a:avLst/>
          </a:prstGeom>
          <a:noFill/>
          <a:ln w="6350">
            <a:solidFill>
              <a:srgbClr val="3A4047"/>
            </a:solidFill>
            <a:prstDash val="solid"/>
          </a:ln>
        </p:spPr>
      </p:sp>
      <p:sp>
        <p:nvSpPr>
          <p:cNvPr id="16" name="Text 14"/>
          <p:cNvSpPr/>
          <p:nvPr/>
        </p:nvSpPr>
        <p:spPr>
          <a:xfrm>
            <a:off x="6273800" y="288042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9C5CF"/>
                </a:solidFill>
                <a:latin typeface="IBM Plex Mono" pitchFamily="49" charset="0"/>
                <a:ea typeface="IBM Plex Mono" pitchFamily="49" charset="-122"/>
                <a:cs typeface="IBM Plex Mono" pitchFamily="49" charset="-120"/>
              </a:rPr>
              <a:t>COVER</a:t>
            </a:r>
            <a:endParaRPr lang="en-US" sz="1200" dirty="0"/>
          </a:p>
        </p:txBody>
      </p:sp>
      <p:sp>
        <p:nvSpPr>
          <p:cNvPr id="17" name="Text 15"/>
          <p:cNvSpPr/>
          <p:nvPr/>
        </p:nvSpPr>
        <p:spPr>
          <a:xfrm>
            <a:off x="6273800" y="3144540"/>
            <a:ext cx="49707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A tape reading, spoken and recorded</a:t>
            </a:r>
            <a:endParaRPr lang="en-US" sz="1400" dirty="0"/>
          </a:p>
        </p:txBody>
      </p:sp>
      <p:sp>
        <p:nvSpPr>
          <p:cNvPr id="18" name="Shape 16"/>
          <p:cNvSpPr/>
          <p:nvPr/>
        </p:nvSpPr>
        <p:spPr>
          <a:xfrm>
            <a:off x="6273800" y="3560514"/>
            <a:ext cx="4826000" cy="0"/>
          </a:xfrm>
          <a:prstGeom prst="line">
            <a:avLst/>
          </a:prstGeom>
          <a:noFill/>
          <a:ln w="6350">
            <a:solidFill>
              <a:srgbClr val="3A4047"/>
            </a:solidFill>
            <a:prstDash val="solid"/>
          </a:ln>
        </p:spPr>
      </p:sp>
      <p:sp>
        <p:nvSpPr>
          <p:cNvPr id="19" name="Text 17"/>
          <p:cNvSpPr/>
          <p:nvPr/>
        </p:nvSpPr>
        <p:spPr>
          <a:xfrm>
            <a:off x="6273800" y="3716089"/>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9C5CF"/>
                </a:solidFill>
                <a:latin typeface="IBM Plex Mono" pitchFamily="49" charset="0"/>
                <a:ea typeface="IBM Plex Mono" pitchFamily="49" charset="-122"/>
                <a:cs typeface="IBM Plex Mono" pitchFamily="49" charset="-120"/>
              </a:rPr>
              <a:t>BAR DIAMETER</a:t>
            </a:r>
            <a:endParaRPr lang="en-US" sz="1200" dirty="0"/>
          </a:p>
        </p:txBody>
      </p:sp>
      <p:sp>
        <p:nvSpPr>
          <p:cNvPr id="20" name="Text 18"/>
          <p:cNvSpPr/>
          <p:nvPr/>
        </p:nvSpPr>
        <p:spPr>
          <a:xfrm>
            <a:off x="6273800" y="3980210"/>
            <a:ext cx="49707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Weigh a 1 m offcut: 10 mm = 0.617 kg, 12 mm = 0.888 kg (IS 1786). Catches underweight steel too.</a:t>
            </a:r>
            <a:endParaRPr lang="en-US" sz="1400" dirty="0"/>
          </a:p>
        </p:txBody>
      </p:sp>
      <p:sp>
        <p:nvSpPr>
          <p:cNvPr id="21" name="Shape 19"/>
          <p:cNvSpPr/>
          <p:nvPr/>
        </p:nvSpPr>
        <p:spPr>
          <a:xfrm>
            <a:off x="6273800" y="4645124"/>
            <a:ext cx="4826000" cy="0"/>
          </a:xfrm>
          <a:prstGeom prst="line">
            <a:avLst/>
          </a:prstGeom>
          <a:noFill/>
          <a:ln w="6350">
            <a:solidFill>
              <a:srgbClr val="3A4047"/>
            </a:solidFill>
            <a:prstDash val="solid"/>
          </a:ln>
        </p:spPr>
      </p:sp>
      <p:sp>
        <p:nvSpPr>
          <p:cNvPr id="22" name="Text 20"/>
          <p:cNvSpPr/>
          <p:nvPr/>
        </p:nvSpPr>
        <p:spPr>
          <a:xfrm>
            <a:off x="6273800" y="4800699"/>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9C5CF"/>
                </a:solidFill>
                <a:latin typeface="IBM Plex Mono" pitchFamily="49" charset="0"/>
                <a:ea typeface="IBM Plex Mono" pitchFamily="49" charset="-122"/>
                <a:cs typeface="IBM Plex Mono" pitchFamily="49" charset="-120"/>
              </a:rPr>
              <a:t>HOOKS</a:t>
            </a:r>
            <a:endParaRPr lang="en-US" sz="1200" dirty="0"/>
          </a:p>
        </p:txBody>
      </p:sp>
      <p:sp>
        <p:nvSpPr>
          <p:cNvPr id="23" name="Text 21"/>
          <p:cNvSpPr/>
          <p:nvPr/>
        </p:nvSpPr>
        <p:spPr>
          <a:xfrm>
            <a:off x="6273800" y="5064820"/>
            <a:ext cx="49707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A close-up against a 135° template card, only where the drawing asks</a:t>
            </a:r>
            <a:endParaRPr lang="en-US" sz="1400" dirty="0"/>
          </a:p>
        </p:txBody>
      </p:sp>
      <p:sp>
        <p:nvSpPr>
          <p:cNvPr id="24" name="Text 22"/>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36A"/>
                </a:solidFill>
                <a:latin typeface="IBM Plex Sans" pitchFamily="34" charset="0"/>
                <a:ea typeface="IBM Plex Sans" pitchFamily="34" charset="-122"/>
                <a:cs typeface="IBM Plex Sans" pitchFamily="34" charset="-120"/>
              </a:rPr>
              <a:t>Japan's MLIT guideline notes bars one size apart can't always be told apart by camera. We use the scale.</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9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611B"/>
                </a:solidFill>
                <a:latin typeface="IBM Plex Mono" pitchFamily="49" charset="0"/>
                <a:ea typeface="IBM Plex Mono" pitchFamily="49" charset="-122"/>
                <a:cs typeface="IBM Plex Mono" pitchFamily="49" charset="-120"/>
              </a:rPr>
              <a:t>TECH IMPACT · ON-DEVICE AI</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1EC"/>
                </a:solidFill>
                <a:latin typeface="Oswald" pitchFamily="34" charset="0"/>
                <a:ea typeface="Oswald" pitchFamily="34" charset="-122"/>
                <a:cs typeface="Oswald" pitchFamily="34" charset="-120"/>
              </a:rPr>
              <a:t>Every chip on the phone has a job</a:t>
            </a:r>
            <a:endParaRPr lang="en-US" sz="3600" dirty="0"/>
          </a:p>
        </p:txBody>
      </p:sp>
      <p:sp>
        <p:nvSpPr>
          <p:cNvPr id="4" name="Text 2"/>
          <p:cNvSpPr/>
          <p:nvPr/>
        </p:nvSpPr>
        <p:spPr>
          <a:xfrm>
            <a:off x="819150" y="1992561"/>
            <a:ext cx="1521470" cy="353020"/>
          </a:xfrm>
          <a:prstGeom prst="roundRect">
            <a:avLst>
              <a:gd name="adj" fmla="val 16189"/>
            </a:avLst>
          </a:prstGeom>
          <a:noFill/>
          <a:ln w="12700">
            <a:solidFill>
              <a:srgbClr val="3A4047"/>
            </a:solidFill>
            <a:prstDash val="solid"/>
          </a:ln>
        </p:spPr>
        <p:txBody>
          <a:bodyPr wrap="none" lIns="0" tIns="0" rIns="0" bIns="0" rtlCol="0" anchor="ctr">
            <a:normAutofit/>
          </a:bodyPr>
          <a:lstStyle/>
          <a:p>
            <a:pPr algn="ctr" indent="0" marL="0">
              <a:lnSpc>
                <a:spcPts val="1680"/>
              </a:lnSpc>
              <a:buNone/>
            </a:pPr>
            <a:r>
              <a:rPr lang="en-US" sz="1200" dirty="0">
                <a:solidFill>
                  <a:srgbClr val="EEEBE5"/>
                </a:solidFill>
                <a:latin typeface="IBM Plex Mono" pitchFamily="49" charset="0"/>
                <a:ea typeface="IBM Plex Mono" pitchFamily="49" charset="-122"/>
                <a:cs typeface="IBM Plex Mono" pitchFamily="49" charset="-120"/>
              </a:rPr>
              <a:t>Camera + torch</a:t>
            </a:r>
            <a:endParaRPr lang="en-US" sz="1200" dirty="0"/>
          </a:p>
        </p:txBody>
      </p:sp>
      <p:sp>
        <p:nvSpPr>
          <p:cNvPr id="5" name="Text 3"/>
          <p:cNvSpPr/>
          <p:nvPr/>
        </p:nvSpPr>
        <p:spPr>
          <a:xfrm>
            <a:off x="2435870" y="204460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2611B"/>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2708920" y="1992561"/>
            <a:ext cx="972840" cy="353020"/>
          </a:xfrm>
          <a:prstGeom prst="roundRect">
            <a:avLst>
              <a:gd name="adj" fmla="val 16189"/>
            </a:avLst>
          </a:prstGeom>
          <a:noFill/>
          <a:ln w="12700">
            <a:solidFill>
              <a:srgbClr val="39C5CF"/>
            </a:solidFill>
            <a:prstDash val="solid"/>
          </a:ln>
        </p:spPr>
        <p:txBody>
          <a:bodyPr wrap="none" lIns="0" tIns="0" rIns="0" bIns="0" rtlCol="0" anchor="ctr">
            <a:normAutofit/>
          </a:bodyPr>
          <a:lstStyle/>
          <a:p>
            <a:pPr algn="ctr" indent="0" marL="0">
              <a:lnSpc>
                <a:spcPts val="1680"/>
              </a:lnSpc>
              <a:buNone/>
            </a:pPr>
            <a:r>
              <a:rPr lang="en-US" sz="1200" dirty="0">
                <a:solidFill>
                  <a:srgbClr val="39C5CF"/>
                </a:solidFill>
                <a:latin typeface="IBM Plex Mono" pitchFamily="49" charset="0"/>
                <a:ea typeface="IBM Plex Mono" pitchFamily="49" charset="-122"/>
                <a:cs typeface="IBM Plex Mono" pitchFamily="49" charset="-120"/>
              </a:rPr>
              <a:t>NPU mask</a:t>
            </a:r>
            <a:endParaRPr lang="en-US" sz="1200" dirty="0"/>
          </a:p>
        </p:txBody>
      </p:sp>
      <p:sp>
        <p:nvSpPr>
          <p:cNvPr id="7" name="Text 5"/>
          <p:cNvSpPr/>
          <p:nvPr/>
        </p:nvSpPr>
        <p:spPr>
          <a:xfrm>
            <a:off x="3777010" y="204460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2611B"/>
                </a:solidFill>
                <a:latin typeface="IBM Plex Sans" pitchFamily="34" charset="0"/>
                <a:ea typeface="IBM Plex Sans" pitchFamily="34" charset="-122"/>
                <a:cs typeface="IBM Plex Sans" pitchFamily="34" charset="-120"/>
              </a:rPr>
              <a:t>→</a:t>
            </a:r>
            <a:endParaRPr lang="en-US" sz="1400" dirty="0"/>
          </a:p>
        </p:txBody>
      </p:sp>
      <p:sp>
        <p:nvSpPr>
          <p:cNvPr id="8" name="Text 6"/>
          <p:cNvSpPr/>
          <p:nvPr/>
        </p:nvSpPr>
        <p:spPr>
          <a:xfrm>
            <a:off x="4050060" y="1992561"/>
            <a:ext cx="1247180" cy="353020"/>
          </a:xfrm>
          <a:prstGeom prst="roundRect">
            <a:avLst>
              <a:gd name="adj" fmla="val 16189"/>
            </a:avLst>
          </a:prstGeom>
          <a:noFill/>
          <a:ln w="12700">
            <a:solidFill>
              <a:srgbClr val="3A4047"/>
            </a:solidFill>
            <a:prstDash val="solid"/>
          </a:ln>
        </p:spPr>
        <p:txBody>
          <a:bodyPr wrap="none" lIns="0" tIns="0" rIns="0" bIns="0" rtlCol="0" anchor="ctr">
            <a:normAutofit/>
          </a:bodyPr>
          <a:lstStyle/>
          <a:p>
            <a:pPr algn="ctr" indent="0" marL="0">
              <a:lnSpc>
                <a:spcPts val="1680"/>
              </a:lnSpc>
              <a:buNone/>
            </a:pPr>
            <a:r>
              <a:rPr lang="en-US" sz="1200" dirty="0">
                <a:solidFill>
                  <a:srgbClr val="EEEBE5"/>
                </a:solidFill>
                <a:latin typeface="IBM Plex Mono" pitchFamily="49" charset="0"/>
                <a:ea typeface="IBM Plex Mono" pitchFamily="49" charset="-122"/>
                <a:cs typeface="IBM Plex Mono" pitchFamily="49" charset="-120"/>
              </a:rPr>
              <a:t>Centrelines</a:t>
            </a:r>
            <a:endParaRPr lang="en-US" sz="1200" dirty="0"/>
          </a:p>
        </p:txBody>
      </p:sp>
      <p:sp>
        <p:nvSpPr>
          <p:cNvPr id="9" name="Text 7"/>
          <p:cNvSpPr/>
          <p:nvPr/>
        </p:nvSpPr>
        <p:spPr>
          <a:xfrm>
            <a:off x="5392489" y="204460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2611B"/>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5665539" y="1992561"/>
            <a:ext cx="1064320" cy="353020"/>
          </a:xfrm>
          <a:prstGeom prst="roundRect">
            <a:avLst>
              <a:gd name="adj" fmla="val 16189"/>
            </a:avLst>
          </a:prstGeom>
          <a:noFill/>
          <a:ln w="12700">
            <a:solidFill>
              <a:srgbClr val="3A4047"/>
            </a:solidFill>
            <a:prstDash val="solid"/>
          </a:ln>
        </p:spPr>
        <p:txBody>
          <a:bodyPr wrap="none" lIns="0" tIns="0" rIns="0" bIns="0" rtlCol="0" anchor="ctr">
            <a:normAutofit/>
          </a:bodyPr>
          <a:lstStyle/>
          <a:p>
            <a:pPr algn="ctr" indent="0" marL="0">
              <a:lnSpc>
                <a:spcPts val="1680"/>
              </a:lnSpc>
              <a:buNone/>
            </a:pPr>
            <a:r>
              <a:rPr lang="en-US" sz="1200" dirty="0">
                <a:solidFill>
                  <a:srgbClr val="EEEBE5"/>
                </a:solidFill>
                <a:latin typeface="IBM Plex Mono" pitchFamily="49" charset="0"/>
                <a:ea typeface="IBM Plex Mono" pitchFamily="49" charset="-122"/>
                <a:cs typeface="IBM Plex Mono" pitchFamily="49" charset="-120"/>
              </a:rPr>
              <a:t>Card → mm</a:t>
            </a:r>
            <a:endParaRPr lang="en-US" sz="1200" dirty="0"/>
          </a:p>
        </p:txBody>
      </p:sp>
      <p:sp>
        <p:nvSpPr>
          <p:cNvPr id="11" name="Text 9"/>
          <p:cNvSpPr/>
          <p:nvPr/>
        </p:nvSpPr>
        <p:spPr>
          <a:xfrm>
            <a:off x="6825109" y="204460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2611B"/>
                </a:solidFill>
                <a:latin typeface="IBM Plex Sans" pitchFamily="34" charset="0"/>
                <a:ea typeface="IBM Plex Sans" pitchFamily="34" charset="-122"/>
                <a:cs typeface="IBM Plex Sans" pitchFamily="34" charset="-120"/>
              </a:rPr>
              <a:t>→</a:t>
            </a:r>
            <a:endParaRPr lang="en-US" sz="1400" dirty="0"/>
          </a:p>
        </p:txBody>
      </p:sp>
      <p:sp>
        <p:nvSpPr>
          <p:cNvPr id="12" name="Text 10"/>
          <p:cNvSpPr/>
          <p:nvPr/>
        </p:nvSpPr>
        <p:spPr>
          <a:xfrm>
            <a:off x="7098159" y="1992561"/>
            <a:ext cx="972840" cy="353020"/>
          </a:xfrm>
          <a:prstGeom prst="roundRect">
            <a:avLst>
              <a:gd name="adj" fmla="val 16189"/>
            </a:avLst>
          </a:prstGeom>
          <a:noFill/>
          <a:ln w="12700">
            <a:solidFill>
              <a:srgbClr val="3A4047"/>
            </a:solidFill>
            <a:prstDash val="solid"/>
          </a:ln>
        </p:spPr>
        <p:txBody>
          <a:bodyPr wrap="none" lIns="0" tIns="0" rIns="0" bIns="0" rtlCol="0" anchor="ctr">
            <a:normAutofit/>
          </a:bodyPr>
          <a:lstStyle/>
          <a:p>
            <a:pPr algn="ctr" indent="0" marL="0">
              <a:lnSpc>
                <a:spcPts val="1680"/>
              </a:lnSpc>
              <a:buNone/>
            </a:pPr>
            <a:r>
              <a:rPr lang="en-US" sz="1200" dirty="0">
                <a:solidFill>
                  <a:srgbClr val="EEEBE5"/>
                </a:solidFill>
                <a:latin typeface="IBM Plex Mono" pitchFamily="49" charset="0"/>
                <a:ea typeface="IBM Plex Mono" pitchFamily="49" charset="-122"/>
                <a:cs typeface="IBM Plex Mono" pitchFamily="49" charset="-120"/>
              </a:rPr>
              <a:t>Rulebook</a:t>
            </a:r>
            <a:endParaRPr lang="en-US" sz="1200" dirty="0"/>
          </a:p>
        </p:txBody>
      </p:sp>
      <p:sp>
        <p:nvSpPr>
          <p:cNvPr id="13" name="Text 11"/>
          <p:cNvSpPr/>
          <p:nvPr/>
        </p:nvSpPr>
        <p:spPr>
          <a:xfrm>
            <a:off x="8166249" y="204460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2611B"/>
                </a:solidFill>
                <a:latin typeface="IBM Plex Sans" pitchFamily="34" charset="0"/>
                <a:ea typeface="IBM Plex Sans" pitchFamily="34" charset="-122"/>
                <a:cs typeface="IBM Plex Sans" pitchFamily="34" charset="-120"/>
              </a:rPr>
              <a:t>→</a:t>
            </a:r>
            <a:endParaRPr lang="en-US" sz="1400" dirty="0"/>
          </a:p>
        </p:txBody>
      </p:sp>
      <p:sp>
        <p:nvSpPr>
          <p:cNvPr id="14" name="Text 12"/>
          <p:cNvSpPr/>
          <p:nvPr/>
        </p:nvSpPr>
        <p:spPr>
          <a:xfrm>
            <a:off x="8439299" y="1992561"/>
            <a:ext cx="2161580" cy="353020"/>
          </a:xfrm>
          <a:prstGeom prst="roundRect">
            <a:avLst>
              <a:gd name="adj" fmla="val 16189"/>
            </a:avLst>
          </a:prstGeom>
          <a:noFill/>
          <a:ln w="12700">
            <a:solidFill>
              <a:srgbClr val="E2611B"/>
            </a:solidFill>
            <a:prstDash val="solid"/>
          </a:ln>
        </p:spPr>
        <p:txBody>
          <a:bodyPr wrap="none" lIns="0" tIns="0" rIns="0" bIns="0" rtlCol="0" anchor="ctr">
            <a:normAutofit/>
          </a:bodyPr>
          <a:lstStyle/>
          <a:p>
            <a:pPr algn="ctr" indent="0" marL="0">
              <a:lnSpc>
                <a:spcPts val="1680"/>
              </a:lnSpc>
              <a:buNone/>
            </a:pPr>
            <a:r>
              <a:rPr lang="en-US" sz="1200" dirty="0">
                <a:solidFill>
                  <a:srgbClr val="E2611B"/>
                </a:solidFill>
                <a:latin typeface="IBM Plex Mono" pitchFamily="49" charset="0"/>
                <a:ea typeface="IBM Plex Mono" pitchFamily="49" charset="-122"/>
                <a:cs typeface="IBM Plex Mono" pitchFamily="49" charset="-120"/>
              </a:rPr>
              <a:t>Voice + signed record</a:t>
            </a:r>
            <a:endParaRPr lang="en-US" sz="1200" dirty="0"/>
          </a:p>
        </p:txBody>
      </p:sp>
      <p:sp>
        <p:nvSpPr>
          <p:cNvPr id="15" name="Shape 13"/>
          <p:cNvSpPr/>
          <p:nvPr/>
        </p:nvSpPr>
        <p:spPr>
          <a:xfrm>
            <a:off x="812800" y="2605931"/>
            <a:ext cx="2527300" cy="3236069"/>
          </a:xfrm>
          <a:prstGeom prst="roundRect">
            <a:avLst>
              <a:gd name="adj" fmla="val 4020"/>
            </a:avLst>
          </a:prstGeom>
          <a:solidFill>
            <a:srgbClr val="23282D"/>
          </a:solidFill>
          <a:ln/>
        </p:spPr>
      </p:sp>
      <p:sp>
        <p:nvSpPr>
          <p:cNvPr id="16" name="Shape 14"/>
          <p:cNvSpPr/>
          <p:nvPr/>
        </p:nvSpPr>
        <p:spPr>
          <a:xfrm>
            <a:off x="812800" y="2605931"/>
            <a:ext cx="2527300" cy="3236069"/>
          </a:xfrm>
          <a:custGeom>
            <a:avLst/>
            <a:gdLst/>
            <a:ahLst/>
            <a:cxnLst/>
            <a:rect l="l" t="t" r="r" b="b"/>
            <a:pathLst>
              <a:path w="2527300" h="3236069">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39C5CF"/>
          </a:solidFill>
          <a:ln/>
        </p:spPr>
      </p:sp>
      <p:sp>
        <p:nvSpPr>
          <p:cNvPr id="17" name="Text 15"/>
          <p:cNvSpPr/>
          <p:nvPr/>
        </p:nvSpPr>
        <p:spPr>
          <a:xfrm>
            <a:off x="1016000" y="284723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9C5CF"/>
                </a:solidFill>
                <a:latin typeface="IBM Plex Mono" pitchFamily="49" charset="0"/>
                <a:ea typeface="IBM Plex Mono" pitchFamily="49" charset="-122"/>
                <a:cs typeface="IBM Plex Mono" pitchFamily="49" charset="-120"/>
              </a:rPr>
              <a:t>HEXAGON NPU</a:t>
            </a:r>
            <a:endParaRPr lang="en-US" sz="1200" dirty="0"/>
          </a:p>
        </p:txBody>
      </p:sp>
      <p:sp>
        <p:nvSpPr>
          <p:cNvPr id="18" name="Text 16"/>
          <p:cNvSpPr/>
          <p:nvPr/>
        </p:nvSpPr>
        <p:spPr>
          <a:xfrm>
            <a:off x="1016000" y="3162151"/>
            <a:ext cx="2184527"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Live rebar masks</a:t>
            </a:r>
            <a:endParaRPr lang="en-US" sz="2000" dirty="0"/>
          </a:p>
        </p:txBody>
      </p:sp>
      <p:sp>
        <p:nvSpPr>
          <p:cNvPr id="19" name="Text 17"/>
          <p:cNvSpPr/>
          <p:nvPr/>
        </p:nvSpPr>
        <p:spPr>
          <a:xfrm>
            <a:off x="1016000" y="3555851"/>
            <a:ext cx="2184527"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BEC3"/>
                </a:solidFill>
                <a:latin typeface="IBM Plex Sans" pitchFamily="34" charset="0"/>
                <a:ea typeface="IBM Plex Sans" pitchFamily="34" charset="-122"/>
                <a:cs typeface="IBM Plex Sans" pitchFamily="34" charset="-120"/>
              </a:rPr>
              <a:t>Open weights via LiteRT, fine-tuned at the event. Published for this chip: about 2 ms a frame; 17 ms end to end vs 73 ms on CPU.</a:t>
            </a:r>
            <a:endParaRPr lang="en-US" sz="1300" dirty="0"/>
          </a:p>
        </p:txBody>
      </p:sp>
      <p:sp>
        <p:nvSpPr>
          <p:cNvPr id="20" name="Shape 18"/>
          <p:cNvSpPr/>
          <p:nvPr/>
        </p:nvSpPr>
        <p:spPr>
          <a:xfrm>
            <a:off x="1016000" y="5320705"/>
            <a:ext cx="2120900" cy="0"/>
          </a:xfrm>
          <a:prstGeom prst="line">
            <a:avLst/>
          </a:prstGeom>
          <a:noFill/>
          <a:ln w="6350">
            <a:solidFill>
              <a:srgbClr val="3A4047"/>
            </a:solidFill>
            <a:prstDash val="solid"/>
          </a:ln>
        </p:spPr>
      </p:sp>
      <p:sp>
        <p:nvSpPr>
          <p:cNvPr id="21" name="Text 19"/>
          <p:cNvSpPr/>
          <p:nvPr/>
        </p:nvSpPr>
        <p:spPr>
          <a:xfrm>
            <a:off x="1016000" y="542548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LiteRT · INT8 weights</a:t>
            </a:r>
            <a:endParaRPr lang="en-US" sz="1200" dirty="0"/>
          </a:p>
        </p:txBody>
      </p:sp>
      <p:sp>
        <p:nvSpPr>
          <p:cNvPr id="22" name="Shape 20"/>
          <p:cNvSpPr/>
          <p:nvPr/>
        </p:nvSpPr>
        <p:spPr>
          <a:xfrm>
            <a:off x="3492500" y="2605931"/>
            <a:ext cx="2527300" cy="3236069"/>
          </a:xfrm>
          <a:prstGeom prst="roundRect">
            <a:avLst>
              <a:gd name="adj" fmla="val 4020"/>
            </a:avLst>
          </a:prstGeom>
          <a:solidFill>
            <a:srgbClr val="23282D"/>
          </a:solidFill>
          <a:ln/>
        </p:spPr>
      </p:sp>
      <p:sp>
        <p:nvSpPr>
          <p:cNvPr id="23" name="Shape 21"/>
          <p:cNvSpPr/>
          <p:nvPr/>
        </p:nvSpPr>
        <p:spPr>
          <a:xfrm>
            <a:off x="3492500" y="2605931"/>
            <a:ext cx="2527300" cy="3236069"/>
          </a:xfrm>
          <a:custGeom>
            <a:avLst/>
            <a:gdLst/>
            <a:ahLst/>
            <a:cxnLst/>
            <a:rect l="l" t="t" r="r" b="b"/>
            <a:pathLst>
              <a:path w="2527300" h="3236069">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E2611B"/>
          </a:solidFill>
          <a:ln/>
        </p:spPr>
      </p:sp>
      <p:sp>
        <p:nvSpPr>
          <p:cNvPr id="24" name="Text 22"/>
          <p:cNvSpPr/>
          <p:nvPr/>
        </p:nvSpPr>
        <p:spPr>
          <a:xfrm>
            <a:off x="3695700" y="284723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2611B"/>
                </a:solidFill>
                <a:latin typeface="IBM Plex Mono" pitchFamily="49" charset="0"/>
                <a:ea typeface="IBM Plex Mono" pitchFamily="49" charset="-122"/>
                <a:cs typeface="IBM Plex Mono" pitchFamily="49" charset="-120"/>
              </a:rPr>
              <a:t>ADRENO GPU</a:t>
            </a:r>
            <a:endParaRPr lang="en-US" sz="1200" dirty="0"/>
          </a:p>
        </p:txBody>
      </p:sp>
      <p:sp>
        <p:nvSpPr>
          <p:cNvPr id="25" name="Text 23"/>
          <p:cNvSpPr/>
          <p:nvPr/>
        </p:nvSpPr>
        <p:spPr>
          <a:xfrm>
            <a:off x="3695700" y="3162151"/>
            <a:ext cx="2184527"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Gemma 4 E2B</a:t>
            </a:r>
            <a:endParaRPr lang="en-US" sz="2000" dirty="0"/>
          </a:p>
        </p:txBody>
      </p:sp>
      <p:sp>
        <p:nvSpPr>
          <p:cNvPr id="26" name="Text 24"/>
          <p:cNvSpPr/>
          <p:nvPr/>
        </p:nvSpPr>
        <p:spPr>
          <a:xfrm>
            <a:off x="3695700" y="3555851"/>
            <a:ext cx="2184527"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BEC3"/>
                </a:solidFill>
                <a:latin typeface="IBM Plex Sans" pitchFamily="34" charset="0"/>
                <a:ea typeface="IBM Plex Sans" pitchFamily="34" charset="-122"/>
                <a:cs typeface="IBM Plex Sans" pitchFamily="34" charset="-120"/>
              </a:rPr>
              <a:t>Turns the spoken drawing into five typed fields, each confirmed, and words the fix. It never decides a number.</a:t>
            </a:r>
            <a:endParaRPr lang="en-US" sz="1300" dirty="0"/>
          </a:p>
        </p:txBody>
      </p:sp>
      <p:sp>
        <p:nvSpPr>
          <p:cNvPr id="27" name="Shape 25"/>
          <p:cNvSpPr/>
          <p:nvPr/>
        </p:nvSpPr>
        <p:spPr>
          <a:xfrm>
            <a:off x="3695700" y="5320705"/>
            <a:ext cx="2120900" cy="0"/>
          </a:xfrm>
          <a:prstGeom prst="line">
            <a:avLst/>
          </a:prstGeom>
          <a:noFill/>
          <a:ln w="6350">
            <a:solidFill>
              <a:srgbClr val="3A4047"/>
            </a:solidFill>
            <a:prstDash val="solid"/>
          </a:ln>
        </p:spPr>
      </p:sp>
      <p:sp>
        <p:nvSpPr>
          <p:cNvPr id="28" name="Text 26"/>
          <p:cNvSpPr/>
          <p:nvPr/>
        </p:nvSpPr>
        <p:spPr>
          <a:xfrm>
            <a:off x="3695700" y="542548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LiteRT-LM · Apache-2.0</a:t>
            </a:r>
            <a:endParaRPr lang="en-US" sz="1200" dirty="0"/>
          </a:p>
        </p:txBody>
      </p:sp>
      <p:sp>
        <p:nvSpPr>
          <p:cNvPr id="29" name="Shape 27"/>
          <p:cNvSpPr/>
          <p:nvPr/>
        </p:nvSpPr>
        <p:spPr>
          <a:xfrm>
            <a:off x="6172200" y="2605931"/>
            <a:ext cx="2527300" cy="3236069"/>
          </a:xfrm>
          <a:prstGeom prst="roundRect">
            <a:avLst>
              <a:gd name="adj" fmla="val 4020"/>
            </a:avLst>
          </a:prstGeom>
          <a:solidFill>
            <a:srgbClr val="23282D"/>
          </a:solidFill>
          <a:ln/>
        </p:spPr>
      </p:sp>
      <p:sp>
        <p:nvSpPr>
          <p:cNvPr id="30" name="Shape 28"/>
          <p:cNvSpPr/>
          <p:nvPr/>
        </p:nvSpPr>
        <p:spPr>
          <a:xfrm>
            <a:off x="6172200" y="2605931"/>
            <a:ext cx="2527300" cy="3236069"/>
          </a:xfrm>
          <a:custGeom>
            <a:avLst/>
            <a:gdLst/>
            <a:ahLst/>
            <a:cxnLst/>
            <a:rect l="l" t="t" r="r" b="b"/>
            <a:pathLst>
              <a:path w="2527300" h="3236069">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BEC3"/>
          </a:solidFill>
          <a:ln/>
        </p:spPr>
      </p:sp>
      <p:sp>
        <p:nvSpPr>
          <p:cNvPr id="31" name="Text 29"/>
          <p:cNvSpPr/>
          <p:nvPr/>
        </p:nvSpPr>
        <p:spPr>
          <a:xfrm>
            <a:off x="6375400" y="284723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C3"/>
                </a:solidFill>
                <a:latin typeface="IBM Plex Mono" pitchFamily="49" charset="0"/>
                <a:ea typeface="IBM Plex Mono" pitchFamily="49" charset="-122"/>
                <a:cs typeface="IBM Plex Mono" pitchFamily="49" charset="-120"/>
              </a:rPr>
              <a:t>CPU</a:t>
            </a:r>
            <a:endParaRPr lang="en-US" sz="1200" dirty="0"/>
          </a:p>
        </p:txBody>
      </p:sp>
      <p:sp>
        <p:nvSpPr>
          <p:cNvPr id="32" name="Text 30"/>
          <p:cNvSpPr/>
          <p:nvPr/>
        </p:nvSpPr>
        <p:spPr>
          <a:xfrm>
            <a:off x="6375400" y="3162151"/>
            <a:ext cx="2184527"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Voice and scale</a:t>
            </a:r>
            <a:endParaRPr lang="en-US" sz="2000" dirty="0"/>
          </a:p>
        </p:txBody>
      </p:sp>
      <p:sp>
        <p:nvSpPr>
          <p:cNvPr id="33" name="Text 31"/>
          <p:cNvSpPr/>
          <p:nvPr/>
        </p:nvSpPr>
        <p:spPr>
          <a:xfrm>
            <a:off x="6375400" y="3555851"/>
            <a:ext cx="2184527"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BEC3"/>
                </a:solidFill>
                <a:latin typeface="IBM Plex Sans" pitchFamily="34" charset="0"/>
                <a:ea typeface="IBM Plex Sans" pitchFamily="34" charset="-122"/>
                <a:cs typeface="IBM Plex Sans" pitchFamily="34" charset="-120"/>
              </a:rPr>
              <a:t>IndicConformer for offline Hindi and Kannada speech. OpenCV ChArUco maps pixels to millimetres.</a:t>
            </a:r>
            <a:endParaRPr lang="en-US" sz="1300" dirty="0"/>
          </a:p>
        </p:txBody>
      </p:sp>
      <p:sp>
        <p:nvSpPr>
          <p:cNvPr id="34" name="Shape 32"/>
          <p:cNvSpPr/>
          <p:nvPr/>
        </p:nvSpPr>
        <p:spPr>
          <a:xfrm>
            <a:off x="6375400" y="5320705"/>
            <a:ext cx="2120900" cy="0"/>
          </a:xfrm>
          <a:prstGeom prst="line">
            <a:avLst/>
          </a:prstGeom>
          <a:noFill/>
          <a:ln w="6350">
            <a:solidFill>
              <a:srgbClr val="3A4047"/>
            </a:solidFill>
            <a:prstDash val="solid"/>
          </a:ln>
        </p:spPr>
      </p:sp>
      <p:sp>
        <p:nvSpPr>
          <p:cNvPr id="35" name="Text 33"/>
          <p:cNvSpPr/>
          <p:nvPr/>
        </p:nvSpPr>
        <p:spPr>
          <a:xfrm>
            <a:off x="6375400" y="542548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sherpa-onnx · MIT</a:t>
            </a:r>
            <a:endParaRPr lang="en-US" sz="1200" dirty="0"/>
          </a:p>
        </p:txBody>
      </p:sp>
      <p:sp>
        <p:nvSpPr>
          <p:cNvPr id="36" name="Shape 34"/>
          <p:cNvSpPr/>
          <p:nvPr/>
        </p:nvSpPr>
        <p:spPr>
          <a:xfrm>
            <a:off x="8851900" y="2605931"/>
            <a:ext cx="2527300" cy="3236069"/>
          </a:xfrm>
          <a:prstGeom prst="roundRect">
            <a:avLst>
              <a:gd name="adj" fmla="val 4020"/>
            </a:avLst>
          </a:prstGeom>
          <a:solidFill>
            <a:srgbClr val="23282D"/>
          </a:solidFill>
          <a:ln/>
        </p:spPr>
      </p:sp>
      <p:sp>
        <p:nvSpPr>
          <p:cNvPr id="37" name="Shape 35"/>
          <p:cNvSpPr/>
          <p:nvPr/>
        </p:nvSpPr>
        <p:spPr>
          <a:xfrm>
            <a:off x="8851900" y="2605931"/>
            <a:ext cx="2527300" cy="3236069"/>
          </a:xfrm>
          <a:custGeom>
            <a:avLst/>
            <a:gdLst/>
            <a:ahLst/>
            <a:cxnLst/>
            <a:rect l="l" t="t" r="r" b="b"/>
            <a:pathLst>
              <a:path w="2527300" h="3236069">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8A9096"/>
          </a:solidFill>
          <a:ln/>
        </p:spPr>
      </p:sp>
      <p:sp>
        <p:nvSpPr>
          <p:cNvPr id="38" name="Text 36"/>
          <p:cNvSpPr/>
          <p:nvPr/>
        </p:nvSpPr>
        <p:spPr>
          <a:xfrm>
            <a:off x="9055100" y="284723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C3"/>
                </a:solidFill>
                <a:latin typeface="IBM Plex Mono" pitchFamily="49" charset="0"/>
                <a:ea typeface="IBM Plex Mono" pitchFamily="49" charset="-122"/>
                <a:cs typeface="IBM Plex Mono" pitchFamily="49" charset="-120"/>
              </a:rPr>
              <a:t>PLAIN CODE</a:t>
            </a:r>
            <a:endParaRPr lang="en-US" sz="1200" dirty="0"/>
          </a:p>
        </p:txBody>
      </p:sp>
      <p:sp>
        <p:nvSpPr>
          <p:cNvPr id="39" name="Text 37"/>
          <p:cNvSpPr/>
          <p:nvPr/>
        </p:nvSpPr>
        <p:spPr>
          <a:xfrm>
            <a:off x="9055100" y="3162151"/>
            <a:ext cx="2184527"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Auditable verdicts</a:t>
            </a:r>
            <a:endParaRPr lang="en-US" sz="2000" dirty="0"/>
          </a:p>
        </p:txBody>
      </p:sp>
      <p:sp>
        <p:nvSpPr>
          <p:cNvPr id="40" name="Text 38"/>
          <p:cNvSpPr/>
          <p:nvPr/>
        </p:nvSpPr>
        <p:spPr>
          <a:xfrm>
            <a:off x="9055100" y="3555851"/>
            <a:ext cx="2184527"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BEC3"/>
                </a:solidFill>
                <a:latin typeface="IBM Plex Sans" pitchFamily="34" charset="0"/>
                <a:ea typeface="IBM Plex Sans" pitchFamily="34" charset="-122"/>
                <a:cs typeface="IBM Plex Sans" pitchFamily="34" charset="-120"/>
              </a:rPr>
              <a:t>Error carried from pixel to mm, a versioned IS-code rulebook, records signed in the hardware keystore.</a:t>
            </a:r>
            <a:endParaRPr lang="en-US" sz="1300" dirty="0"/>
          </a:p>
        </p:txBody>
      </p:sp>
      <p:sp>
        <p:nvSpPr>
          <p:cNvPr id="41" name="Shape 39"/>
          <p:cNvSpPr/>
          <p:nvPr/>
        </p:nvSpPr>
        <p:spPr>
          <a:xfrm>
            <a:off x="9055100" y="5320705"/>
            <a:ext cx="2120900" cy="0"/>
          </a:xfrm>
          <a:prstGeom prst="line">
            <a:avLst/>
          </a:prstGeom>
          <a:noFill/>
          <a:ln w="6350">
            <a:solidFill>
              <a:srgbClr val="3A4047"/>
            </a:solidFill>
            <a:prstDash val="solid"/>
          </a:ln>
        </p:spPr>
      </p:sp>
      <p:sp>
        <p:nvSpPr>
          <p:cNvPr id="42" name="Text 40"/>
          <p:cNvSpPr/>
          <p:nvPr/>
        </p:nvSpPr>
        <p:spPr>
          <a:xfrm>
            <a:off x="9055100" y="542548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Versioned rules</a:t>
            </a:r>
            <a:endParaRPr lang="en-US" sz="1200" dirty="0"/>
          </a:p>
        </p:txBody>
      </p:sp>
      <p:sp>
        <p:nvSpPr>
          <p:cNvPr id="43" name="Text 41"/>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8A9096"/>
                </a:solidFill>
                <a:latin typeface="IBM Plex Sans" pitchFamily="34" charset="0"/>
                <a:ea typeface="IBM Plex Sans" pitchFamily="34" charset="-122"/>
                <a:cs typeface="IBM Plex Sans" pitchFamily="34" charset="-120"/>
              </a:rPr>
              <a:t>Timings: Qualcomm AI Hub, Ultralytics docs; we re-measure them on the loaner in hour 1. Nothing goes to the cloud.</a:t>
            </a:r>
            <a:endParaRPr lang="en-US" sz="1200" dirty="0"/>
          </a:p>
        </p:txBody>
      </p:sp>
      <p:sp>
        <p:nvSpPr>
          <p:cNvPr id="44" name="Text 4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BE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70F"/>
                </a:solidFill>
                <a:latin typeface="IBM Plex Mono" pitchFamily="49" charset="0"/>
                <a:ea typeface="IBM Plex Mono" pitchFamily="49" charset="-122"/>
                <a:cs typeface="IBM Plex Mono" pitchFamily="49" charset="-120"/>
              </a:rPr>
              <a:t>PHONE-FIRST FIT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C"/>
                </a:solidFill>
                <a:latin typeface="Oswald" pitchFamily="34" charset="0"/>
                <a:ea typeface="Oswald" pitchFamily="34" charset="-122"/>
                <a:cs typeface="Oswald" pitchFamily="34" charset="-120"/>
              </a:rPr>
              <a:t>On a roof slab at dusk, only a phone can do this job</a:t>
            </a:r>
            <a:endParaRPr lang="en-US" sz="3600" dirty="0"/>
          </a:p>
        </p:txBody>
      </p:sp>
      <p:sp>
        <p:nvSpPr>
          <p:cNvPr id="4" name="Shape 2"/>
          <p:cNvSpPr/>
          <p:nvPr/>
        </p:nvSpPr>
        <p:spPr>
          <a:xfrm>
            <a:off x="815975" y="1989386"/>
            <a:ext cx="1805484" cy="1858020"/>
          </a:xfrm>
          <a:prstGeom prst="roundRect">
            <a:avLst>
              <a:gd name="adj" fmla="val 6155"/>
            </a:avLst>
          </a:prstGeom>
          <a:solidFill>
            <a:srgbClr val="F8F6F2"/>
          </a:solidFill>
          <a:ln w="6350">
            <a:solidFill>
              <a:srgbClr val="D3CEC5"/>
            </a:solidFill>
            <a:prstDash val="solid"/>
          </a:ln>
        </p:spPr>
      </p:sp>
      <p:pic>
        <p:nvPicPr>
          <p:cNvPr id="5" name="Image 0" descr="Search">    </p:cNvPr>
          <p:cNvPicPr>
            <a:picLocks noChangeAspect="1"/>
          </p:cNvPicPr>
          <p:nvPr/>
        </p:nvPicPr>
        <p:blipFill>
          <a:blip r:embed="rId1"/>
          <a:srcRect l="0" r="0" t="0" b="0"/>
          <a:stretch/>
        </p:blipFill>
        <p:spPr>
          <a:xfrm>
            <a:off x="996950" y="2170361"/>
            <a:ext cx="304800" cy="304800"/>
          </a:xfrm>
          <a:prstGeom prst="rect">
            <a:avLst/>
          </a:prstGeom>
        </p:spPr>
      </p:pic>
      <p:sp>
        <p:nvSpPr>
          <p:cNvPr id="6" name="Text 3"/>
          <p:cNvSpPr/>
          <p:nvPr/>
        </p:nvSpPr>
        <p:spPr>
          <a:xfrm>
            <a:off x="996950" y="2551361"/>
            <a:ext cx="14943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CAMERA</a:t>
            </a:r>
            <a:endParaRPr lang="en-US" sz="1200" dirty="0"/>
          </a:p>
        </p:txBody>
      </p:sp>
      <p:sp>
        <p:nvSpPr>
          <p:cNvPr id="7" name="Text 4"/>
          <p:cNvSpPr/>
          <p:nvPr/>
        </p:nvSpPr>
        <p:spPr>
          <a:xfrm>
            <a:off x="996950" y="2840881"/>
            <a:ext cx="14943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2F34"/>
                </a:solidFill>
                <a:latin typeface="IBM Plex Sans" pitchFamily="34" charset="0"/>
                <a:ea typeface="IBM Plex Sans" pitchFamily="34" charset="-122"/>
                <a:cs typeface="IBM Plex Sans" pitchFamily="34" charset="-120"/>
              </a:rPr>
              <a:t>The measuring instrument</a:t>
            </a:r>
            <a:endParaRPr lang="en-US" sz="1400" dirty="0"/>
          </a:p>
        </p:txBody>
      </p:sp>
      <p:sp>
        <p:nvSpPr>
          <p:cNvPr id="8" name="Shape 5"/>
          <p:cNvSpPr/>
          <p:nvPr/>
        </p:nvSpPr>
        <p:spPr>
          <a:xfrm>
            <a:off x="2754809" y="1989386"/>
            <a:ext cx="1805533" cy="1858020"/>
          </a:xfrm>
          <a:prstGeom prst="roundRect">
            <a:avLst>
              <a:gd name="adj" fmla="val 6155"/>
            </a:avLst>
          </a:prstGeom>
          <a:solidFill>
            <a:srgbClr val="F8F6F2"/>
          </a:solidFill>
          <a:ln w="6350">
            <a:solidFill>
              <a:srgbClr val="D3CEC5"/>
            </a:solidFill>
            <a:prstDash val="solid"/>
          </a:ln>
        </p:spPr>
      </p:sp>
      <p:pic>
        <p:nvPicPr>
          <p:cNvPr id="9" name="Image 1" descr="Lightbulb">    </p:cNvPr>
          <p:cNvPicPr>
            <a:picLocks noChangeAspect="1"/>
          </p:cNvPicPr>
          <p:nvPr/>
        </p:nvPicPr>
        <p:blipFill>
          <a:blip r:embed="rId2"/>
          <a:srcRect l="0" r="0" t="0" b="0"/>
          <a:stretch/>
        </p:blipFill>
        <p:spPr>
          <a:xfrm>
            <a:off x="2935784" y="2170361"/>
            <a:ext cx="304800" cy="304800"/>
          </a:xfrm>
          <a:prstGeom prst="rect">
            <a:avLst/>
          </a:prstGeom>
        </p:spPr>
      </p:pic>
      <p:sp>
        <p:nvSpPr>
          <p:cNvPr id="10" name="Text 6"/>
          <p:cNvSpPr/>
          <p:nvPr/>
        </p:nvSpPr>
        <p:spPr>
          <a:xfrm>
            <a:off x="2935784" y="2551361"/>
            <a:ext cx="1494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TORCH</a:t>
            </a:r>
            <a:endParaRPr lang="en-US" sz="1200" dirty="0"/>
          </a:p>
        </p:txBody>
      </p:sp>
      <p:sp>
        <p:nvSpPr>
          <p:cNvPr id="11" name="Text 7"/>
          <p:cNvSpPr/>
          <p:nvPr/>
        </p:nvSpPr>
        <p:spPr>
          <a:xfrm>
            <a:off x="2935784" y="2840881"/>
            <a:ext cx="149438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2F34"/>
                </a:solidFill>
                <a:latin typeface="IBM Plex Sans" pitchFamily="34" charset="0"/>
                <a:ea typeface="IBM Plex Sans" pitchFamily="34" charset="-122"/>
                <a:cs typeface="IBM Plex Sans" pitchFamily="34" charset="-120"/>
              </a:rPr>
              <a:t>Even light on dull steel</a:t>
            </a:r>
            <a:endParaRPr lang="en-US" sz="1400" dirty="0"/>
          </a:p>
        </p:txBody>
      </p:sp>
      <p:sp>
        <p:nvSpPr>
          <p:cNvPr id="12" name="Shape 8"/>
          <p:cNvSpPr/>
          <p:nvPr/>
        </p:nvSpPr>
        <p:spPr>
          <a:xfrm>
            <a:off x="4693692" y="1989386"/>
            <a:ext cx="1805533" cy="1858020"/>
          </a:xfrm>
          <a:prstGeom prst="roundRect">
            <a:avLst>
              <a:gd name="adj" fmla="val 6155"/>
            </a:avLst>
          </a:prstGeom>
          <a:solidFill>
            <a:srgbClr val="F8F6F2"/>
          </a:solidFill>
          <a:ln w="6350">
            <a:solidFill>
              <a:srgbClr val="D3CEC5"/>
            </a:solidFill>
            <a:prstDash val="solid"/>
          </a:ln>
        </p:spPr>
      </p:sp>
      <p:pic>
        <p:nvPicPr>
          <p:cNvPr id="13" name="Image 2" descr="Activity">    </p:cNvPr>
          <p:cNvPicPr>
            <a:picLocks noChangeAspect="1"/>
          </p:cNvPicPr>
          <p:nvPr/>
        </p:nvPicPr>
        <p:blipFill>
          <a:blip r:embed="rId3"/>
          <a:srcRect l="0" r="0" t="0" b="0"/>
          <a:stretch/>
        </p:blipFill>
        <p:spPr>
          <a:xfrm>
            <a:off x="4874667" y="2170361"/>
            <a:ext cx="304800" cy="304800"/>
          </a:xfrm>
          <a:prstGeom prst="rect">
            <a:avLst/>
          </a:prstGeom>
        </p:spPr>
      </p:pic>
      <p:sp>
        <p:nvSpPr>
          <p:cNvPr id="14" name="Text 9"/>
          <p:cNvSpPr/>
          <p:nvPr/>
        </p:nvSpPr>
        <p:spPr>
          <a:xfrm>
            <a:off x="4874667" y="2551361"/>
            <a:ext cx="1494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GYRO</a:t>
            </a:r>
            <a:endParaRPr lang="en-US" sz="1200" dirty="0"/>
          </a:p>
        </p:txBody>
      </p:sp>
      <p:sp>
        <p:nvSpPr>
          <p:cNvPr id="15" name="Text 10"/>
          <p:cNvSpPr/>
          <p:nvPr/>
        </p:nvSpPr>
        <p:spPr>
          <a:xfrm>
            <a:off x="4874667" y="2840881"/>
            <a:ext cx="149438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2F34"/>
                </a:solidFill>
                <a:latin typeface="IBM Plex Sans" pitchFamily="34" charset="0"/>
                <a:ea typeface="IBM Plex Sans" pitchFamily="34" charset="-122"/>
                <a:cs typeface="IBM Plex Sans" pitchFamily="34" charset="-120"/>
              </a:rPr>
              <a:t>Picks the sharpest frames</a:t>
            </a:r>
            <a:endParaRPr lang="en-US" sz="1400" dirty="0"/>
          </a:p>
        </p:txBody>
      </p:sp>
      <p:sp>
        <p:nvSpPr>
          <p:cNvPr id="16" name="Shape 11"/>
          <p:cNvSpPr/>
          <p:nvPr/>
        </p:nvSpPr>
        <p:spPr>
          <a:xfrm>
            <a:off x="815975" y="3980755"/>
            <a:ext cx="1805484" cy="1858070"/>
          </a:xfrm>
          <a:prstGeom prst="roundRect">
            <a:avLst>
              <a:gd name="adj" fmla="val 6155"/>
            </a:avLst>
          </a:prstGeom>
          <a:solidFill>
            <a:srgbClr val="F8F6F2"/>
          </a:solidFill>
          <a:ln w="6350">
            <a:solidFill>
              <a:srgbClr val="D3CEC5"/>
            </a:solidFill>
            <a:prstDash val="solid"/>
          </a:ln>
        </p:spPr>
      </p:sp>
      <p:pic>
        <p:nvPicPr>
          <p:cNvPr id="17" name="Image 3" descr="Chat">    </p:cNvPr>
          <p:cNvPicPr>
            <a:picLocks noChangeAspect="1"/>
          </p:cNvPicPr>
          <p:nvPr/>
        </p:nvPicPr>
        <p:blipFill>
          <a:blip r:embed="rId4"/>
          <a:srcRect l="0" r="0" t="0" b="0"/>
          <a:stretch/>
        </p:blipFill>
        <p:spPr>
          <a:xfrm>
            <a:off x="996950" y="4161730"/>
            <a:ext cx="304800" cy="304800"/>
          </a:xfrm>
          <a:prstGeom prst="rect">
            <a:avLst/>
          </a:prstGeom>
        </p:spPr>
      </p:pic>
      <p:sp>
        <p:nvSpPr>
          <p:cNvPr id="18" name="Text 12"/>
          <p:cNvSpPr/>
          <p:nvPr/>
        </p:nvSpPr>
        <p:spPr>
          <a:xfrm>
            <a:off x="996950" y="4542730"/>
            <a:ext cx="14943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MIC</a:t>
            </a:r>
            <a:endParaRPr lang="en-US" sz="1200" dirty="0"/>
          </a:p>
        </p:txBody>
      </p:sp>
      <p:sp>
        <p:nvSpPr>
          <p:cNvPr id="19" name="Text 13"/>
          <p:cNvSpPr/>
          <p:nvPr/>
        </p:nvSpPr>
        <p:spPr>
          <a:xfrm>
            <a:off x="996950" y="4832251"/>
            <a:ext cx="14943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2F34"/>
                </a:solidFill>
                <a:latin typeface="IBM Plex Sans" pitchFamily="34" charset="0"/>
                <a:ea typeface="IBM Plex Sans" pitchFamily="34" charset="-122"/>
                <a:cs typeface="IBM Plex Sans" pitchFamily="34" charset="-120"/>
              </a:rPr>
              <a:t>Drawing numbers and tape readings</a:t>
            </a:r>
            <a:endParaRPr lang="en-US" sz="1400" dirty="0"/>
          </a:p>
        </p:txBody>
      </p:sp>
      <p:sp>
        <p:nvSpPr>
          <p:cNvPr id="20" name="Shape 14"/>
          <p:cNvSpPr/>
          <p:nvPr/>
        </p:nvSpPr>
        <p:spPr>
          <a:xfrm>
            <a:off x="2754809" y="3980755"/>
            <a:ext cx="1805533" cy="1858070"/>
          </a:xfrm>
          <a:prstGeom prst="roundRect">
            <a:avLst>
              <a:gd name="adj" fmla="val 6155"/>
            </a:avLst>
          </a:prstGeom>
          <a:solidFill>
            <a:srgbClr val="F8F6F2"/>
          </a:solidFill>
          <a:ln w="6350">
            <a:solidFill>
              <a:srgbClr val="D3CEC5"/>
            </a:solidFill>
            <a:prstDash val="solid"/>
          </a:ln>
        </p:spPr>
      </p:sp>
      <p:pic>
        <p:nvPicPr>
          <p:cNvPr id="21" name="Image 4" descr="Users">    </p:cNvPr>
          <p:cNvPicPr>
            <a:picLocks noChangeAspect="1"/>
          </p:cNvPicPr>
          <p:nvPr/>
        </p:nvPicPr>
        <p:blipFill>
          <a:blip r:embed="rId5"/>
          <a:srcRect l="0" r="0" t="0" b="0"/>
          <a:stretch/>
        </p:blipFill>
        <p:spPr>
          <a:xfrm>
            <a:off x="2935784" y="4161730"/>
            <a:ext cx="304800" cy="304800"/>
          </a:xfrm>
          <a:prstGeom prst="rect">
            <a:avLst/>
          </a:prstGeom>
        </p:spPr>
      </p:pic>
      <p:sp>
        <p:nvSpPr>
          <p:cNvPr id="22" name="Text 15"/>
          <p:cNvSpPr/>
          <p:nvPr/>
        </p:nvSpPr>
        <p:spPr>
          <a:xfrm>
            <a:off x="2935784" y="4542730"/>
            <a:ext cx="1494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SPEAKER</a:t>
            </a:r>
            <a:endParaRPr lang="en-US" sz="1200" dirty="0"/>
          </a:p>
        </p:txBody>
      </p:sp>
      <p:sp>
        <p:nvSpPr>
          <p:cNvPr id="23" name="Text 16"/>
          <p:cNvSpPr/>
          <p:nvPr/>
        </p:nvSpPr>
        <p:spPr>
          <a:xfrm>
            <a:off x="2935784" y="4832251"/>
            <a:ext cx="149438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2F34"/>
                </a:solidFill>
                <a:latin typeface="IBM Plex Sans" pitchFamily="34" charset="0"/>
                <a:ea typeface="IBM Plex Sans" pitchFamily="34" charset="-122"/>
                <a:cs typeface="IBM Plex Sans" pitchFamily="34" charset="-120"/>
              </a:rPr>
              <a:t>Speaks the fix to the mason</a:t>
            </a:r>
            <a:endParaRPr lang="en-US" sz="1400" dirty="0"/>
          </a:p>
        </p:txBody>
      </p:sp>
      <p:sp>
        <p:nvSpPr>
          <p:cNvPr id="24" name="Shape 17"/>
          <p:cNvSpPr/>
          <p:nvPr/>
        </p:nvSpPr>
        <p:spPr>
          <a:xfrm>
            <a:off x="4693692" y="3980755"/>
            <a:ext cx="1805533" cy="1858070"/>
          </a:xfrm>
          <a:prstGeom prst="roundRect">
            <a:avLst>
              <a:gd name="adj" fmla="val 6155"/>
            </a:avLst>
          </a:prstGeom>
          <a:solidFill>
            <a:srgbClr val="F8F6F2"/>
          </a:solidFill>
          <a:ln w="6350">
            <a:solidFill>
              <a:srgbClr val="D3CEC5"/>
            </a:solidFill>
            <a:prstDash val="solid"/>
          </a:ln>
        </p:spPr>
      </p:sp>
      <p:pic>
        <p:nvPicPr>
          <p:cNvPr id="25" name="Image 5" descr="Key">    </p:cNvPr>
          <p:cNvPicPr>
            <a:picLocks noChangeAspect="1"/>
          </p:cNvPicPr>
          <p:nvPr/>
        </p:nvPicPr>
        <p:blipFill>
          <a:blip r:embed="rId6"/>
          <a:srcRect l="0" r="0" t="0" b="0"/>
          <a:stretch/>
        </p:blipFill>
        <p:spPr>
          <a:xfrm>
            <a:off x="4874667" y="4161730"/>
            <a:ext cx="304800" cy="304800"/>
          </a:xfrm>
          <a:prstGeom prst="rect">
            <a:avLst/>
          </a:prstGeom>
        </p:spPr>
      </p:pic>
      <p:sp>
        <p:nvSpPr>
          <p:cNvPr id="26" name="Text 18"/>
          <p:cNvSpPr/>
          <p:nvPr/>
        </p:nvSpPr>
        <p:spPr>
          <a:xfrm>
            <a:off x="4874667" y="4542730"/>
            <a:ext cx="1494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KEYSTORE</a:t>
            </a:r>
            <a:endParaRPr lang="en-US" sz="1200" dirty="0"/>
          </a:p>
        </p:txBody>
      </p:sp>
      <p:sp>
        <p:nvSpPr>
          <p:cNvPr id="27" name="Text 19"/>
          <p:cNvSpPr/>
          <p:nvPr/>
        </p:nvSpPr>
        <p:spPr>
          <a:xfrm>
            <a:off x="4874667" y="4832251"/>
            <a:ext cx="149438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2F34"/>
                </a:solidFill>
                <a:latin typeface="IBM Plex Sans" pitchFamily="34" charset="0"/>
                <a:ea typeface="IBM Plex Sans" pitchFamily="34" charset="-122"/>
                <a:cs typeface="IBM Plex Sans" pitchFamily="34" charset="-120"/>
              </a:rPr>
              <a:t>Hardware-backed signing</a:t>
            </a:r>
            <a:endParaRPr lang="en-US" sz="1400" dirty="0"/>
          </a:p>
        </p:txBody>
      </p:sp>
      <p:sp>
        <p:nvSpPr>
          <p:cNvPr id="28" name="Shape 20"/>
          <p:cNvSpPr/>
          <p:nvPr/>
        </p:nvSpPr>
        <p:spPr>
          <a:xfrm>
            <a:off x="6756400" y="1986211"/>
            <a:ext cx="4622800" cy="3855789"/>
          </a:xfrm>
          <a:prstGeom prst="roundRect">
            <a:avLst>
              <a:gd name="adj" fmla="val 3952"/>
            </a:avLst>
          </a:prstGeom>
          <a:solidFill>
            <a:srgbClr val="16191C"/>
          </a:solidFill>
          <a:ln/>
        </p:spPr>
      </p:sp>
      <p:sp>
        <p:nvSpPr>
          <p:cNvPr id="29" name="Text 21"/>
          <p:cNvSpPr/>
          <p:nvPr/>
        </p:nvSpPr>
        <p:spPr>
          <a:xfrm>
            <a:off x="7035800" y="226561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9C5CF"/>
                </a:solidFill>
                <a:latin typeface="IBM Plex Mono" pitchFamily="49" charset="0"/>
                <a:ea typeface="IBM Plex Mono" pitchFamily="49" charset="-122"/>
                <a:cs typeface="IBM Plex Mono" pitchFamily="49" charset="-120"/>
              </a:rPr>
              <a:t>OFFICE KIT, BOTH WAYS</a:t>
            </a:r>
            <a:endParaRPr lang="en-US" sz="1200" dirty="0"/>
          </a:p>
        </p:txBody>
      </p:sp>
      <p:sp>
        <p:nvSpPr>
          <p:cNvPr id="30" name="Text 22"/>
          <p:cNvSpPr/>
          <p:nvPr/>
        </p:nvSpPr>
        <p:spPr>
          <a:xfrm>
            <a:off x="7035800" y="2810470"/>
            <a:ext cx="418592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Laptop → phone</a:t>
            </a:r>
            <a:endParaRPr lang="en-US" sz="2000" dirty="0"/>
          </a:p>
        </p:txBody>
      </p:sp>
      <p:sp>
        <p:nvSpPr>
          <p:cNvPr id="31" name="Text 23"/>
          <p:cNvSpPr/>
          <p:nvPr/>
        </p:nvSpPr>
        <p:spPr>
          <a:xfrm>
            <a:off x="7035800" y="3153370"/>
            <a:ext cx="418592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Bar schedule and drawing numbers</a:t>
            </a:r>
            <a:endParaRPr lang="en-US" sz="1400" dirty="0"/>
          </a:p>
        </p:txBody>
      </p:sp>
      <p:sp>
        <p:nvSpPr>
          <p:cNvPr id="32" name="Text 24"/>
          <p:cNvSpPr/>
          <p:nvPr/>
        </p:nvSpPr>
        <p:spPr>
          <a:xfrm>
            <a:off x="7035800" y="3733850"/>
            <a:ext cx="418592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Phone → laptop</a:t>
            </a:r>
            <a:endParaRPr lang="en-US" sz="2000" dirty="0"/>
          </a:p>
        </p:txBody>
      </p:sp>
      <p:sp>
        <p:nvSpPr>
          <p:cNvPr id="33" name="Text 25"/>
          <p:cNvSpPr/>
          <p:nvPr/>
        </p:nvSpPr>
        <p:spPr>
          <a:xfrm>
            <a:off x="7035800" y="4076750"/>
            <a:ext cx="418592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Signed scans to review, a re-scan request, the countersign</a:t>
            </a:r>
            <a:endParaRPr lang="en-US" sz="1400" dirty="0"/>
          </a:p>
        </p:txBody>
      </p:sp>
      <p:sp>
        <p:nvSpPr>
          <p:cNvPr id="34" name="Shape 26"/>
          <p:cNvSpPr/>
          <p:nvPr/>
        </p:nvSpPr>
        <p:spPr>
          <a:xfrm>
            <a:off x="7035800" y="4909245"/>
            <a:ext cx="4064000" cy="0"/>
          </a:xfrm>
          <a:prstGeom prst="line">
            <a:avLst/>
          </a:prstGeom>
          <a:noFill/>
          <a:ln w="6350">
            <a:solidFill>
              <a:srgbClr val="3A4047"/>
            </a:solidFill>
            <a:prstDash val="solid"/>
          </a:ln>
        </p:spPr>
      </p:sp>
      <p:sp>
        <p:nvSpPr>
          <p:cNvPr id="35" name="Text 27"/>
          <p:cNvSpPr/>
          <p:nvPr/>
        </p:nvSpPr>
        <p:spPr>
          <a:xfrm>
            <a:off x="7035800" y="5064820"/>
            <a:ext cx="418592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C"/>
                </a:solidFill>
                <a:latin typeface="IBM Plex Sans" pitchFamily="34" charset="0"/>
                <a:ea typeface="IBM Plex Sans" pitchFamily="34" charset="-122"/>
                <a:cs typeface="IBM Plex Sans" pitchFamily="34" charset="-120"/>
              </a:rPr>
              <a:t>Offline by need:</a:t>
            </a:r>
            <a:r>
              <a:rPr lang="en-US" sz="1400" dirty="0">
                <a:solidFill>
                  <a:srgbClr val="B9BEC3"/>
                </a:solidFill>
                <a:latin typeface="IBM Plex Sans" pitchFamily="34" charset="0"/>
                <a:ea typeface="IBM Plex Sans" pitchFamily="34" charset="-122"/>
                <a:cs typeface="IBM Plex Sans" pitchFamily="34" charset="-120"/>
              </a:rPr>
              <a:t> sites are often out of signal, and faces and home locations never leave the phone.</a:t>
            </a:r>
            <a:endParaRPr lang="en-US" sz="1400" dirty="0"/>
          </a:p>
        </p:txBody>
      </p:sp>
      <p:sp>
        <p:nvSpPr>
          <p:cNvPr id="36" name="Text 28"/>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36A"/>
                </a:solidFill>
                <a:latin typeface="IBM Plex Sans" pitchFamily="34" charset="0"/>
                <a:ea typeface="IBM Plex Sans" pitchFamily="34" charset="-122"/>
                <a:cs typeface="IBM Plex Sans" pitchFamily="34" charset="-120"/>
              </a:rPr>
              <a:t>Phone-only hours at the event: we scan our props again and again to grow the error table</a:t>
            </a:r>
            <a:endParaRPr lang="en-US" sz="1200" dirty="0"/>
          </a:p>
        </p:txBody>
      </p:sp>
      <p:sp>
        <p:nvSpPr>
          <p:cNvPr id="37" name="Text 2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9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611B"/>
                </a:solidFill>
                <a:latin typeface="IBM Plex Mono" pitchFamily="49" charset="0"/>
                <a:ea typeface="IBM Plex Mono" pitchFamily="49" charset="-122"/>
                <a:cs typeface="IBM Plex Mono" pitchFamily="49" charset="-120"/>
              </a:rPr>
              <a:t>NOVELTY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1EC"/>
                </a:solidFill>
                <a:latin typeface="Oswald" pitchFamily="34" charset="0"/>
                <a:ea typeface="Oswald" pitchFamily="34" charset="-122"/>
                <a:cs typeface="Oswald" pitchFamily="34" charset="-120"/>
              </a:rPr>
              <a:t>Japan proved it. India's self-built pour has no tool.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8911"/>
          <a:ext cx="10553700" cy="2476500"/>
        </p:xfrm>
        <a:graphic>
          <a:graphicData uri="http://schemas.openxmlformats.org/drawingml/2006/table">
            <a:tbl>
              <a:tblPr/>
              <a:tblGrid>
                <a:gridCol w="3377184"/>
                <a:gridCol w="1794129"/>
                <a:gridCol w="1794129"/>
                <a:gridCol w="1794129"/>
                <a:gridCol w="1794129"/>
              </a:tblGrid>
              <a:tr h="412750">
                <a:tc>
                  <a:txBody>
                    <a:bodyPr/>
                    <a:lstStyle/>
                    <a:p>
                      <a:pPr indent="0" marL="0">
                        <a:lnSpc>
                          <a:spcPts val="2100"/>
                        </a:lnSpc>
                        <a:buNone/>
                      </a:pPr>
                      <a:r>
                        <a:rPr lang="en-US" sz="1500" b="1" dirty="0">
                          <a:solidFill>
                            <a:srgbClr val="F3F1EC"/>
                          </a:solidFill>
                          <a:latin typeface="IBM Plex Sans" pitchFamily="34" charset="0"/>
                          <a:ea typeface="IBM Plex Sans" pitchFamily="34" charset="-122"/>
                          <a:cs typeface="IBM Plex Sans" pitchFamily="34" charset="-120"/>
                        </a:rPr>
                        <a:t>Who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525659"/>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525659"/>
                      </a:solidFill>
                      <a:prstDash val="solid"/>
                      <a:round/>
                      <a:headEnd type="none" w="med" len="med"/>
                      <a:tailEnd type="none" w="med" len="med"/>
                    </a:lnB>
                    <a:solidFill>
                      <a:srgbClr val="23282D"/>
                    </a:solidFill>
                  </a:tcPr>
                </a:tc>
                <a:tc>
                  <a:txBody>
                    <a:bodyPr/>
                    <a:lstStyle/>
                    <a:p>
                      <a:pPr indent="0" marL="0">
                        <a:lnSpc>
                          <a:spcPts val="2100"/>
                        </a:lnSpc>
                        <a:buNone/>
                      </a:pPr>
                      <a:r>
                        <a:rPr lang="en-US" sz="1500" b="1" dirty="0">
                          <a:solidFill>
                            <a:srgbClr val="F3F1EC"/>
                          </a:solidFill>
                          <a:latin typeface="IBM Plex Sans" pitchFamily="34" charset="0"/>
                          <a:ea typeface="IBM Plex Sans" pitchFamily="34" charset="-122"/>
                          <a:cs typeface="IBM Plex Sans" pitchFamily="34" charset="-120"/>
                        </a:rPr>
                        <a:t>Measures steel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25659"/>
                      </a:solidFill>
                      <a:prstDash val="solid"/>
                      <a:round/>
                      <a:headEnd type="none" w="med" len="med"/>
                      <a:tailEnd type="none" w="med" len="med"/>
                    </a:lnL>
                    <a:lnR w="12700" cap="flat" cmpd="sng" algn="ctr">
                      <a:solidFill>
                        <a:srgbClr val="525659"/>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525659"/>
                      </a:solidFill>
                      <a:prstDash val="solid"/>
                      <a:round/>
                      <a:headEnd type="none" w="med" len="med"/>
                      <a:tailEnd type="none" w="med" len="med"/>
                    </a:lnB>
                    <a:solidFill>
                      <a:srgbClr val="23282D"/>
                    </a:solidFill>
                  </a:tcPr>
                </a:tc>
                <a:tc>
                  <a:txBody>
                    <a:bodyPr/>
                    <a:lstStyle/>
                    <a:p>
                      <a:pPr indent="0" marL="0">
                        <a:lnSpc>
                          <a:spcPts val="2100"/>
                        </a:lnSpc>
                        <a:buNone/>
                      </a:pPr>
                      <a:r>
                        <a:rPr lang="en-US" sz="1500" b="1" dirty="0">
                          <a:solidFill>
                            <a:srgbClr val="F3F1EC"/>
                          </a:solidFill>
                          <a:latin typeface="IBM Plex Sans" pitchFamily="34" charset="0"/>
                          <a:ea typeface="IBM Plex Sans" pitchFamily="34" charset="-122"/>
                          <a:cs typeface="IBM Plex Sans" pitchFamily="34" charset="-120"/>
                        </a:rPr>
                        <a:t>Before pour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25659"/>
                      </a:solidFill>
                      <a:prstDash val="solid"/>
                      <a:round/>
                      <a:headEnd type="none" w="med" len="med"/>
                      <a:tailEnd type="none" w="med" len="med"/>
                    </a:lnL>
                    <a:lnR w="12700" cap="flat" cmpd="sng" algn="ctr">
                      <a:solidFill>
                        <a:srgbClr val="525659"/>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525659"/>
                      </a:solidFill>
                      <a:prstDash val="solid"/>
                      <a:round/>
                      <a:headEnd type="none" w="med" len="med"/>
                      <a:tailEnd type="none" w="med" len="med"/>
                    </a:lnB>
                    <a:solidFill>
                      <a:srgbClr val="23282D"/>
                    </a:solidFill>
                  </a:tcPr>
                </a:tc>
                <a:tc>
                  <a:txBody>
                    <a:bodyPr/>
                    <a:lstStyle/>
                    <a:p>
                      <a:pPr indent="0" marL="0">
                        <a:lnSpc>
                          <a:spcPts val="2100"/>
                        </a:lnSpc>
                        <a:buNone/>
                      </a:pPr>
                      <a:r>
                        <a:rPr lang="en-US" sz="1500" b="1" dirty="0">
                          <a:solidFill>
                            <a:srgbClr val="F3F1EC"/>
                          </a:solidFill>
                          <a:latin typeface="IBM Plex Sans" pitchFamily="34" charset="0"/>
                          <a:ea typeface="IBM Plex Sans" pitchFamily="34" charset="-122"/>
                          <a:cs typeface="IBM Plex Sans" pitchFamily="34" charset="-120"/>
                        </a:rPr>
                        <a:t>Phone, offline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25659"/>
                      </a:solidFill>
                      <a:prstDash val="solid"/>
                      <a:round/>
                      <a:headEnd type="none" w="med" len="med"/>
                      <a:tailEnd type="none" w="med" len="med"/>
                    </a:lnL>
                    <a:lnR w="12700" cap="flat" cmpd="sng" algn="ctr">
                      <a:solidFill>
                        <a:srgbClr val="525659"/>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525659"/>
                      </a:solidFill>
                      <a:prstDash val="solid"/>
                      <a:round/>
                      <a:headEnd type="none" w="med" len="med"/>
                      <a:tailEnd type="none" w="med" len="med"/>
                    </a:lnB>
                    <a:solidFill>
                      <a:srgbClr val="23282D"/>
                    </a:solidFill>
                  </a:tcPr>
                </a:tc>
                <a:tc>
                  <a:txBody>
                    <a:bodyPr/>
                    <a:lstStyle/>
                    <a:p>
                      <a:pPr indent="0" marL="0">
                        <a:lnSpc>
                          <a:spcPts val="2100"/>
                        </a:lnSpc>
                        <a:buNone/>
                      </a:pPr>
                      <a:r>
                        <a:rPr lang="en-US" sz="1500" b="1" dirty="0">
                          <a:solidFill>
                            <a:srgbClr val="F3F1EC"/>
                          </a:solidFill>
                          <a:latin typeface="IBM Plex Sans" pitchFamily="34" charset="0"/>
                          <a:ea typeface="IBM Plex Sans" pitchFamily="34" charset="-122"/>
                          <a:cs typeface="IBM Plex Sans" pitchFamily="34" charset="-120"/>
                        </a:rPr>
                        <a:t>Built for India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25659"/>
                      </a:solidFill>
                      <a:prstDash val="solid"/>
                      <a:round/>
                      <a:headEnd type="none" w="med" len="med"/>
                      <a:tailEnd type="none" w="med" len="med"/>
                    </a:lnL>
                    <a:lnR w="12700" cap="flat" cmpd="sng" algn="ctr">
                      <a:solidFill>
                        <a:srgbClr val="525659"/>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525659"/>
                      </a:solidFill>
                      <a:prstDash val="solid"/>
                      <a:round/>
                      <a:headEnd type="none" w="med" len="med"/>
                      <a:tailEnd type="none" w="med" len="med"/>
                    </a:lnB>
                    <a:solidFill>
                      <a:srgbClr val="23282D"/>
                    </a:solidFill>
                  </a:tcPr>
                </a:tc>
              </a:tr>
              <a:tr h="412750">
                <a:tc>
                  <a:txBody>
                    <a:bodyPr/>
                    <a:lstStyle/>
                    <a:p>
                      <a:pPr indent="0" marL="0">
                        <a:lnSpc>
                          <a:spcPts val="2100"/>
                        </a:lnSpc>
                        <a:buNone/>
                      </a:pPr>
                      <a:r>
                        <a:rPr lang="en-US" sz="1500" dirty="0">
                          <a:solidFill>
                            <a:srgbClr val="EEEBE5"/>
                          </a:solidFill>
                          <a:latin typeface="IBM Plex Sans" pitchFamily="34" charset="0"/>
                          <a:ea typeface="IBM Plex Sans" pitchFamily="34" charset="-122"/>
                          <a:cs typeface="IBM Plex Sans" pitchFamily="34" charset="-120"/>
                        </a:rPr>
                        <a:t>Japan: AIJO, IHI, Kentem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525659"/>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39C5CF"/>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525659"/>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39C5CF"/>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525659"/>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8A9096"/>
                          </a:solidFill>
                          <a:latin typeface="IBM Plex Sans" pitchFamily="34" charset="0"/>
                          <a:ea typeface="IBM Plex Sans" pitchFamily="34" charset="-122"/>
                          <a:cs typeface="IBM Plex Sans" pitchFamily="34" charset="-120"/>
                        </a:rPr>
                        <a:t>Tablet or rig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525659"/>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8A9096"/>
                          </a:solidFill>
                          <a:latin typeface="IBM Plex Sans" pitchFamily="34" charset="0"/>
                          <a:ea typeface="IBM Plex Sans" pitchFamily="34" charset="-122"/>
                          <a:cs typeface="IBM Plex Sans" pitchFamily="34" charset="-120"/>
                        </a:rPr>
                        <a:t>No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525659"/>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r>
              <a:tr h="412750">
                <a:tc>
                  <a:txBody>
                    <a:bodyPr/>
                    <a:lstStyle/>
                    <a:p>
                      <a:pPr indent="0" marL="0">
                        <a:lnSpc>
                          <a:spcPts val="2100"/>
                        </a:lnSpc>
                        <a:buNone/>
                      </a:pPr>
                      <a:r>
                        <a:rPr lang="en-US" sz="1500" dirty="0">
                          <a:solidFill>
                            <a:srgbClr val="EEEBE5"/>
                          </a:solidFill>
                          <a:latin typeface="IBM Plex Sans" pitchFamily="34" charset="0"/>
                          <a:ea typeface="IBM Plex Sans" pitchFamily="34" charset="-122"/>
                          <a:cs typeface="IBM Plex Sans" pitchFamily="34" charset="-120"/>
                        </a:rPr>
                        <a:t>Indian site-QC apps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8A9096"/>
                          </a:solidFill>
                          <a:latin typeface="IBM Plex Sans" pitchFamily="34" charset="0"/>
                          <a:ea typeface="IBM Plex Sans" pitchFamily="34" charset="-122"/>
                          <a:cs typeface="IBM Plex Sans" pitchFamily="34" charset="-120"/>
                        </a:rPr>
                        <a:t>Photos only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39C5CF"/>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39C5CF"/>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39C5CF"/>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r>
              <a:tr h="412750">
                <a:tc>
                  <a:txBody>
                    <a:bodyPr/>
                    <a:lstStyle/>
                    <a:p>
                      <a:pPr indent="0" marL="0">
                        <a:lnSpc>
                          <a:spcPts val="2100"/>
                        </a:lnSpc>
                        <a:buNone/>
                      </a:pPr>
                      <a:r>
                        <a:rPr lang="en-US" sz="1500" dirty="0">
                          <a:solidFill>
                            <a:srgbClr val="EEEBE5"/>
                          </a:solidFill>
                          <a:latin typeface="IBM Plex Sans" pitchFamily="34" charset="0"/>
                          <a:ea typeface="IBM Plex Sans" pitchFamily="34" charset="-122"/>
                          <a:cs typeface="IBM Plex Sans" pitchFamily="34" charset="-120"/>
                        </a:rPr>
                        <a:t>Brand site engineers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8A9096"/>
                          </a:solidFill>
                          <a:latin typeface="IBM Plex Sans" pitchFamily="34" charset="0"/>
                          <a:ea typeface="IBM Plex Sans" pitchFamily="34" charset="-122"/>
                          <a:cs typeface="IBM Plex Sans" pitchFamily="34" charset="-120"/>
                        </a:rPr>
                        <a:t>By eye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39C5CF"/>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8A9096"/>
                          </a:solidFill>
                          <a:latin typeface="IBM Plex Sans" pitchFamily="34" charset="0"/>
                          <a:ea typeface="IBM Plex Sans" pitchFamily="34" charset="-122"/>
                          <a:cs typeface="IBM Plex Sans" pitchFamily="34" charset="-120"/>
                        </a:rPr>
                        <a:t>Human visit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39C5CF"/>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r>
              <a:tr h="412750">
                <a:tc>
                  <a:txBody>
                    <a:bodyPr/>
                    <a:lstStyle/>
                    <a:p>
                      <a:pPr indent="0" marL="0">
                        <a:lnSpc>
                          <a:spcPts val="2100"/>
                        </a:lnSpc>
                        <a:buNone/>
                      </a:pPr>
                      <a:r>
                        <a:rPr lang="en-US" sz="1500" dirty="0">
                          <a:solidFill>
                            <a:srgbClr val="EEEBE5"/>
                          </a:solidFill>
                          <a:latin typeface="IBM Plex Sans" pitchFamily="34" charset="0"/>
                          <a:ea typeface="IBM Plex Sans" pitchFamily="34" charset="-122"/>
                          <a:cs typeface="IBM Plex Sans" pitchFamily="34" charset="-120"/>
                        </a:rPr>
                        <a:t>Cover meters (Profometer)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39C5CF"/>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8A9096"/>
                          </a:solidFill>
                          <a:latin typeface="IBM Plex Sans" pitchFamily="34" charset="0"/>
                          <a:ea typeface="IBM Plex Sans" pitchFamily="34" charset="-122"/>
                          <a:cs typeface="IBM Plex Sans" pitchFamily="34" charset="-120"/>
                        </a:rPr>
                        <a:t>After pour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8A9096"/>
                          </a:solidFill>
                          <a:latin typeface="IBM Plex Sans" pitchFamily="34" charset="0"/>
                          <a:ea typeface="IBM Plex Sans" pitchFamily="34" charset="-122"/>
                          <a:cs typeface="IBM Plex Sans" pitchFamily="34" charset="-120"/>
                        </a:rPr>
                        <a:t>Extra hardware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c>
                  <a:txBody>
                    <a:bodyPr/>
                    <a:lstStyle/>
                    <a:p>
                      <a:pPr indent="0" marL="0">
                        <a:lnSpc>
                          <a:spcPts val="2100"/>
                        </a:lnSpc>
                        <a:buNone/>
                      </a:pPr>
                      <a:r>
                        <a:rPr lang="en-US" sz="1500" dirty="0">
                          <a:solidFill>
                            <a:srgbClr val="8A9096"/>
                          </a:solidFill>
                          <a:latin typeface="IBM Plex Sans" pitchFamily="34" charset="0"/>
                          <a:ea typeface="IBM Plex Sans" pitchFamily="34" charset="-122"/>
                          <a:cs typeface="IBM Plex Sans" pitchFamily="34" charset="-120"/>
                        </a:rPr>
                        <a:t>Partly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484A4C"/>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484A4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191C"/>
                          </a:solidFill>
                          <a:latin typeface="IBM Plex Sans" pitchFamily="34" charset="0"/>
                          <a:ea typeface="IBM Plex Sans" pitchFamily="34" charset="-122"/>
                          <a:cs typeface="IBM Plex Sans" pitchFamily="34" charset="-120"/>
                        </a:rPr>
                        <a:t>Sariya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84A4C"/>
                      </a:solidFill>
                      <a:prstDash val="solid"/>
                      <a:round/>
                      <a:headEnd type="none" w="med" len="med"/>
                      <a:tailEnd type="none" w="med" len="med"/>
                    </a:lnL>
                    <a:lnR w="12700" cap="flat" cmpd="sng" algn="ctr">
                      <a:solidFill>
                        <a:srgbClr val="E7824B"/>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E7824B"/>
                      </a:solidFill>
                      <a:prstDash val="solid"/>
                      <a:round/>
                      <a:headEnd type="none" w="med" len="med"/>
                      <a:tailEnd type="none" w="med" len="med"/>
                    </a:lnB>
                    <a:solidFill>
                      <a:srgbClr val="E2611B"/>
                    </a:solidFill>
                  </a:tcPr>
                </a:tc>
                <a:tc>
                  <a:txBody>
                    <a:bodyPr/>
                    <a:lstStyle/>
                    <a:p>
                      <a:pPr indent="0" marL="0">
                        <a:lnSpc>
                          <a:spcPts val="2100"/>
                        </a:lnSpc>
                        <a:buNone/>
                      </a:pPr>
                      <a:r>
                        <a:rPr lang="en-US" sz="1500" dirty="0">
                          <a:solidFill>
                            <a:srgbClr val="16191C"/>
                          </a:solidFill>
                          <a:latin typeface="IBM Plex Sans" pitchFamily="34" charset="0"/>
                          <a:ea typeface="IBM Plex Sans" pitchFamily="34" charset="-122"/>
                          <a:cs typeface="IBM Plex Sans" pitchFamily="34" charset="-120"/>
                        </a:rPr>
                        <a:t>Yes, ± band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E7824B"/>
                      </a:solidFill>
                      <a:prstDash val="solid"/>
                      <a:round/>
                      <a:headEnd type="none" w="med" len="med"/>
                      <a:tailEnd type="none" w="med" len="med"/>
                    </a:lnL>
                    <a:lnR w="12700" cap="flat" cmpd="sng" algn="ctr">
                      <a:solidFill>
                        <a:srgbClr val="E7824B"/>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E7824B"/>
                      </a:solidFill>
                      <a:prstDash val="solid"/>
                      <a:round/>
                      <a:headEnd type="none" w="med" len="med"/>
                      <a:tailEnd type="none" w="med" len="med"/>
                    </a:lnB>
                    <a:solidFill>
                      <a:srgbClr val="E2611B"/>
                    </a:solidFill>
                  </a:tcPr>
                </a:tc>
                <a:tc>
                  <a:txBody>
                    <a:bodyPr/>
                    <a:lstStyle/>
                    <a:p>
                      <a:pPr indent="0" marL="0">
                        <a:lnSpc>
                          <a:spcPts val="2100"/>
                        </a:lnSpc>
                        <a:buNone/>
                      </a:pPr>
                      <a:r>
                        <a:rPr lang="en-US" sz="1500" dirty="0">
                          <a:solidFill>
                            <a:srgbClr val="16191C"/>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E7824B"/>
                      </a:solidFill>
                      <a:prstDash val="solid"/>
                      <a:round/>
                      <a:headEnd type="none" w="med" len="med"/>
                      <a:tailEnd type="none" w="med" len="med"/>
                    </a:lnL>
                    <a:lnR w="12700" cap="flat" cmpd="sng" algn="ctr">
                      <a:solidFill>
                        <a:srgbClr val="E7824B"/>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E7824B"/>
                      </a:solidFill>
                      <a:prstDash val="solid"/>
                      <a:round/>
                      <a:headEnd type="none" w="med" len="med"/>
                      <a:tailEnd type="none" w="med" len="med"/>
                    </a:lnB>
                    <a:solidFill>
                      <a:srgbClr val="E2611B"/>
                    </a:solidFill>
                  </a:tcPr>
                </a:tc>
                <a:tc>
                  <a:txBody>
                    <a:bodyPr/>
                    <a:lstStyle/>
                    <a:p>
                      <a:pPr indent="0" marL="0">
                        <a:lnSpc>
                          <a:spcPts val="2100"/>
                        </a:lnSpc>
                        <a:buNone/>
                      </a:pPr>
                      <a:r>
                        <a:rPr lang="en-US" sz="1500" dirty="0">
                          <a:solidFill>
                            <a:srgbClr val="16191C"/>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E7824B"/>
                      </a:solidFill>
                      <a:prstDash val="solid"/>
                      <a:round/>
                      <a:headEnd type="none" w="med" len="med"/>
                      <a:tailEnd type="none" w="med" len="med"/>
                    </a:lnL>
                    <a:lnR w="12700" cap="flat" cmpd="sng" algn="ctr">
                      <a:solidFill>
                        <a:srgbClr val="E7824B"/>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E7824B"/>
                      </a:solidFill>
                      <a:prstDash val="solid"/>
                      <a:round/>
                      <a:headEnd type="none" w="med" len="med"/>
                      <a:tailEnd type="none" w="med" len="med"/>
                    </a:lnB>
                    <a:solidFill>
                      <a:srgbClr val="E2611B"/>
                    </a:solidFill>
                  </a:tcPr>
                </a:tc>
                <a:tc>
                  <a:txBody>
                    <a:bodyPr/>
                    <a:lstStyle/>
                    <a:p>
                      <a:pPr indent="0" marL="0">
                        <a:lnSpc>
                          <a:spcPts val="2100"/>
                        </a:lnSpc>
                        <a:buNone/>
                      </a:pPr>
                      <a:r>
                        <a:rPr lang="en-US" sz="1500" dirty="0">
                          <a:solidFill>
                            <a:srgbClr val="16191C"/>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E7824B"/>
                      </a:solidFill>
                      <a:prstDash val="solid"/>
                      <a:round/>
                      <a:headEnd type="none" w="med" len="med"/>
                      <a:tailEnd type="none" w="med" len="med"/>
                    </a:lnL>
                    <a:lnR w="12700" cap="flat" cmpd="sng" algn="ctr">
                      <a:solidFill>
                        <a:srgbClr val="E7824B"/>
                      </a:solidFill>
                      <a:prstDash val="solid"/>
                      <a:round/>
                      <a:headEnd type="none" w="med" len="med"/>
                      <a:tailEnd type="none" w="med" len="med"/>
                    </a:lnR>
                    <a:lnT w="12700" cap="flat" cmpd="sng" algn="ctr">
                      <a:solidFill>
                        <a:srgbClr val="484A4C"/>
                      </a:solidFill>
                      <a:prstDash val="solid"/>
                      <a:round/>
                      <a:headEnd type="none" w="med" len="med"/>
                      <a:tailEnd type="none" w="med" len="med"/>
                    </a:lnT>
                    <a:lnB w="12700" cap="flat" cmpd="sng" algn="ctr">
                      <a:solidFill>
                        <a:srgbClr val="E7824B"/>
                      </a:solidFill>
                      <a:prstDash val="solid"/>
                      <a:round/>
                      <a:headEnd type="none" w="med" len="med"/>
                      <a:tailEnd type="none" w="med" len="med"/>
                    </a:lnB>
                    <a:solidFill>
                      <a:srgbClr val="E2611B"/>
                    </a:solidFill>
                  </a:tcPr>
                </a:tc>
              </a:tr>
            </a:tbl>
          </a:graphicData>
        </a:graphic>
      </p:graphicFrame>
      <p:sp>
        <p:nvSpPr>
          <p:cNvPr id="5" name="Text 2"/>
          <p:cNvSpPr/>
          <p:nvPr/>
        </p:nvSpPr>
        <p:spPr>
          <a:xfrm>
            <a:off x="812800" y="5038725"/>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9C5CF"/>
                </a:solidFill>
                <a:latin typeface="IBM Plex Mono" pitchFamily="49" charset="0"/>
                <a:ea typeface="IBM Plex Mono" pitchFamily="49" charset="-122"/>
                <a:cs typeface="IBM Plex Mono" pitchFamily="49" charset="-120"/>
              </a:rPr>
              <a:t>WHAT IS NEW</a:t>
            </a:r>
            <a:endParaRPr lang="en-US" sz="1200" dirty="0"/>
          </a:p>
        </p:txBody>
      </p:sp>
      <p:sp>
        <p:nvSpPr>
          <p:cNvPr id="6" name="Text 3"/>
          <p:cNvSpPr/>
          <p:nvPr/>
        </p:nvSpPr>
        <p:spPr>
          <a:xfrm>
            <a:off x="2768600" y="5013325"/>
            <a:ext cx="8868918"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9BEC3"/>
                </a:solidFill>
                <a:latin typeface="IBM Plex Sans" pitchFamily="34" charset="0"/>
                <a:ea typeface="IBM Plex Sans" pitchFamily="34" charset="-122"/>
                <a:cs typeface="IBM Plex Sans" pitchFamily="34" charset="-120"/>
              </a:rPr>
              <a:t>Japan's MLIT has accepted camera rebar measurement at the pre-pour check since July 2023 (±5 mm guide on spacing). We bring it to </a:t>
            </a:r>
            <a:r>
              <a:rPr lang="en-US" sz="1500" b="1" dirty="0">
                <a:solidFill>
                  <a:srgbClr val="F3F1EC"/>
                </a:solidFill>
                <a:latin typeface="IBM Plex Sans" pitchFamily="34" charset="0"/>
                <a:ea typeface="IBM Plex Sans" pitchFamily="34" charset="-122"/>
                <a:cs typeface="IBM Plex Sans" pitchFamily="34" charset="-120"/>
              </a:rPr>
              <a:t>one phone, offline, with IS-code rules, Hindi and Kannada, and a "re-scan" when unsure.</a:t>
            </a:r>
            <a:endParaRPr lang="en-US" sz="1500" dirty="0"/>
          </a:p>
        </p:txBody>
      </p:sp>
      <p:sp>
        <p:nvSpPr>
          <p:cNvPr id="7" name="Text 4"/>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8A9096"/>
                </a:solidFill>
                <a:latin typeface="IBM Plex Sans" pitchFamily="34" charset="0"/>
                <a:ea typeface="IBM Plex Sans" pitchFamily="34" charset="-122"/>
                <a:cs typeface="IBM Plex Sans" pitchFamily="34" charset="-120"/>
              </a:rPr>
              <a:t>Source: MLIT implementation guideline (draft), Jul 2023 · Our search found no Indian phone tool for placed steel</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BE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70F"/>
                </a:solidFill>
                <a:latin typeface="IBM Plex Mono" pitchFamily="49" charset="0"/>
                <a:ea typeface="IBM Plex Mono" pitchFamily="49" charset="-122"/>
                <a:cs typeface="IBM Plex Mono" pitchFamily="49" charset="-120"/>
              </a:rPr>
              <a:t>SCOPE FIT · ALL CODE AT THE EVENT · WE SHIPPED ON THIS IQOO 15 AT CHENNAI</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C"/>
                </a:solidFill>
                <a:latin typeface="Oswald" pitchFamily="34" charset="0"/>
                <a:ea typeface="Oswald" pitchFamily="34" charset="-122"/>
                <a:cs typeface="Oswald" pitchFamily="34" charset="-120"/>
              </a:rPr>
              <a:t>Full loop working by hour 30. Hours 30–48 harden it.</a:t>
            </a:r>
            <a:endParaRPr lang="en-US" sz="3600" dirty="0"/>
          </a:p>
        </p:txBody>
      </p:sp>
      <p:sp>
        <p:nvSpPr>
          <p:cNvPr id="4" name="Text 2"/>
          <p:cNvSpPr/>
          <p:nvPr/>
        </p:nvSpPr>
        <p:spPr>
          <a:xfrm>
            <a:off x="812800" y="198879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36A"/>
                </a:solidFill>
                <a:latin typeface="IBM Plex Mono" pitchFamily="49" charset="0"/>
                <a:ea typeface="IBM Plex Mono" pitchFamily="49" charset="-122"/>
                <a:cs typeface="IBM Plex Mono" pitchFamily="49" charset="-120"/>
              </a:rPr>
              <a:t>BUILD</a:t>
            </a:r>
            <a:endParaRPr lang="en-US" sz="1200" dirty="0"/>
          </a:p>
        </p:txBody>
      </p:sp>
      <p:sp>
        <p:nvSpPr>
          <p:cNvPr id="5" name="Text 3"/>
          <p:cNvSpPr/>
          <p:nvPr/>
        </p:nvSpPr>
        <p:spPr>
          <a:xfrm>
            <a:off x="4572000" y="1986211"/>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0h</a:t>
            </a:r>
            <a:endParaRPr lang="en-US" sz="1200" dirty="0"/>
          </a:p>
        </p:txBody>
      </p:sp>
      <p:sp>
        <p:nvSpPr>
          <p:cNvPr id="6" name="Text 4"/>
          <p:cNvSpPr/>
          <p:nvPr/>
        </p:nvSpPr>
        <p:spPr>
          <a:xfrm>
            <a:off x="5372100" y="1986211"/>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12</a:t>
            </a:r>
            <a:endParaRPr lang="en-US" sz="1200" dirty="0"/>
          </a:p>
        </p:txBody>
      </p:sp>
      <p:sp>
        <p:nvSpPr>
          <p:cNvPr id="7" name="Text 5"/>
          <p:cNvSpPr/>
          <p:nvPr/>
        </p:nvSpPr>
        <p:spPr>
          <a:xfrm>
            <a:off x="6388100" y="1986211"/>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24</a:t>
            </a:r>
            <a:endParaRPr lang="en-US" sz="1200" dirty="0"/>
          </a:p>
        </p:txBody>
      </p:sp>
      <p:sp>
        <p:nvSpPr>
          <p:cNvPr id="8" name="Text 6"/>
          <p:cNvSpPr/>
          <p:nvPr/>
        </p:nvSpPr>
        <p:spPr>
          <a:xfrm>
            <a:off x="6896100" y="1986211"/>
            <a:ext cx="431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30</a:t>
            </a:r>
            <a:endParaRPr lang="en-US" sz="1200" dirty="0"/>
          </a:p>
        </p:txBody>
      </p:sp>
      <p:sp>
        <p:nvSpPr>
          <p:cNvPr id="9" name="Text 7"/>
          <p:cNvSpPr/>
          <p:nvPr/>
        </p:nvSpPr>
        <p:spPr>
          <a:xfrm>
            <a:off x="8077200" y="1986211"/>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48h</a:t>
            </a:r>
            <a:endParaRPr lang="en-US" sz="1200" dirty="0"/>
          </a:p>
        </p:txBody>
      </p:sp>
      <p:sp>
        <p:nvSpPr>
          <p:cNvPr id="10" name="Text 8"/>
          <p:cNvSpPr/>
          <p:nvPr/>
        </p:nvSpPr>
        <p:spPr>
          <a:xfrm>
            <a:off x="8839200" y="1988790"/>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36A"/>
                </a:solidFill>
                <a:latin typeface="IBM Plex Mono" pitchFamily="49" charset="0"/>
                <a:ea typeface="IBM Plex Mono" pitchFamily="49" charset="-122"/>
                <a:cs typeface="IBM Plex Mono" pitchFamily="49" charset="-120"/>
              </a:rPr>
              <a:t>IF IT BREAKS</a:t>
            </a:r>
            <a:endParaRPr lang="en-US" sz="1200" dirty="0"/>
          </a:p>
        </p:txBody>
      </p:sp>
      <p:sp>
        <p:nvSpPr>
          <p:cNvPr id="11" name="Shape 9"/>
          <p:cNvSpPr/>
          <p:nvPr/>
        </p:nvSpPr>
        <p:spPr>
          <a:xfrm>
            <a:off x="812800" y="2300536"/>
            <a:ext cx="10566400" cy="0"/>
          </a:xfrm>
          <a:prstGeom prst="line">
            <a:avLst/>
          </a:prstGeom>
          <a:noFill/>
          <a:ln w="19050">
            <a:solidFill>
              <a:srgbClr val="16191C"/>
            </a:solidFill>
            <a:prstDash val="solid"/>
          </a:ln>
        </p:spPr>
      </p:sp>
      <p:sp>
        <p:nvSpPr>
          <p:cNvPr id="12" name="Text 10"/>
          <p:cNvSpPr/>
          <p:nvPr/>
        </p:nvSpPr>
        <p:spPr>
          <a:xfrm>
            <a:off x="812800" y="2545110"/>
            <a:ext cx="366268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F34"/>
                </a:solidFill>
                <a:latin typeface="IBM Plex Sans" pitchFamily="34" charset="0"/>
                <a:ea typeface="IBM Plex Sans" pitchFamily="34" charset="-122"/>
                <a:cs typeface="IBM Plex Sans" pitchFamily="34" charset="-120"/>
              </a:rPr>
              <a:t>Probe the loaner: NPU, camera, voices</a:t>
            </a:r>
            <a:endParaRPr lang="en-US" sz="1400" dirty="0"/>
          </a:p>
        </p:txBody>
      </p:sp>
      <p:sp>
        <p:nvSpPr>
          <p:cNvPr id="13" name="Shape 11"/>
          <p:cNvSpPr/>
          <p:nvPr/>
        </p:nvSpPr>
        <p:spPr>
          <a:xfrm>
            <a:off x="4572000" y="2310061"/>
            <a:ext cx="4064000" cy="254000"/>
          </a:xfrm>
          <a:prstGeom prst="roundRect">
            <a:avLst>
              <a:gd name="adj" fmla="val 20000"/>
            </a:avLst>
          </a:prstGeom>
          <a:solidFill>
            <a:srgbClr val="E0DCD3"/>
          </a:solidFill>
          <a:ln/>
        </p:spPr>
      </p:sp>
      <p:sp>
        <p:nvSpPr>
          <p:cNvPr id="14" name="Shape 12"/>
          <p:cNvSpPr/>
          <p:nvPr/>
        </p:nvSpPr>
        <p:spPr>
          <a:xfrm>
            <a:off x="4572000" y="2310061"/>
            <a:ext cx="171450" cy="254000"/>
          </a:xfrm>
          <a:prstGeom prst="roundRect">
            <a:avLst>
              <a:gd name="adj" fmla="val 29630"/>
            </a:avLst>
          </a:prstGeom>
          <a:solidFill>
            <a:srgbClr val="6B7077"/>
          </a:solidFill>
          <a:ln/>
        </p:spPr>
      </p:sp>
      <p:sp>
        <p:nvSpPr>
          <p:cNvPr id="15" name="Shape 13"/>
          <p:cNvSpPr/>
          <p:nvPr/>
        </p:nvSpPr>
        <p:spPr>
          <a:xfrm>
            <a:off x="7105650" y="2310061"/>
            <a:ext cx="19050" cy="254000"/>
          </a:xfrm>
          <a:prstGeom prst="rect">
            <a:avLst/>
          </a:prstGeom>
          <a:solidFill>
            <a:srgbClr val="16191C"/>
          </a:solidFill>
          <a:ln/>
        </p:spPr>
      </p:sp>
      <p:sp>
        <p:nvSpPr>
          <p:cNvPr id="16" name="Text 14"/>
          <p:cNvSpPr/>
          <p:nvPr/>
        </p:nvSpPr>
        <p:spPr>
          <a:xfrm>
            <a:off x="8839200" y="2553395"/>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F55"/>
                </a:solidFill>
                <a:latin typeface="IBM Plex Sans" pitchFamily="34" charset="0"/>
                <a:ea typeface="IBM Plex Sans" pitchFamily="34" charset="-122"/>
                <a:cs typeface="IBM Plex Sans" pitchFamily="34" charset="-120"/>
              </a:rPr>
              <a:t>GPU delegate</a:t>
            </a:r>
            <a:endParaRPr lang="en-US" sz="1300" dirty="0"/>
          </a:p>
        </p:txBody>
      </p:sp>
      <p:sp>
        <p:nvSpPr>
          <p:cNvPr id="17" name="Shape 15"/>
          <p:cNvSpPr/>
          <p:nvPr/>
        </p:nvSpPr>
        <p:spPr>
          <a:xfrm>
            <a:off x="812800" y="3014514"/>
            <a:ext cx="10566400" cy="0"/>
          </a:xfrm>
          <a:prstGeom prst="line">
            <a:avLst/>
          </a:prstGeom>
          <a:noFill/>
          <a:ln w="6350">
            <a:solidFill>
              <a:srgbClr val="C4BFB5"/>
            </a:solidFill>
            <a:prstDash val="solid"/>
          </a:ln>
        </p:spPr>
      </p:sp>
      <p:sp>
        <p:nvSpPr>
          <p:cNvPr id="18" name="Text 16"/>
          <p:cNvSpPr/>
          <p:nvPr/>
        </p:nvSpPr>
        <p:spPr>
          <a:xfrm>
            <a:off x="812800" y="3252788"/>
            <a:ext cx="366268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A2F34"/>
                </a:solidFill>
                <a:latin typeface="IBM Plex Sans" pitchFamily="34" charset="0"/>
                <a:ea typeface="IBM Plex Sans" pitchFamily="34" charset="-122"/>
                <a:cs typeface="IBM Plex Sans" pitchFamily="34" charset="-120"/>
              </a:rPr>
              <a:t>1</a:t>
            </a:r>
            <a:r>
              <a:rPr lang="en-US" sz="1400" dirty="0">
                <a:solidFill>
                  <a:srgbClr val="2A2F34"/>
                </a:solidFill>
                <a:latin typeface="IBM Plex Sans" pitchFamily="34" charset="0"/>
                <a:ea typeface="IBM Plex Sans" pitchFamily="34" charset="-122"/>
                <a:cs typeface="IBM Plex Sans" pitchFamily="34" charset="-120"/>
              </a:rPr>
              <a:t> · Bar count and spacing on a slab mesh</a:t>
            </a:r>
            <a:endParaRPr lang="en-US" sz="1400" dirty="0"/>
          </a:p>
        </p:txBody>
      </p:sp>
      <p:sp>
        <p:nvSpPr>
          <p:cNvPr id="19" name="Shape 17"/>
          <p:cNvSpPr/>
          <p:nvPr/>
        </p:nvSpPr>
        <p:spPr>
          <a:xfrm>
            <a:off x="4572000" y="3017689"/>
            <a:ext cx="4064000" cy="254000"/>
          </a:xfrm>
          <a:prstGeom prst="roundRect">
            <a:avLst>
              <a:gd name="adj" fmla="val 20000"/>
            </a:avLst>
          </a:prstGeom>
          <a:solidFill>
            <a:srgbClr val="E0DCD3"/>
          </a:solidFill>
          <a:ln/>
        </p:spPr>
      </p:sp>
      <p:sp>
        <p:nvSpPr>
          <p:cNvPr id="20" name="Shape 18"/>
          <p:cNvSpPr/>
          <p:nvPr/>
        </p:nvSpPr>
        <p:spPr>
          <a:xfrm>
            <a:off x="4743450" y="3017689"/>
            <a:ext cx="1016000" cy="254000"/>
          </a:xfrm>
          <a:prstGeom prst="roundRect">
            <a:avLst>
              <a:gd name="adj" fmla="val 20000"/>
            </a:avLst>
          </a:prstGeom>
          <a:solidFill>
            <a:srgbClr val="E2611B"/>
          </a:solidFill>
          <a:ln/>
        </p:spPr>
      </p:sp>
      <p:sp>
        <p:nvSpPr>
          <p:cNvPr id="21" name="Shape 19"/>
          <p:cNvSpPr/>
          <p:nvPr/>
        </p:nvSpPr>
        <p:spPr>
          <a:xfrm>
            <a:off x="7105650" y="3017689"/>
            <a:ext cx="19050" cy="254000"/>
          </a:xfrm>
          <a:prstGeom prst="rect">
            <a:avLst/>
          </a:prstGeom>
          <a:solidFill>
            <a:srgbClr val="16191C"/>
          </a:solidFill>
          <a:ln/>
        </p:spPr>
      </p:sp>
      <p:sp>
        <p:nvSpPr>
          <p:cNvPr id="22" name="Text 20"/>
          <p:cNvSpPr/>
          <p:nvPr/>
        </p:nvSpPr>
        <p:spPr>
          <a:xfrm>
            <a:off x="8839200" y="3261023"/>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F55"/>
                </a:solidFill>
                <a:latin typeface="IBM Plex Sans" pitchFamily="34" charset="0"/>
                <a:ea typeface="IBM Plex Sans" pitchFamily="34" charset="-122"/>
                <a:cs typeface="IBM Plex Sans" pitchFamily="34" charset="-120"/>
              </a:rPr>
              <a:t>Line detection, tap to mark</a:t>
            </a:r>
            <a:endParaRPr lang="en-US" sz="1300" dirty="0"/>
          </a:p>
        </p:txBody>
      </p:sp>
      <p:sp>
        <p:nvSpPr>
          <p:cNvPr id="23" name="Shape 21"/>
          <p:cNvSpPr/>
          <p:nvPr/>
        </p:nvSpPr>
        <p:spPr>
          <a:xfrm>
            <a:off x="812800" y="3722191"/>
            <a:ext cx="10566400" cy="0"/>
          </a:xfrm>
          <a:prstGeom prst="line">
            <a:avLst/>
          </a:prstGeom>
          <a:noFill/>
          <a:ln w="6350">
            <a:solidFill>
              <a:srgbClr val="C4BFB5"/>
            </a:solidFill>
            <a:prstDash val="solid"/>
          </a:ln>
        </p:spPr>
      </p:sp>
      <p:sp>
        <p:nvSpPr>
          <p:cNvPr id="24" name="Text 22"/>
          <p:cNvSpPr/>
          <p:nvPr/>
        </p:nvSpPr>
        <p:spPr>
          <a:xfrm>
            <a:off x="812800" y="3960416"/>
            <a:ext cx="366268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A2F34"/>
                </a:solidFill>
                <a:latin typeface="IBM Plex Sans" pitchFamily="34" charset="0"/>
                <a:ea typeface="IBM Plex Sans" pitchFamily="34" charset="-122"/>
                <a:cs typeface="IBM Plex Sans" pitchFamily="34" charset="-120"/>
              </a:rPr>
              <a:t>2</a:t>
            </a:r>
            <a:r>
              <a:rPr lang="en-US" sz="1400" dirty="0">
                <a:solidFill>
                  <a:srgbClr val="2A2F34"/>
                </a:solidFill>
                <a:latin typeface="IBM Plex Sans" pitchFamily="34" charset="0"/>
                <a:ea typeface="IBM Plex Sans" pitchFamily="34" charset="-122"/>
                <a:cs typeface="IBM Plex Sans" pitchFamily="34" charset="-120"/>
              </a:rPr>
              <a:t> · Beam stirrup zones + rulebook</a:t>
            </a:r>
            <a:endParaRPr lang="en-US" sz="1400" dirty="0"/>
          </a:p>
        </p:txBody>
      </p:sp>
      <p:sp>
        <p:nvSpPr>
          <p:cNvPr id="25" name="Shape 23"/>
          <p:cNvSpPr/>
          <p:nvPr/>
        </p:nvSpPr>
        <p:spPr>
          <a:xfrm>
            <a:off x="4572000" y="3725366"/>
            <a:ext cx="4064000" cy="254000"/>
          </a:xfrm>
          <a:prstGeom prst="roundRect">
            <a:avLst>
              <a:gd name="adj" fmla="val 20000"/>
            </a:avLst>
          </a:prstGeom>
          <a:solidFill>
            <a:srgbClr val="E0DCD3"/>
          </a:solidFill>
          <a:ln/>
        </p:spPr>
      </p:sp>
      <p:sp>
        <p:nvSpPr>
          <p:cNvPr id="26" name="Shape 24"/>
          <p:cNvSpPr/>
          <p:nvPr/>
        </p:nvSpPr>
        <p:spPr>
          <a:xfrm>
            <a:off x="5759450" y="3725366"/>
            <a:ext cx="679450" cy="254000"/>
          </a:xfrm>
          <a:prstGeom prst="roundRect">
            <a:avLst>
              <a:gd name="adj" fmla="val 20000"/>
            </a:avLst>
          </a:prstGeom>
          <a:solidFill>
            <a:srgbClr val="E2611B"/>
          </a:solidFill>
          <a:ln/>
        </p:spPr>
      </p:sp>
      <p:sp>
        <p:nvSpPr>
          <p:cNvPr id="27" name="Shape 25"/>
          <p:cNvSpPr/>
          <p:nvPr/>
        </p:nvSpPr>
        <p:spPr>
          <a:xfrm>
            <a:off x="7105650" y="3725366"/>
            <a:ext cx="19050" cy="254000"/>
          </a:xfrm>
          <a:prstGeom prst="rect">
            <a:avLst/>
          </a:prstGeom>
          <a:solidFill>
            <a:srgbClr val="16191C"/>
          </a:solidFill>
          <a:ln/>
        </p:spPr>
      </p:sp>
      <p:sp>
        <p:nvSpPr>
          <p:cNvPr id="28" name="Text 26"/>
          <p:cNvSpPr/>
          <p:nvPr/>
        </p:nvSpPr>
        <p:spPr>
          <a:xfrm>
            <a:off x="8839200" y="3968700"/>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F55"/>
                </a:solidFill>
                <a:latin typeface="IBM Plex Sans" pitchFamily="34" charset="0"/>
                <a:ea typeface="IBM Plex Sans" pitchFamily="34" charset="-122"/>
                <a:cs typeface="IBM Plex Sans" pitchFamily="34" charset="-120"/>
              </a:rPr>
              <a:t>Zone ends marked on the strip</a:t>
            </a:r>
            <a:endParaRPr lang="en-US" sz="1300" dirty="0"/>
          </a:p>
        </p:txBody>
      </p:sp>
      <p:sp>
        <p:nvSpPr>
          <p:cNvPr id="29" name="Shape 27"/>
          <p:cNvSpPr/>
          <p:nvPr/>
        </p:nvSpPr>
        <p:spPr>
          <a:xfrm>
            <a:off x="812800" y="4429820"/>
            <a:ext cx="10566400" cy="0"/>
          </a:xfrm>
          <a:prstGeom prst="line">
            <a:avLst/>
          </a:prstGeom>
          <a:noFill/>
          <a:ln w="6350">
            <a:solidFill>
              <a:srgbClr val="C4BFB5"/>
            </a:solidFill>
            <a:prstDash val="solid"/>
          </a:ln>
        </p:spPr>
      </p:sp>
      <p:sp>
        <p:nvSpPr>
          <p:cNvPr id="30" name="Text 28"/>
          <p:cNvSpPr/>
          <p:nvPr/>
        </p:nvSpPr>
        <p:spPr>
          <a:xfrm>
            <a:off x="812800" y="4552504"/>
            <a:ext cx="366268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A2F34"/>
                </a:solidFill>
                <a:latin typeface="IBM Plex Sans" pitchFamily="34" charset="0"/>
                <a:ea typeface="IBM Plex Sans" pitchFamily="34" charset="-122"/>
                <a:cs typeface="IBM Plex Sans" pitchFamily="34" charset="-120"/>
              </a:rPr>
              <a:t>3</a:t>
            </a:r>
            <a:r>
              <a:rPr lang="en-US" sz="1400" dirty="0">
                <a:solidFill>
                  <a:srgbClr val="2A2F34"/>
                </a:solidFill>
                <a:latin typeface="IBM Plex Sans" pitchFamily="34" charset="0"/>
                <a:ea typeface="IBM Plex Sans" pitchFamily="34" charset="-122"/>
                <a:cs typeface="IBM Plex Sans" pitchFamily="34" charset="-120"/>
              </a:rPr>
              <a:t> · Voice in, fix out</a:t>
            </a:r>
            <a:endParaRPr lang="en-US" sz="1400" dirty="0"/>
          </a:p>
          <a:p>
            <a:pPr algn="l" indent="0" marL="0">
              <a:lnSpc>
                <a:spcPts val="1820"/>
              </a:lnSpc>
              <a:buNone/>
            </a:pPr>
            <a:r>
              <a:rPr lang="en-US" sz="1400" b="1" dirty="0">
                <a:solidFill>
                  <a:srgbClr val="2A2F34"/>
                </a:solidFill>
                <a:latin typeface="IBM Plex Sans" pitchFamily="34" charset="0"/>
                <a:ea typeface="IBM Plex Sans" pitchFamily="34" charset="-122"/>
                <a:cs typeface="IBM Plex Sans" pitchFamily="34" charset="-120"/>
              </a:rPr>
              <a:t>4</a:t>
            </a:r>
            <a:r>
              <a:rPr lang="en-US" sz="1400" dirty="0">
                <a:solidFill>
                  <a:srgbClr val="2A2F34"/>
                </a:solidFill>
                <a:latin typeface="IBM Plex Sans" pitchFamily="34" charset="0"/>
                <a:ea typeface="IBM Plex Sans" pitchFamily="34" charset="-122"/>
                <a:cs typeface="IBM Plex Sans" pitchFamily="34" charset="-120"/>
              </a:rPr>
              <a:t> · Signed record over Office Kit</a:t>
            </a:r>
            <a:endParaRPr lang="en-US" sz="1400" dirty="0"/>
          </a:p>
        </p:txBody>
      </p:sp>
      <p:sp>
        <p:nvSpPr>
          <p:cNvPr id="31" name="Shape 29"/>
          <p:cNvSpPr/>
          <p:nvPr/>
        </p:nvSpPr>
        <p:spPr>
          <a:xfrm>
            <a:off x="4572000" y="4432995"/>
            <a:ext cx="4064000" cy="254000"/>
          </a:xfrm>
          <a:prstGeom prst="roundRect">
            <a:avLst>
              <a:gd name="adj" fmla="val 20000"/>
            </a:avLst>
          </a:prstGeom>
          <a:solidFill>
            <a:srgbClr val="E0DCD3"/>
          </a:solidFill>
          <a:ln/>
        </p:spPr>
      </p:sp>
      <p:sp>
        <p:nvSpPr>
          <p:cNvPr id="32" name="Shape 30"/>
          <p:cNvSpPr/>
          <p:nvPr/>
        </p:nvSpPr>
        <p:spPr>
          <a:xfrm>
            <a:off x="6432550" y="4432995"/>
            <a:ext cx="679450" cy="254000"/>
          </a:xfrm>
          <a:prstGeom prst="roundRect">
            <a:avLst>
              <a:gd name="adj" fmla="val 20000"/>
            </a:avLst>
          </a:prstGeom>
          <a:solidFill>
            <a:srgbClr val="E2611B"/>
          </a:solidFill>
          <a:ln/>
        </p:spPr>
      </p:sp>
      <p:sp>
        <p:nvSpPr>
          <p:cNvPr id="33" name="Shape 31"/>
          <p:cNvSpPr/>
          <p:nvPr/>
        </p:nvSpPr>
        <p:spPr>
          <a:xfrm>
            <a:off x="7105650" y="4432995"/>
            <a:ext cx="19050" cy="254000"/>
          </a:xfrm>
          <a:prstGeom prst="rect">
            <a:avLst/>
          </a:prstGeom>
          <a:solidFill>
            <a:srgbClr val="16191C"/>
          </a:solidFill>
          <a:ln/>
        </p:spPr>
      </p:sp>
      <p:sp>
        <p:nvSpPr>
          <p:cNvPr id="34" name="Text 32"/>
          <p:cNvSpPr/>
          <p:nvPr/>
        </p:nvSpPr>
        <p:spPr>
          <a:xfrm>
            <a:off x="8839200" y="4676329"/>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F55"/>
                </a:solidFill>
                <a:latin typeface="IBM Plex Sans" pitchFamily="34" charset="0"/>
                <a:ea typeface="IBM Plex Sans" pitchFamily="34" charset="-122"/>
                <a:cs typeface="IBM Plex Sans" pitchFamily="34" charset="-120"/>
              </a:rPr>
              <a:t>Form entry; Hindi with subtitles</a:t>
            </a:r>
            <a:endParaRPr lang="en-US" sz="1300" dirty="0"/>
          </a:p>
        </p:txBody>
      </p:sp>
      <p:sp>
        <p:nvSpPr>
          <p:cNvPr id="35" name="Shape 33"/>
          <p:cNvSpPr/>
          <p:nvPr/>
        </p:nvSpPr>
        <p:spPr>
          <a:xfrm>
            <a:off x="812800" y="5137497"/>
            <a:ext cx="10566400" cy="0"/>
          </a:xfrm>
          <a:prstGeom prst="line">
            <a:avLst/>
          </a:prstGeom>
          <a:noFill/>
          <a:ln w="6350">
            <a:solidFill>
              <a:srgbClr val="C4BFB5"/>
            </a:solidFill>
            <a:prstDash val="solid"/>
          </a:ln>
        </p:spPr>
      </p:sp>
      <p:sp>
        <p:nvSpPr>
          <p:cNvPr id="36" name="Text 34"/>
          <p:cNvSpPr/>
          <p:nvPr/>
        </p:nvSpPr>
        <p:spPr>
          <a:xfrm>
            <a:off x="812800" y="5260181"/>
            <a:ext cx="366268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F34"/>
                </a:solidFill>
                <a:latin typeface="IBM Plex Sans" pitchFamily="34" charset="0"/>
                <a:ea typeface="IBM Plex Sans" pitchFamily="34" charset="-122"/>
                <a:cs typeface="IBM Plex Sans" pitchFamily="34" charset="-120"/>
              </a:rPr>
              <a:t>Harden: tune on props, error table, rehearse, stretch goals</a:t>
            </a:r>
            <a:endParaRPr lang="en-US" sz="1400" dirty="0"/>
          </a:p>
        </p:txBody>
      </p:sp>
      <p:sp>
        <p:nvSpPr>
          <p:cNvPr id="37" name="Shape 35"/>
          <p:cNvSpPr/>
          <p:nvPr/>
        </p:nvSpPr>
        <p:spPr>
          <a:xfrm>
            <a:off x="4572000" y="5140672"/>
            <a:ext cx="4064000" cy="254000"/>
          </a:xfrm>
          <a:prstGeom prst="roundRect">
            <a:avLst>
              <a:gd name="adj" fmla="val 20000"/>
            </a:avLst>
          </a:prstGeom>
          <a:solidFill>
            <a:srgbClr val="E0DCD3"/>
          </a:solidFill>
          <a:ln/>
        </p:spPr>
      </p:sp>
      <p:sp>
        <p:nvSpPr>
          <p:cNvPr id="38" name="Shape 36"/>
          <p:cNvSpPr/>
          <p:nvPr/>
        </p:nvSpPr>
        <p:spPr>
          <a:xfrm>
            <a:off x="7124700" y="5140672"/>
            <a:ext cx="1511300" cy="254000"/>
          </a:xfrm>
          <a:prstGeom prst="roundRect">
            <a:avLst>
              <a:gd name="adj" fmla="val 20000"/>
            </a:avLst>
          </a:prstGeom>
          <a:solidFill>
            <a:srgbClr val="0A6E78"/>
          </a:solidFill>
          <a:ln/>
        </p:spPr>
      </p:sp>
      <p:sp>
        <p:nvSpPr>
          <p:cNvPr id="39" name="Shape 37"/>
          <p:cNvSpPr/>
          <p:nvPr/>
        </p:nvSpPr>
        <p:spPr>
          <a:xfrm>
            <a:off x="7105650" y="5140672"/>
            <a:ext cx="19050" cy="254000"/>
          </a:xfrm>
          <a:prstGeom prst="rect">
            <a:avLst/>
          </a:prstGeom>
          <a:solidFill>
            <a:srgbClr val="16191C"/>
          </a:solidFill>
          <a:ln/>
        </p:spPr>
      </p:sp>
      <p:sp>
        <p:nvSpPr>
          <p:cNvPr id="40" name="Text 38"/>
          <p:cNvSpPr/>
          <p:nvPr/>
        </p:nvSpPr>
        <p:spPr>
          <a:xfrm>
            <a:off x="8839200" y="5384006"/>
            <a:ext cx="26162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F55"/>
                </a:solidFill>
                <a:latin typeface="IBM Plex Sans" pitchFamily="34" charset="0"/>
                <a:ea typeface="IBM Plex Sans" pitchFamily="34" charset="-122"/>
                <a:cs typeface="IBM Plex Sans" pitchFamily="34" charset="-120"/>
              </a:rPr>
              <a:t>Cut stretch goals first</a:t>
            </a:r>
            <a:endParaRPr lang="en-US" sz="1300" dirty="0"/>
          </a:p>
        </p:txBody>
      </p:sp>
      <p:sp>
        <p:nvSpPr>
          <p:cNvPr id="41" name="Text 39"/>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36A"/>
                </a:solidFill>
                <a:latin typeface="IBM Plex Sans" pitchFamily="34" charset="0"/>
                <a:ea typeface="IBM Plex Sans" pitchFamily="34" charset="-122"/>
                <a:cs typeface="IBM Plex Sans" pitchFamily="34" charset="-120"/>
              </a:rPr>
              <a:t>Not built at the event: card-free depth, rib-mark brand reading, drawing extraction, integrations</a:t>
            </a:r>
            <a:endParaRPr lang="en-US" sz="1200" dirty="0"/>
          </a:p>
        </p:txBody>
      </p:sp>
      <p:sp>
        <p:nvSpPr>
          <p:cNvPr id="42" name="Text 4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9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611B"/>
                </a:solidFill>
                <a:latin typeface="IBM Plex Mono" pitchFamily="49" charset="0"/>
                <a:ea typeface="IBM Plex Mono" pitchFamily="49" charset="-122"/>
                <a:cs typeface="IBM Plex Mono" pitchFamily="49" charset="-120"/>
              </a:rPr>
              <a:t>THE DEMO · 3 MINUTES · AIRPLANE MODE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1EC"/>
                </a:solidFill>
                <a:latin typeface="Oswald" pitchFamily="34" charset="0"/>
                <a:ea typeface="Oswald" pitchFamily="34" charset="-122"/>
                <a:cs typeface="Oswald" pitchFamily="34" charset="-120"/>
              </a:rPr>
              <a:t>A judge breaks the steel. The phone finds it.</a:t>
            </a:r>
            <a:endParaRPr lang="en-US" sz="3600" dirty="0"/>
          </a:p>
        </p:txBody>
      </p:sp>
      <p:sp>
        <p:nvSpPr>
          <p:cNvPr id="4" name="Shape 2"/>
          <p:cNvSpPr/>
          <p:nvPr/>
        </p:nvSpPr>
        <p:spPr>
          <a:xfrm>
            <a:off x="812800" y="1986211"/>
            <a:ext cx="2011660" cy="3104009"/>
          </a:xfrm>
          <a:prstGeom prst="roundRect">
            <a:avLst>
              <a:gd name="adj" fmla="val 5682"/>
            </a:avLst>
          </a:prstGeom>
          <a:solidFill>
            <a:srgbClr val="23282D"/>
          </a:solidFill>
          <a:ln/>
        </p:spPr>
      </p:sp>
      <p:sp>
        <p:nvSpPr>
          <p:cNvPr id="5" name="Text 3"/>
          <p:cNvSpPr/>
          <p:nvPr/>
        </p:nvSpPr>
        <p:spPr>
          <a:xfrm>
            <a:off x="1016000" y="2189411"/>
            <a:ext cx="165606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39C5CF"/>
                </a:solidFill>
                <a:latin typeface="Oswald" pitchFamily="34" charset="0"/>
                <a:ea typeface="Oswald" pitchFamily="34" charset="-122"/>
                <a:cs typeface="Oswald" pitchFamily="34" charset="-120"/>
              </a:rPr>
              <a:t>0:00</a:t>
            </a:r>
            <a:endParaRPr lang="en-US" sz="2800" dirty="0"/>
          </a:p>
        </p:txBody>
      </p:sp>
      <p:sp>
        <p:nvSpPr>
          <p:cNvPr id="6" name="Text 4"/>
          <p:cNvSpPr/>
          <p:nvPr/>
        </p:nvSpPr>
        <p:spPr>
          <a:xfrm>
            <a:off x="1016000" y="2672011"/>
            <a:ext cx="165606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IBM Plex Sans" pitchFamily="34" charset="0"/>
                <a:ea typeface="IBM Plex Sans" pitchFamily="34" charset="-122"/>
                <a:cs typeface="IBM Plex Sans" pitchFamily="34" charset="-120"/>
              </a:rPr>
              <a:t>A judge draws a fault card and breaks our mesh: a bar removed, moved or opened.</a:t>
            </a:r>
            <a:endParaRPr lang="en-US" sz="1400" dirty="0"/>
          </a:p>
        </p:txBody>
      </p:sp>
      <p:sp>
        <p:nvSpPr>
          <p:cNvPr id="7" name="Shape 5"/>
          <p:cNvSpPr/>
          <p:nvPr/>
        </p:nvSpPr>
        <p:spPr>
          <a:xfrm>
            <a:off x="2951460" y="1986211"/>
            <a:ext cx="2011710" cy="3104009"/>
          </a:xfrm>
          <a:prstGeom prst="roundRect">
            <a:avLst>
              <a:gd name="adj" fmla="val 5682"/>
            </a:avLst>
          </a:prstGeom>
          <a:solidFill>
            <a:srgbClr val="23282D"/>
          </a:solidFill>
          <a:ln/>
        </p:spPr>
      </p:sp>
      <p:sp>
        <p:nvSpPr>
          <p:cNvPr id="8" name="Text 6"/>
          <p:cNvSpPr/>
          <p:nvPr/>
        </p:nvSpPr>
        <p:spPr>
          <a:xfrm>
            <a:off x="3154660" y="2189411"/>
            <a:ext cx="165611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39C5CF"/>
                </a:solidFill>
                <a:latin typeface="Oswald" pitchFamily="34" charset="0"/>
                <a:ea typeface="Oswald" pitchFamily="34" charset="-122"/>
                <a:cs typeface="Oswald" pitchFamily="34" charset="-120"/>
              </a:rPr>
              <a:t>0:30</a:t>
            </a:r>
            <a:endParaRPr lang="en-US" sz="2800" dirty="0"/>
          </a:p>
        </p:txBody>
      </p:sp>
      <p:sp>
        <p:nvSpPr>
          <p:cNvPr id="9" name="Text 7"/>
          <p:cNvSpPr/>
          <p:nvPr/>
        </p:nvSpPr>
        <p:spPr>
          <a:xfrm>
            <a:off x="3154660" y="2672011"/>
            <a:ext cx="165611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IBM Plex Sans" pitchFamily="34" charset="0"/>
                <a:ea typeface="IBM Plex Sans" pitchFamily="34" charset="-122"/>
                <a:cs typeface="IBM Plex Sans" pitchFamily="34" charset="-120"/>
              </a:rPr>
              <a:t>Scan at 50 cm. The verdict lands in seconds, spoken in Hindi with subtitles.</a:t>
            </a:r>
            <a:endParaRPr lang="en-US" sz="1400" dirty="0"/>
          </a:p>
        </p:txBody>
      </p:sp>
      <p:sp>
        <p:nvSpPr>
          <p:cNvPr id="10" name="Shape 8"/>
          <p:cNvSpPr/>
          <p:nvPr/>
        </p:nvSpPr>
        <p:spPr>
          <a:xfrm>
            <a:off x="5090170" y="1986211"/>
            <a:ext cx="2011660" cy="3104009"/>
          </a:xfrm>
          <a:prstGeom prst="roundRect">
            <a:avLst>
              <a:gd name="adj" fmla="val 5682"/>
            </a:avLst>
          </a:prstGeom>
          <a:solidFill>
            <a:srgbClr val="23282D"/>
          </a:solidFill>
          <a:ln/>
        </p:spPr>
      </p:sp>
      <p:sp>
        <p:nvSpPr>
          <p:cNvPr id="11" name="Text 9"/>
          <p:cNvSpPr/>
          <p:nvPr/>
        </p:nvSpPr>
        <p:spPr>
          <a:xfrm>
            <a:off x="5293370" y="2189411"/>
            <a:ext cx="165606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39C5CF"/>
                </a:solidFill>
                <a:latin typeface="Oswald" pitchFamily="34" charset="0"/>
                <a:ea typeface="Oswald" pitchFamily="34" charset="-122"/>
                <a:cs typeface="Oswald" pitchFamily="34" charset="-120"/>
              </a:rPr>
              <a:t>1:10</a:t>
            </a:r>
            <a:endParaRPr lang="en-US" sz="2800" dirty="0"/>
          </a:p>
        </p:txBody>
      </p:sp>
      <p:sp>
        <p:nvSpPr>
          <p:cNvPr id="12" name="Text 10"/>
          <p:cNvSpPr/>
          <p:nvPr/>
        </p:nvSpPr>
        <p:spPr>
          <a:xfrm>
            <a:off x="5293370" y="2672011"/>
            <a:ext cx="165606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IBM Plex Sans" pitchFamily="34" charset="0"/>
                <a:ea typeface="IBM Plex Sans" pitchFamily="34" charset="-122"/>
                <a:cs typeface="IBM Plex Sans" pitchFamily="34" charset="-120"/>
              </a:rPr>
              <a:t>The judge tapes the exact segment the app drew and checks the number.</a:t>
            </a:r>
            <a:endParaRPr lang="en-US" sz="1400" dirty="0"/>
          </a:p>
        </p:txBody>
      </p:sp>
      <p:sp>
        <p:nvSpPr>
          <p:cNvPr id="13" name="Shape 11"/>
          <p:cNvSpPr/>
          <p:nvPr/>
        </p:nvSpPr>
        <p:spPr>
          <a:xfrm>
            <a:off x="7228830" y="1986211"/>
            <a:ext cx="2011710" cy="3104009"/>
          </a:xfrm>
          <a:prstGeom prst="roundRect">
            <a:avLst>
              <a:gd name="adj" fmla="val 5682"/>
            </a:avLst>
          </a:prstGeom>
          <a:solidFill>
            <a:srgbClr val="E2611B"/>
          </a:solidFill>
          <a:ln/>
        </p:spPr>
      </p:sp>
      <p:sp>
        <p:nvSpPr>
          <p:cNvPr id="14" name="Text 12"/>
          <p:cNvSpPr/>
          <p:nvPr/>
        </p:nvSpPr>
        <p:spPr>
          <a:xfrm>
            <a:off x="7432030" y="2189411"/>
            <a:ext cx="165611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16191C"/>
                </a:solidFill>
                <a:latin typeface="Oswald" pitchFamily="34" charset="0"/>
                <a:ea typeface="Oswald" pitchFamily="34" charset="-122"/>
                <a:cs typeface="Oswald" pitchFamily="34" charset="-120"/>
              </a:rPr>
              <a:t>1:40</a:t>
            </a:r>
            <a:endParaRPr lang="en-US" sz="2800" dirty="0"/>
          </a:p>
        </p:txBody>
      </p:sp>
      <p:sp>
        <p:nvSpPr>
          <p:cNvPr id="15" name="Text 13"/>
          <p:cNvSpPr/>
          <p:nvPr/>
        </p:nvSpPr>
        <p:spPr>
          <a:xfrm>
            <a:off x="7432030" y="2672011"/>
            <a:ext cx="165611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91C"/>
                </a:solidFill>
                <a:latin typeface="IBM Plex Sans" pitchFamily="34" charset="0"/>
                <a:ea typeface="IBM Plex Sans" pitchFamily="34" charset="-122"/>
                <a:cs typeface="IBM Plex Sans" pitchFamily="34" charset="-120"/>
              </a:rPr>
              <a:t>From 1.2 m the phone says "re-scan, within my error". It refuses to guess.</a:t>
            </a:r>
            <a:endParaRPr lang="en-US" sz="1400" dirty="0"/>
          </a:p>
        </p:txBody>
      </p:sp>
      <p:sp>
        <p:nvSpPr>
          <p:cNvPr id="16" name="Shape 14"/>
          <p:cNvSpPr/>
          <p:nvPr/>
        </p:nvSpPr>
        <p:spPr>
          <a:xfrm>
            <a:off x="9367540" y="1986211"/>
            <a:ext cx="2011660" cy="3104009"/>
          </a:xfrm>
          <a:prstGeom prst="roundRect">
            <a:avLst>
              <a:gd name="adj" fmla="val 5682"/>
            </a:avLst>
          </a:prstGeom>
          <a:solidFill>
            <a:srgbClr val="23282D"/>
          </a:solidFill>
          <a:ln/>
        </p:spPr>
      </p:sp>
      <p:sp>
        <p:nvSpPr>
          <p:cNvPr id="17" name="Text 15"/>
          <p:cNvSpPr/>
          <p:nvPr/>
        </p:nvSpPr>
        <p:spPr>
          <a:xfrm>
            <a:off x="9570740" y="2189411"/>
            <a:ext cx="165606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39C5CF"/>
                </a:solidFill>
                <a:latin typeface="Oswald" pitchFamily="34" charset="0"/>
                <a:ea typeface="Oswald" pitchFamily="34" charset="-122"/>
                <a:cs typeface="Oswald" pitchFamily="34" charset="-120"/>
              </a:rPr>
              <a:t>2:10</a:t>
            </a:r>
            <a:endParaRPr lang="en-US" sz="2800" dirty="0"/>
          </a:p>
        </p:txBody>
      </p:sp>
      <p:sp>
        <p:nvSpPr>
          <p:cNvPr id="18" name="Text 16"/>
          <p:cNvSpPr/>
          <p:nvPr/>
        </p:nvSpPr>
        <p:spPr>
          <a:xfrm>
            <a:off x="9570740" y="2672011"/>
            <a:ext cx="165606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IBM Plex Sans" pitchFamily="34" charset="0"/>
                <a:ea typeface="IBM Plex Sans" pitchFamily="34" charset="-122"/>
                <a:cs typeface="IBM Plex Sans" pitchFamily="34" charset="-120"/>
              </a:rPr>
              <a:t>The engineer countersigns over Office Kit. A replayed scan is rejected.</a:t>
            </a:r>
            <a:endParaRPr lang="en-US" sz="1400" dirty="0"/>
          </a:p>
        </p:txBody>
      </p:sp>
      <p:sp>
        <p:nvSpPr>
          <p:cNvPr id="19" name="Text 17"/>
          <p:cNvSpPr/>
          <p:nvPr/>
        </p:nvSpPr>
        <p:spPr>
          <a:xfrm>
            <a:off x="812800" y="536962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9096"/>
                </a:solidFill>
                <a:latin typeface="IBM Plex Mono" pitchFamily="49" charset="0"/>
                <a:ea typeface="IBM Plex Mono" pitchFamily="49" charset="-122"/>
                <a:cs typeface="IBM Plex Mono" pitchFamily="49" charset="-120"/>
              </a:rPr>
              <a:t>WE BRING</a:t>
            </a:r>
            <a:endParaRPr lang="en-US" sz="1200" dirty="0"/>
          </a:p>
        </p:txBody>
      </p:sp>
      <p:sp>
        <p:nvSpPr>
          <p:cNvPr id="20" name="Text 18"/>
          <p:cNvSpPr/>
          <p:nvPr/>
        </p:nvSpPr>
        <p:spPr>
          <a:xfrm>
            <a:off x="2387600" y="5344220"/>
            <a:ext cx="926134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EC3"/>
                </a:solidFill>
                <a:latin typeface="IBM Plex Sans" pitchFamily="34" charset="0"/>
                <a:ea typeface="IBM Plex Sans" pitchFamily="34" charset="-122"/>
                <a:cs typeface="IBM Plex Sans" pitchFamily="34" charset="-120"/>
              </a:rPr>
              <a:t>A 45 × 45 cm mesh of 8 mm bars in slotted clips, a 60 cm beam cage, printed cards, a tape, an LED panel and a spare phone.</a:t>
            </a:r>
            <a:endParaRPr lang="en-US" sz="1400" dirty="0"/>
          </a:p>
        </p:txBody>
      </p:sp>
      <p:sp>
        <p:nvSpPr>
          <p:cNvPr id="21" name="Text 19"/>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8A9096"/>
                </a:solidFill>
                <a:latin typeface="IBM Plex Sans" pitchFamily="34" charset="0"/>
                <a:ea typeface="IBM Plex Sans" pitchFamily="34" charset="-122"/>
                <a:cs typeface="IBM Plex Sans" pitchFamily="34" charset="-120"/>
              </a:rPr>
              <a:t>Nothing is pre-recorded: the judge places the fault and checks the answer with a tape</a:t>
            </a:r>
            <a:endParaRPr lang="en-US" sz="1200" dirty="0"/>
          </a:p>
        </p:txBody>
      </p:sp>
      <p:sp>
        <p:nvSpPr>
          <p:cNvPr id="22"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BE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70F"/>
                </a:solidFill>
                <a:latin typeface="IBM Plex Mono" pitchFamily="49" charset="0"/>
                <a:ea typeface="IBM Plex Mono" pitchFamily="49" charset="-122"/>
                <a:cs typeface="IBM Plex Mono" pitchFamily="49" charset="-120"/>
              </a:rPr>
              <a:t>MARKET AND BUSINESS MODEL</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C"/>
                </a:solidFill>
                <a:latin typeface="Oswald" pitchFamily="34" charset="0"/>
                <a:ea typeface="Oswald" pitchFamily="34" charset="-122"/>
                <a:cs typeface="Oswald" pitchFamily="34" charset="-120"/>
              </a:rPr>
              <a:t>People already pay for site checks. None measure steel.</a:t>
            </a:r>
            <a:endParaRPr lang="en-US" sz="3600" dirty="0"/>
          </a:p>
        </p:txBody>
      </p:sp>
      <p:sp>
        <p:nvSpPr>
          <p:cNvPr id="4" name="Shape 2"/>
          <p:cNvSpPr/>
          <p:nvPr/>
        </p:nvSpPr>
        <p:spPr>
          <a:xfrm>
            <a:off x="812800" y="1995736"/>
            <a:ext cx="2451100" cy="0"/>
          </a:xfrm>
          <a:prstGeom prst="line">
            <a:avLst/>
          </a:prstGeom>
          <a:noFill/>
          <a:ln w="19050">
            <a:solidFill>
              <a:srgbClr val="16191C"/>
            </a:solidFill>
            <a:prstDash val="solid"/>
          </a:ln>
        </p:spPr>
      </p:sp>
      <p:sp>
        <p:nvSpPr>
          <p:cNvPr id="5" name="Text 3"/>
          <p:cNvSpPr/>
          <p:nvPr/>
        </p:nvSpPr>
        <p:spPr>
          <a:xfrm>
            <a:off x="812800" y="2132261"/>
            <a:ext cx="25246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6191C"/>
                </a:solidFill>
                <a:latin typeface="Oswald" pitchFamily="34" charset="0"/>
                <a:ea typeface="Oswald" pitchFamily="34" charset="-122"/>
                <a:cs typeface="Oswald" pitchFamily="34" charset="-120"/>
              </a:rPr>
              <a:t>55–57%</a:t>
            </a:r>
            <a:endParaRPr lang="en-US" sz="3600" dirty="0"/>
          </a:p>
        </p:txBody>
      </p:sp>
      <p:sp>
        <p:nvSpPr>
          <p:cNvPr id="6" name="Text 4"/>
          <p:cNvSpPr/>
          <p:nvPr/>
        </p:nvSpPr>
        <p:spPr>
          <a:xfrm>
            <a:off x="812800" y="2665661"/>
            <a:ext cx="252463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5"/>
                </a:solidFill>
                <a:latin typeface="IBM Plex Sans" pitchFamily="34" charset="0"/>
                <a:ea typeface="IBM Plex Sans" pitchFamily="34" charset="-122"/>
                <a:cs typeface="IBM Plex Sans" pitchFamily="34" charset="-120"/>
              </a:rPr>
              <a:t>of India's cement demand is housing (CRISIL, FY25)</a:t>
            </a:r>
            <a:endParaRPr lang="en-US" sz="1300" dirty="0"/>
          </a:p>
        </p:txBody>
      </p:sp>
      <p:sp>
        <p:nvSpPr>
          <p:cNvPr id="7" name="Shape 5"/>
          <p:cNvSpPr/>
          <p:nvPr/>
        </p:nvSpPr>
        <p:spPr>
          <a:xfrm>
            <a:off x="3517900" y="1995736"/>
            <a:ext cx="2451100" cy="0"/>
          </a:xfrm>
          <a:prstGeom prst="line">
            <a:avLst/>
          </a:prstGeom>
          <a:noFill/>
          <a:ln w="19050">
            <a:solidFill>
              <a:srgbClr val="16191C"/>
            </a:solidFill>
            <a:prstDash val="solid"/>
          </a:ln>
        </p:spPr>
      </p:sp>
      <p:sp>
        <p:nvSpPr>
          <p:cNvPr id="8" name="Text 6"/>
          <p:cNvSpPr/>
          <p:nvPr/>
        </p:nvSpPr>
        <p:spPr>
          <a:xfrm>
            <a:off x="3517900" y="2132261"/>
            <a:ext cx="25246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6191C"/>
                </a:solidFill>
                <a:latin typeface="Oswald" pitchFamily="34" charset="0"/>
                <a:ea typeface="Oswald" pitchFamily="34" charset="-122"/>
                <a:cs typeface="Oswald" pitchFamily="34" charset="-120"/>
              </a:rPr>
              <a:t>31,698</a:t>
            </a:r>
            <a:endParaRPr lang="en-US" sz="3600" dirty="0"/>
          </a:p>
        </p:txBody>
      </p:sp>
      <p:sp>
        <p:nvSpPr>
          <p:cNvPr id="9" name="Text 7"/>
          <p:cNvSpPr/>
          <p:nvPr/>
        </p:nvSpPr>
        <p:spPr>
          <a:xfrm>
            <a:off x="3517900" y="2665661"/>
            <a:ext cx="252463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5"/>
                </a:solidFill>
                <a:latin typeface="IBM Plex Sans" pitchFamily="34" charset="0"/>
                <a:ea typeface="IBM Plex Sans" pitchFamily="34" charset="-122"/>
                <a:cs typeface="IBM Plex Sans" pitchFamily="34" charset="-120"/>
              </a:rPr>
              <a:t>sites where one cement brand supervised slab casting in a year (Ambuja)</a:t>
            </a:r>
            <a:endParaRPr lang="en-US" sz="1300" dirty="0"/>
          </a:p>
        </p:txBody>
      </p:sp>
      <p:sp>
        <p:nvSpPr>
          <p:cNvPr id="10" name="Shape 8"/>
          <p:cNvSpPr/>
          <p:nvPr/>
        </p:nvSpPr>
        <p:spPr>
          <a:xfrm>
            <a:off x="6223000" y="1995736"/>
            <a:ext cx="2451100" cy="0"/>
          </a:xfrm>
          <a:prstGeom prst="line">
            <a:avLst/>
          </a:prstGeom>
          <a:noFill/>
          <a:ln w="19050">
            <a:solidFill>
              <a:srgbClr val="16191C"/>
            </a:solidFill>
            <a:prstDash val="solid"/>
          </a:ln>
        </p:spPr>
      </p:sp>
      <p:sp>
        <p:nvSpPr>
          <p:cNvPr id="11" name="Text 9"/>
          <p:cNvSpPr/>
          <p:nvPr/>
        </p:nvSpPr>
        <p:spPr>
          <a:xfrm>
            <a:off x="6223000" y="2132261"/>
            <a:ext cx="25246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6191C"/>
                </a:solidFill>
                <a:latin typeface="Oswald" pitchFamily="34" charset="0"/>
                <a:ea typeface="Oswald" pitchFamily="34" charset="-122"/>
                <a:cs typeface="Oswald" pitchFamily="34" charset="-120"/>
              </a:rPr>
              <a:t>₹4,999</a:t>
            </a:r>
            <a:endParaRPr lang="en-US" sz="3600" dirty="0"/>
          </a:p>
        </p:txBody>
      </p:sp>
      <p:sp>
        <p:nvSpPr>
          <p:cNvPr id="12" name="Text 10"/>
          <p:cNvSpPr/>
          <p:nvPr/>
        </p:nvSpPr>
        <p:spPr>
          <a:xfrm>
            <a:off x="6223000" y="2665661"/>
            <a:ext cx="252463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5"/>
                </a:solidFill>
                <a:latin typeface="IBM Plex Sans" pitchFamily="34" charset="0"/>
                <a:ea typeface="IBM Plex Sans" pitchFamily="34" charset="-122"/>
                <a:cs typeface="IBM Plex Sans" pitchFamily="34" charset="-120"/>
              </a:rPr>
              <a:t>per construction-stage visit by a Bengaluru home inspector (TeamHome)</a:t>
            </a:r>
            <a:endParaRPr lang="en-US" sz="1300" dirty="0"/>
          </a:p>
        </p:txBody>
      </p:sp>
      <p:sp>
        <p:nvSpPr>
          <p:cNvPr id="13" name="Shape 11"/>
          <p:cNvSpPr/>
          <p:nvPr/>
        </p:nvSpPr>
        <p:spPr>
          <a:xfrm>
            <a:off x="8928100" y="1995736"/>
            <a:ext cx="2451100" cy="0"/>
          </a:xfrm>
          <a:prstGeom prst="line">
            <a:avLst/>
          </a:prstGeom>
          <a:noFill/>
          <a:ln w="19050">
            <a:solidFill>
              <a:srgbClr val="16191C"/>
            </a:solidFill>
            <a:prstDash val="solid"/>
          </a:ln>
        </p:spPr>
      </p:sp>
      <p:sp>
        <p:nvSpPr>
          <p:cNvPr id="14" name="Text 12"/>
          <p:cNvSpPr/>
          <p:nvPr/>
        </p:nvSpPr>
        <p:spPr>
          <a:xfrm>
            <a:off x="8928100" y="2132261"/>
            <a:ext cx="25246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6191C"/>
                </a:solidFill>
                <a:latin typeface="Oswald" pitchFamily="34" charset="0"/>
                <a:ea typeface="Oswald" pitchFamily="34" charset="-122"/>
                <a:cs typeface="Oswald" pitchFamily="34" charset="-120"/>
              </a:rPr>
              <a:t>₹750–2,000</a:t>
            </a:r>
            <a:endParaRPr lang="en-US" sz="3600" dirty="0"/>
          </a:p>
        </p:txBody>
      </p:sp>
      <p:sp>
        <p:nvSpPr>
          <p:cNvPr id="15" name="Text 13"/>
          <p:cNvSpPr/>
          <p:nvPr/>
        </p:nvSpPr>
        <p:spPr>
          <a:xfrm>
            <a:off x="8928100" y="2665661"/>
            <a:ext cx="252463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5"/>
                </a:solidFill>
                <a:latin typeface="IBM Plex Sans" pitchFamily="34" charset="0"/>
                <a:ea typeface="IBM Plex Sans" pitchFamily="34" charset="-122"/>
                <a:cs typeface="IBM Plex Sans" pitchFamily="34" charset="-120"/>
              </a:rPr>
              <a:t>per lender technical visit, which checks progress, not steel (Aptus)</a:t>
            </a:r>
            <a:endParaRPr lang="en-US" sz="1300" dirty="0"/>
          </a:p>
        </p:txBody>
      </p:sp>
      <p:sp>
        <p:nvSpPr>
          <p:cNvPr id="16" name="Shape 14"/>
          <p:cNvSpPr/>
          <p:nvPr/>
        </p:nvSpPr>
        <p:spPr>
          <a:xfrm>
            <a:off x="815975" y="4382195"/>
            <a:ext cx="2524125" cy="1456630"/>
          </a:xfrm>
          <a:prstGeom prst="roundRect">
            <a:avLst>
              <a:gd name="adj" fmla="val 7629"/>
            </a:avLst>
          </a:prstGeom>
          <a:solidFill>
            <a:srgbClr val="F8F6F2"/>
          </a:solidFill>
          <a:ln w="6350">
            <a:solidFill>
              <a:srgbClr val="D3CEC5"/>
            </a:solidFill>
            <a:prstDash val="solid"/>
          </a:ln>
        </p:spPr>
      </p:sp>
      <p:sp>
        <p:nvSpPr>
          <p:cNvPr id="17" name="Text 15"/>
          <p:cNvSpPr/>
          <p:nvPr/>
        </p:nvSpPr>
        <p:spPr>
          <a:xfrm>
            <a:off x="996950" y="4563170"/>
            <a:ext cx="22270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ENGINEERS, INSPECTORS</a:t>
            </a:r>
            <a:endParaRPr lang="en-US" sz="1200" dirty="0"/>
          </a:p>
        </p:txBody>
      </p:sp>
      <p:sp>
        <p:nvSpPr>
          <p:cNvPr id="18" name="Text 16"/>
          <p:cNvSpPr/>
          <p:nvPr/>
        </p:nvSpPr>
        <p:spPr>
          <a:xfrm>
            <a:off x="996950" y="4839990"/>
            <a:ext cx="222704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₹199 / signed pour</a:t>
            </a:r>
            <a:endParaRPr lang="en-US" sz="2000" dirty="0"/>
          </a:p>
        </p:txBody>
      </p:sp>
      <p:sp>
        <p:nvSpPr>
          <p:cNvPr id="19" name="Text 17"/>
          <p:cNvSpPr/>
          <p:nvPr/>
        </p:nvSpPr>
        <p:spPr>
          <a:xfrm>
            <a:off x="996950" y="5195590"/>
            <a:ext cx="222704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5"/>
                </a:solidFill>
                <a:latin typeface="IBM Plex Sans" pitchFamily="34" charset="0"/>
                <a:ea typeface="IBM Plex Sans" pitchFamily="34" charset="-122"/>
                <a:cs typeface="IBM Plex Sans" pitchFamily="34" charset="-120"/>
              </a:rPr>
              <a:t>Scanning is free. Pay per signed record.</a:t>
            </a:r>
            <a:endParaRPr lang="en-US" sz="1300" dirty="0"/>
          </a:p>
        </p:txBody>
      </p:sp>
      <p:sp>
        <p:nvSpPr>
          <p:cNvPr id="20" name="Shape 18"/>
          <p:cNvSpPr/>
          <p:nvPr/>
        </p:nvSpPr>
        <p:spPr>
          <a:xfrm>
            <a:off x="3498850" y="4382195"/>
            <a:ext cx="2524125" cy="1456630"/>
          </a:xfrm>
          <a:prstGeom prst="roundRect">
            <a:avLst>
              <a:gd name="adj" fmla="val 7629"/>
            </a:avLst>
          </a:prstGeom>
          <a:solidFill>
            <a:srgbClr val="F8F6F2"/>
          </a:solidFill>
          <a:ln w="6350">
            <a:solidFill>
              <a:srgbClr val="D3CEC5"/>
            </a:solidFill>
            <a:prstDash val="solid"/>
          </a:ln>
        </p:spPr>
      </p:sp>
      <p:sp>
        <p:nvSpPr>
          <p:cNvPr id="21" name="Text 19"/>
          <p:cNvSpPr/>
          <p:nvPr/>
        </p:nvSpPr>
        <p:spPr>
          <a:xfrm>
            <a:off x="3679825" y="4563170"/>
            <a:ext cx="22270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BUILDERS</a:t>
            </a:r>
            <a:endParaRPr lang="en-US" sz="1200" dirty="0"/>
          </a:p>
        </p:txBody>
      </p:sp>
      <p:sp>
        <p:nvSpPr>
          <p:cNvPr id="22" name="Text 20"/>
          <p:cNvSpPr/>
          <p:nvPr/>
        </p:nvSpPr>
        <p:spPr>
          <a:xfrm>
            <a:off x="3679825" y="4839990"/>
            <a:ext cx="222704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₹2,999 / house</a:t>
            </a:r>
            <a:endParaRPr lang="en-US" sz="2000" dirty="0"/>
          </a:p>
        </p:txBody>
      </p:sp>
      <p:sp>
        <p:nvSpPr>
          <p:cNvPr id="23" name="Text 21"/>
          <p:cNvSpPr/>
          <p:nvPr/>
        </p:nvSpPr>
        <p:spPr>
          <a:xfrm>
            <a:off x="3679825" y="5195590"/>
            <a:ext cx="222704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5"/>
                </a:solidFill>
                <a:latin typeface="IBM Plex Sans" pitchFamily="34" charset="0"/>
                <a:ea typeface="IBM Plex Sans" pitchFamily="34" charset="-122"/>
                <a:cs typeface="IBM Plex Sans" pitchFamily="34" charset="-120"/>
              </a:rPr>
              <a:t>Every pour of one build, in one log</a:t>
            </a:r>
            <a:endParaRPr lang="en-US" sz="1300" dirty="0"/>
          </a:p>
        </p:txBody>
      </p:sp>
      <p:sp>
        <p:nvSpPr>
          <p:cNvPr id="24" name="Shape 22"/>
          <p:cNvSpPr/>
          <p:nvPr/>
        </p:nvSpPr>
        <p:spPr>
          <a:xfrm>
            <a:off x="6178550" y="4379020"/>
            <a:ext cx="2517775" cy="1462980"/>
          </a:xfrm>
          <a:prstGeom prst="roundRect">
            <a:avLst>
              <a:gd name="adj" fmla="val 7813"/>
            </a:avLst>
          </a:prstGeom>
          <a:solidFill>
            <a:srgbClr val="16191C"/>
          </a:solidFill>
          <a:ln/>
        </p:spPr>
      </p:sp>
      <p:sp>
        <p:nvSpPr>
          <p:cNvPr id="25" name="Text 23"/>
          <p:cNvSpPr/>
          <p:nvPr/>
        </p:nvSpPr>
        <p:spPr>
          <a:xfrm>
            <a:off x="6356350" y="4556820"/>
            <a:ext cx="22270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2611B"/>
                </a:solidFill>
                <a:latin typeface="IBM Plex Mono" pitchFamily="49" charset="0"/>
                <a:ea typeface="IBM Plex Mono" pitchFamily="49" charset="-122"/>
                <a:cs typeface="IBM Plex Mono" pitchFamily="49" charset="-120"/>
              </a:rPr>
              <a:t>CEMENT, STEEL BRANDS</a:t>
            </a:r>
            <a:endParaRPr lang="en-US" sz="1200" dirty="0"/>
          </a:p>
        </p:txBody>
      </p:sp>
      <p:sp>
        <p:nvSpPr>
          <p:cNvPr id="26" name="Text 24"/>
          <p:cNvSpPr/>
          <p:nvPr/>
        </p:nvSpPr>
        <p:spPr>
          <a:xfrm>
            <a:off x="6356350" y="4833640"/>
            <a:ext cx="222704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Licence per engineer</a:t>
            </a:r>
            <a:endParaRPr lang="en-US" sz="2000" dirty="0"/>
          </a:p>
        </p:txBody>
      </p:sp>
      <p:sp>
        <p:nvSpPr>
          <p:cNvPr id="27" name="Text 25"/>
          <p:cNvSpPr/>
          <p:nvPr/>
        </p:nvSpPr>
        <p:spPr>
          <a:xfrm>
            <a:off x="6356350" y="5189240"/>
            <a:ext cx="222704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EC3"/>
                </a:solidFill>
                <a:latin typeface="IBM Plex Sans" pitchFamily="34" charset="0"/>
                <a:ea typeface="IBM Plex Sans" pitchFamily="34" charset="-122"/>
                <a:cs typeface="IBM Plex Sans" pitchFamily="34" charset="-120"/>
              </a:rPr>
              <a:t>Branded reports, slab-date leads</a:t>
            </a:r>
            <a:endParaRPr lang="en-US" sz="1300" dirty="0"/>
          </a:p>
        </p:txBody>
      </p:sp>
      <p:sp>
        <p:nvSpPr>
          <p:cNvPr id="28" name="Shape 26"/>
          <p:cNvSpPr/>
          <p:nvPr/>
        </p:nvSpPr>
        <p:spPr>
          <a:xfrm>
            <a:off x="8851900" y="4382195"/>
            <a:ext cx="2524125" cy="1456630"/>
          </a:xfrm>
          <a:prstGeom prst="roundRect">
            <a:avLst>
              <a:gd name="adj" fmla="val 7629"/>
            </a:avLst>
          </a:prstGeom>
          <a:solidFill>
            <a:srgbClr val="F8F6F2"/>
          </a:solidFill>
          <a:ln w="6350">
            <a:solidFill>
              <a:srgbClr val="D3CEC5"/>
            </a:solidFill>
            <a:prstDash val="solid"/>
          </a:ln>
        </p:spPr>
      </p:sp>
      <p:sp>
        <p:nvSpPr>
          <p:cNvPr id="29" name="Text 27"/>
          <p:cNvSpPr/>
          <p:nvPr/>
        </p:nvSpPr>
        <p:spPr>
          <a:xfrm>
            <a:off x="9032875" y="4563170"/>
            <a:ext cx="22270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LENDERS</a:t>
            </a:r>
            <a:endParaRPr lang="en-US" sz="1200" dirty="0"/>
          </a:p>
        </p:txBody>
      </p:sp>
      <p:sp>
        <p:nvSpPr>
          <p:cNvPr id="30" name="Text 28"/>
          <p:cNvSpPr/>
          <p:nvPr/>
        </p:nvSpPr>
        <p:spPr>
          <a:xfrm>
            <a:off x="9032875" y="4839990"/>
            <a:ext cx="222704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6191C"/>
                </a:solidFill>
                <a:latin typeface="Oswald" pitchFamily="34" charset="0"/>
                <a:ea typeface="Oswald" pitchFamily="34" charset="-122"/>
                <a:cs typeface="Oswald" pitchFamily="34" charset="-120"/>
              </a:rPr>
              <a:t>Per tranche</a:t>
            </a:r>
            <a:endParaRPr lang="en-US" sz="2000" dirty="0"/>
          </a:p>
        </p:txBody>
      </p:sp>
      <p:sp>
        <p:nvSpPr>
          <p:cNvPr id="31" name="Text 29"/>
          <p:cNvSpPr/>
          <p:nvPr/>
        </p:nvSpPr>
        <p:spPr>
          <a:xfrm>
            <a:off x="9032875" y="5195590"/>
            <a:ext cx="222704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5"/>
                </a:solidFill>
                <a:latin typeface="IBM Plex Sans" pitchFamily="34" charset="0"/>
                <a:ea typeface="IBM Plex Sans" pitchFamily="34" charset="-122"/>
                <a:cs typeface="IBM Plex Sans" pitchFamily="34" charset="-120"/>
              </a:rPr>
              <a:t>A measured record beside each visit</a:t>
            </a:r>
            <a:endParaRPr lang="en-US" sz="1300" dirty="0"/>
          </a:p>
        </p:txBody>
      </p:sp>
      <p:sp>
        <p:nvSpPr>
          <p:cNvPr id="32" name="Text 30"/>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36A"/>
                </a:solidFill>
                <a:latin typeface="IBM Plex Sans" pitchFamily="34" charset="0"/>
                <a:ea typeface="IBM Plex Sans" pitchFamily="34" charset="-122"/>
                <a:cs typeface="IBM Plex Sans" pitchFamily="34" charset="-120"/>
              </a:rPr>
              <a:t>Prices are hypotheses, not yet tested with buyers. On-device means no per-scan cloud cost.</a:t>
            </a:r>
            <a:endParaRPr lang="en-US" sz="1200" dirty="0"/>
          </a:p>
        </p:txBody>
      </p:sp>
      <p:sp>
        <p:nvSpPr>
          <p:cNvPr id="33" name="Text 3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36A"/>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9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2611B"/>
                </a:solidFill>
                <a:latin typeface="IBM Plex Mono" pitchFamily="49" charset="0"/>
                <a:ea typeface="IBM Plex Mono" pitchFamily="49" charset="-122"/>
                <a:cs typeface="IBM Plex Mono" pitchFamily="49" charset="-120"/>
              </a:rPr>
              <a:t>ROADMAP AND THE ASK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1EC"/>
                </a:solidFill>
                <a:latin typeface="Oswald" pitchFamily="34" charset="0"/>
                <a:ea typeface="Oswald" pitchFamily="34" charset="-122"/>
                <a:cs typeface="Oswald" pitchFamily="34" charset="-120"/>
              </a:rPr>
              <a:t>From one phone at the Finale to every pour</a:t>
            </a:r>
            <a:endParaRPr lang="en-US" sz="3600" dirty="0"/>
          </a:p>
        </p:txBody>
      </p:sp>
      <p:sp>
        <p:nvSpPr>
          <p:cNvPr id="4" name="Shape 2"/>
          <p:cNvSpPr/>
          <p:nvPr/>
        </p:nvSpPr>
        <p:spPr>
          <a:xfrm>
            <a:off x="812800" y="1995736"/>
            <a:ext cx="3352800" cy="0"/>
          </a:xfrm>
          <a:prstGeom prst="line">
            <a:avLst/>
          </a:prstGeom>
          <a:noFill/>
          <a:ln w="19050">
            <a:solidFill>
              <a:srgbClr val="4A5158"/>
            </a:solidFill>
            <a:prstDash val="solid"/>
          </a:ln>
        </p:spPr>
      </p:sp>
      <p:sp>
        <p:nvSpPr>
          <p:cNvPr id="5" name="Text 3"/>
          <p:cNvSpPr/>
          <p:nvPr/>
        </p:nvSpPr>
        <p:spPr>
          <a:xfrm>
            <a:off x="812800" y="2157661"/>
            <a:ext cx="34533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9096"/>
                </a:solidFill>
                <a:latin typeface="IBM Plex Mono" pitchFamily="49" charset="0"/>
                <a:ea typeface="IBM Plex Mono" pitchFamily="49" charset="-122"/>
                <a:cs typeface="IBM Plex Mono" pitchFamily="49" charset="-120"/>
              </a:rPr>
              <a:t>BEFORE 9 OCT</a:t>
            </a:r>
            <a:endParaRPr lang="en-US" sz="1200" dirty="0"/>
          </a:p>
        </p:txBody>
      </p:sp>
      <p:sp>
        <p:nvSpPr>
          <p:cNvPr id="6" name="Text 4"/>
          <p:cNvSpPr/>
          <p:nvPr/>
        </p:nvSpPr>
        <p:spPr>
          <a:xfrm>
            <a:off x="812800" y="2459881"/>
            <a:ext cx="345338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Data, not code</a:t>
            </a:r>
            <a:endParaRPr lang="en-US" sz="2000" dirty="0"/>
          </a:p>
        </p:txBody>
      </p:sp>
      <p:sp>
        <p:nvSpPr>
          <p:cNvPr id="7" name="Text 5"/>
          <p:cNvSpPr/>
          <p:nvPr/>
        </p:nvSpPr>
        <p:spPr>
          <a:xfrm>
            <a:off x="812800" y="2840881"/>
            <a:ext cx="345338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9BEC3"/>
                </a:solidFill>
                <a:latin typeface="IBM Plex Sans" pitchFamily="34" charset="0"/>
                <a:ea typeface="IBM Plex Sans" pitchFamily="34" charset="-122"/>
                <a:cs typeface="IBM Plex Sans" pitchFamily="34" charset="-120"/>
              </a:rPr>
              <a:t>Tape Bengaluru pre-pour sites for a test set, have a structural engineer review the rulebook, build the demo props.</a:t>
            </a:r>
            <a:endParaRPr lang="en-US" sz="1400" dirty="0"/>
          </a:p>
        </p:txBody>
      </p:sp>
      <p:sp>
        <p:nvSpPr>
          <p:cNvPr id="8" name="Shape 6"/>
          <p:cNvSpPr/>
          <p:nvPr/>
        </p:nvSpPr>
        <p:spPr>
          <a:xfrm>
            <a:off x="4419600" y="1995736"/>
            <a:ext cx="3352800" cy="0"/>
          </a:xfrm>
          <a:prstGeom prst="line">
            <a:avLst/>
          </a:prstGeom>
          <a:noFill/>
          <a:ln w="19050">
            <a:solidFill>
              <a:srgbClr val="E2611B"/>
            </a:solidFill>
            <a:prstDash val="solid"/>
          </a:ln>
        </p:spPr>
      </p:sp>
      <p:sp>
        <p:nvSpPr>
          <p:cNvPr id="9" name="Text 7"/>
          <p:cNvSpPr/>
          <p:nvPr/>
        </p:nvSpPr>
        <p:spPr>
          <a:xfrm>
            <a:off x="4419600" y="2157661"/>
            <a:ext cx="34533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2611B"/>
                </a:solidFill>
                <a:latin typeface="IBM Plex Mono" pitchFamily="49" charset="0"/>
                <a:ea typeface="IBM Plex Mono" pitchFamily="49" charset="-122"/>
                <a:cs typeface="IBM Plex Mono" pitchFamily="49" charset="-120"/>
              </a:rPr>
              <a:t>FINALE · 9–11 OCT</a:t>
            </a:r>
            <a:endParaRPr lang="en-US" sz="1200" dirty="0"/>
          </a:p>
        </p:txBody>
      </p:sp>
      <p:sp>
        <p:nvSpPr>
          <p:cNvPr id="10" name="Text 8"/>
          <p:cNvSpPr/>
          <p:nvPr/>
        </p:nvSpPr>
        <p:spPr>
          <a:xfrm>
            <a:off x="4419600" y="2459881"/>
            <a:ext cx="345338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The full loop, one phone</a:t>
            </a:r>
            <a:endParaRPr lang="en-US" sz="2000" dirty="0"/>
          </a:p>
        </p:txBody>
      </p:sp>
      <p:sp>
        <p:nvSpPr>
          <p:cNvPr id="11" name="Text 9"/>
          <p:cNvSpPr/>
          <p:nvPr/>
        </p:nvSpPr>
        <p:spPr>
          <a:xfrm>
            <a:off x="4419600" y="2840881"/>
            <a:ext cx="345338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9BEC3"/>
                </a:solidFill>
                <a:latin typeface="IBM Plex Sans" pitchFamily="34" charset="0"/>
                <a:ea typeface="IBM Plex Sans" pitchFamily="34" charset="-122"/>
                <a:cs typeface="IBM Plex Sans" pitchFamily="34" charset="-120"/>
              </a:rPr>
              <a:t>Count, spacing and stirrup zones; the fix in Hindi and Kannada; a signed record over Office Kit.</a:t>
            </a:r>
            <a:endParaRPr lang="en-US" sz="1400" dirty="0"/>
          </a:p>
        </p:txBody>
      </p:sp>
      <p:sp>
        <p:nvSpPr>
          <p:cNvPr id="12" name="Shape 10"/>
          <p:cNvSpPr/>
          <p:nvPr/>
        </p:nvSpPr>
        <p:spPr>
          <a:xfrm>
            <a:off x="8026400" y="1995736"/>
            <a:ext cx="3352800" cy="0"/>
          </a:xfrm>
          <a:prstGeom prst="line">
            <a:avLst/>
          </a:prstGeom>
          <a:noFill/>
          <a:ln w="19050">
            <a:solidFill>
              <a:srgbClr val="39C5CF"/>
            </a:solidFill>
            <a:prstDash val="solid"/>
          </a:ln>
        </p:spPr>
      </p:sp>
      <p:sp>
        <p:nvSpPr>
          <p:cNvPr id="13" name="Text 11"/>
          <p:cNvSpPr/>
          <p:nvPr/>
        </p:nvSpPr>
        <p:spPr>
          <a:xfrm>
            <a:off x="8026400" y="2157661"/>
            <a:ext cx="34533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9C5CF"/>
                </a:solidFill>
                <a:latin typeface="IBM Plex Mono" pitchFamily="49" charset="0"/>
                <a:ea typeface="IBM Plex Mono" pitchFamily="49" charset="-122"/>
                <a:cs typeface="IBM Plex Mono" pitchFamily="49" charset="-120"/>
              </a:rPr>
              <a:t>AFTER</a:t>
            </a:r>
            <a:endParaRPr lang="en-US" sz="1200" dirty="0"/>
          </a:p>
        </p:txBody>
      </p:sp>
      <p:sp>
        <p:nvSpPr>
          <p:cNvPr id="14" name="Text 12"/>
          <p:cNvSpPr/>
          <p:nvPr/>
        </p:nvSpPr>
        <p:spPr>
          <a:xfrm>
            <a:off x="8026400" y="2459881"/>
            <a:ext cx="345338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F3F1EC"/>
                </a:solidFill>
                <a:latin typeface="Oswald" pitchFamily="34" charset="0"/>
                <a:ea typeface="Oswald" pitchFamily="34" charset="-122"/>
                <a:cs typeface="Oswald" pitchFamily="34" charset="-120"/>
              </a:rPr>
              <a:t>Pilots with brand engineers</a:t>
            </a:r>
            <a:endParaRPr lang="en-US" sz="2000" dirty="0"/>
          </a:p>
        </p:txBody>
      </p:sp>
      <p:sp>
        <p:nvSpPr>
          <p:cNvPr id="15" name="Text 13"/>
          <p:cNvSpPr/>
          <p:nvPr/>
        </p:nvSpPr>
        <p:spPr>
          <a:xfrm>
            <a:off x="8026400" y="2840881"/>
            <a:ext cx="345338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9BEC3"/>
                </a:solidFill>
                <a:latin typeface="IBM Plex Sans" pitchFamily="34" charset="0"/>
                <a:ea typeface="IBM Plex Sans" pitchFamily="34" charset="-122"/>
                <a:cs typeface="IBM Plex Sans" pitchFamily="34" charset="-120"/>
              </a:rPr>
              <a:t>Then builders, inspectors and lender tranche records. Later: card-free depth and rib-mark brand checks.</a:t>
            </a:r>
            <a:endParaRPr lang="en-US" sz="1400" dirty="0"/>
          </a:p>
        </p:txBody>
      </p:sp>
      <p:sp>
        <p:nvSpPr>
          <p:cNvPr id="16" name="Shape 14"/>
          <p:cNvSpPr/>
          <p:nvPr/>
        </p:nvSpPr>
        <p:spPr>
          <a:xfrm>
            <a:off x="812800" y="4864497"/>
            <a:ext cx="10566400" cy="0"/>
          </a:xfrm>
          <a:prstGeom prst="line">
            <a:avLst/>
          </a:prstGeom>
          <a:noFill/>
          <a:ln w="6350">
            <a:solidFill>
              <a:srgbClr val="3A4047"/>
            </a:solidFill>
            <a:prstDash val="solid"/>
          </a:ln>
        </p:spPr>
      </p:sp>
      <p:sp>
        <p:nvSpPr>
          <p:cNvPr id="17" name="Text 15"/>
          <p:cNvSpPr/>
          <p:nvPr/>
        </p:nvSpPr>
        <p:spPr>
          <a:xfrm>
            <a:off x="812800" y="5045472"/>
            <a:ext cx="10883392" cy="821928"/>
          </a:xfrm>
          <a:prstGeom prst="rect">
            <a:avLst/>
          </a:prstGeom>
          <a:noFill/>
          <a:ln/>
        </p:spPr>
        <p:txBody>
          <a:bodyPr wrap="square" lIns="0" tIns="0" rIns="0" bIns="0" rtlCol="0" anchor="t">
            <a:normAutofit/>
          </a:bodyPr>
          <a:lstStyle/>
          <a:p>
            <a:pPr algn="l" indent="0" marL="0">
              <a:lnSpc>
                <a:spcPts val="3136"/>
              </a:lnSpc>
              <a:buNone/>
            </a:pPr>
            <a:r>
              <a:rPr lang="en-US" sz="2800" dirty="0">
                <a:solidFill>
                  <a:srgbClr val="F3F1EC"/>
                </a:solidFill>
                <a:latin typeface="Oswald" pitchFamily="34" charset="0"/>
                <a:ea typeface="Oswald" pitchFamily="34" charset="-122"/>
                <a:cs typeface="Oswald" pitchFamily="34" charset="-120"/>
              </a:rPr>
              <a:t>The iQOO 15 already sees every bar.</a:t>
            </a:r>
            <a:endParaRPr lang="en-US" sz="2800" dirty="0"/>
          </a:p>
          <a:p>
            <a:pPr algn="l" indent="0" marL="0">
              <a:lnSpc>
                <a:spcPts val="3136"/>
              </a:lnSpc>
              <a:buNone/>
            </a:pPr>
            <a:r>
              <a:rPr lang="en-US" sz="2800" dirty="0">
                <a:solidFill>
                  <a:srgbClr val="E2611B"/>
                </a:solidFill>
                <a:latin typeface="Oswald" pitchFamily="34" charset="0"/>
                <a:ea typeface="Oswald" pitchFamily="34" charset="-122"/>
                <a:cs typeface="Oswald" pitchFamily="34" charset="-120"/>
              </a:rPr>
              <a:t>Let it check them before the concrete does.</a:t>
            </a:r>
            <a:endParaRPr lang="en-US" sz="2800" dirty="0"/>
          </a:p>
        </p:txBody>
      </p:sp>
      <p:sp>
        <p:nvSpPr>
          <p:cNvPr id="18" name="Text 16"/>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8A9096"/>
                </a:solidFill>
                <a:latin typeface="IBM Plex Sans" pitchFamily="34" charset="0"/>
                <a:ea typeface="IBM Plex Sans" pitchFamily="34" charset="-122"/>
                <a:cs typeface="IBM Plex Sans" pitchFamily="34" charset="-120"/>
              </a:rPr>
              <a:t>No partner is named without consent; brand pilots are the first target, not yet agreed</a:t>
            </a:r>
            <a:endParaRPr lang="en-US" sz="1200" dirty="0"/>
          </a:p>
        </p:txBody>
      </p:sp>
      <p:sp>
        <p:nvSpPr>
          <p:cNvPr id="19"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96"/>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261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6191C"/>
                </a:solidFill>
                <a:latin typeface="IBM Plex Mono" pitchFamily="49" charset="0"/>
                <a:ea typeface="IBM Plex Mono" pitchFamily="49" charset="-122"/>
                <a:cs typeface="IBM Plex Mono" pitchFamily="49" charset="-120"/>
              </a:rPr>
              <a:t>IMPACT</a:t>
            </a:r>
            <a:endParaRPr lang="en-US" sz="1200" dirty="0"/>
          </a:p>
        </p:txBody>
      </p:sp>
      <p:sp>
        <p:nvSpPr>
          <p:cNvPr id="3" name="Text 1"/>
          <p:cNvSpPr/>
          <p:nvPr>
            <p:ph type="title"/>
          </p:nvPr>
        </p:nvSpPr>
        <p:spPr>
          <a:xfrm>
            <a:off x="812800" y="1127720"/>
            <a:ext cx="9156700"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6191C"/>
                </a:solidFill>
                <a:latin typeface="Oswald" pitchFamily="34" charset="0"/>
                <a:ea typeface="Oswald" pitchFamily="34" charset="-122"/>
                <a:cs typeface="Oswald" pitchFamily="34" charset="-120"/>
              </a:rPr>
              <a:t>Every pour leaves a measured, signed record.</a:t>
            </a:r>
            <a:endParaRPr lang="en-US" sz="4800" dirty="0"/>
          </a:p>
        </p:txBody>
      </p:sp>
      <p:sp>
        <p:nvSpPr>
          <p:cNvPr id="4" name="Shape 2"/>
          <p:cNvSpPr/>
          <p:nvPr/>
        </p:nvSpPr>
        <p:spPr>
          <a:xfrm>
            <a:off x="812800" y="2955975"/>
            <a:ext cx="3403600" cy="1193701"/>
          </a:xfrm>
          <a:prstGeom prst="roundRect">
            <a:avLst>
              <a:gd name="adj" fmla="val 9575"/>
            </a:avLst>
          </a:prstGeom>
          <a:solidFill>
            <a:srgbClr val="F3EEE6"/>
          </a:solidFill>
          <a:ln/>
        </p:spPr>
      </p:sp>
      <p:sp>
        <p:nvSpPr>
          <p:cNvPr id="5" name="Text 3"/>
          <p:cNvSpPr/>
          <p:nvPr/>
        </p:nvSpPr>
        <p:spPr>
          <a:xfrm>
            <a:off x="1016000" y="3159175"/>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HOMEOWNER</a:t>
            </a:r>
            <a:endParaRPr lang="en-US" sz="1200" dirty="0"/>
          </a:p>
        </p:txBody>
      </p:sp>
      <p:sp>
        <p:nvSpPr>
          <p:cNvPr id="6" name="Text 4"/>
          <p:cNvSpPr/>
          <p:nvPr/>
        </p:nvSpPr>
        <p:spPr>
          <a:xfrm>
            <a:off x="1016000" y="3448695"/>
            <a:ext cx="30871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F34"/>
                </a:solidFill>
                <a:latin typeface="IBM Plex Sans" pitchFamily="34" charset="0"/>
                <a:ea typeface="IBM Plex Sans" pitchFamily="34" charset="-122"/>
                <a:cs typeface="IBM Plex Sans" pitchFamily="34" charset="-120"/>
              </a:rPr>
              <a:t>Proof of what is inside the slab, dated and signed</a:t>
            </a:r>
            <a:endParaRPr lang="en-US" sz="1400" dirty="0"/>
          </a:p>
        </p:txBody>
      </p:sp>
      <p:sp>
        <p:nvSpPr>
          <p:cNvPr id="7" name="Shape 5"/>
          <p:cNvSpPr/>
          <p:nvPr/>
        </p:nvSpPr>
        <p:spPr>
          <a:xfrm>
            <a:off x="4394200" y="2955975"/>
            <a:ext cx="3403600" cy="1193701"/>
          </a:xfrm>
          <a:prstGeom prst="roundRect">
            <a:avLst>
              <a:gd name="adj" fmla="val 9575"/>
            </a:avLst>
          </a:prstGeom>
          <a:solidFill>
            <a:srgbClr val="F3EEE6"/>
          </a:solidFill>
          <a:ln/>
        </p:spPr>
      </p:sp>
      <p:sp>
        <p:nvSpPr>
          <p:cNvPr id="8" name="Text 6"/>
          <p:cNvSpPr/>
          <p:nvPr/>
        </p:nvSpPr>
        <p:spPr>
          <a:xfrm>
            <a:off x="4597400" y="3159175"/>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ENGINEER</a:t>
            </a:r>
            <a:endParaRPr lang="en-US" sz="1200" dirty="0"/>
          </a:p>
        </p:txBody>
      </p:sp>
      <p:sp>
        <p:nvSpPr>
          <p:cNvPr id="9" name="Text 7"/>
          <p:cNvSpPr/>
          <p:nvPr/>
        </p:nvSpPr>
        <p:spPr>
          <a:xfrm>
            <a:off x="4597400" y="3448695"/>
            <a:ext cx="30871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F34"/>
                </a:solidFill>
                <a:latin typeface="IBM Plex Sans" pitchFamily="34" charset="0"/>
                <a:ea typeface="IBM Plex Sans" pitchFamily="34" charset="-122"/>
                <a:cs typeface="IBM Plex Sans" pitchFamily="34" charset="-120"/>
              </a:rPr>
              <a:t>Measured evidence behind every sign-off they give</a:t>
            </a:r>
            <a:endParaRPr lang="en-US" sz="1400" dirty="0"/>
          </a:p>
        </p:txBody>
      </p:sp>
      <p:sp>
        <p:nvSpPr>
          <p:cNvPr id="10" name="Shape 8"/>
          <p:cNvSpPr/>
          <p:nvPr/>
        </p:nvSpPr>
        <p:spPr>
          <a:xfrm>
            <a:off x="7975600" y="2955975"/>
            <a:ext cx="3403600" cy="1193701"/>
          </a:xfrm>
          <a:prstGeom prst="roundRect">
            <a:avLst>
              <a:gd name="adj" fmla="val 9575"/>
            </a:avLst>
          </a:prstGeom>
          <a:solidFill>
            <a:srgbClr val="F3EEE6"/>
          </a:solidFill>
          <a:ln/>
        </p:spPr>
      </p:sp>
      <p:sp>
        <p:nvSpPr>
          <p:cNvPr id="11" name="Text 9"/>
          <p:cNvSpPr/>
          <p:nvPr/>
        </p:nvSpPr>
        <p:spPr>
          <a:xfrm>
            <a:off x="8178800" y="3159175"/>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70F"/>
                </a:solidFill>
                <a:latin typeface="IBM Plex Mono" pitchFamily="49" charset="0"/>
                <a:ea typeface="IBM Plex Mono" pitchFamily="49" charset="-122"/>
                <a:cs typeface="IBM Plex Mono" pitchFamily="49" charset="-120"/>
              </a:rPr>
              <a:t>MASON</a:t>
            </a:r>
            <a:endParaRPr lang="en-US" sz="1200" dirty="0"/>
          </a:p>
        </p:txBody>
      </p:sp>
      <p:sp>
        <p:nvSpPr>
          <p:cNvPr id="12" name="Text 10"/>
          <p:cNvSpPr/>
          <p:nvPr/>
        </p:nvSpPr>
        <p:spPr>
          <a:xfrm>
            <a:off x="8178800" y="3448695"/>
            <a:ext cx="30871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F34"/>
                </a:solidFill>
                <a:latin typeface="IBM Plex Sans" pitchFamily="34" charset="0"/>
                <a:ea typeface="IBM Plex Sans" pitchFamily="34" charset="-122"/>
                <a:cs typeface="IBM Plex Sans" pitchFamily="34" charset="-120"/>
              </a:rPr>
              <a:t>The fix in their language, and a record that it was made</a:t>
            </a:r>
            <a:endParaRPr lang="en-US" sz="1400" dirty="0"/>
          </a:p>
        </p:txBody>
      </p:sp>
      <p:sp>
        <p:nvSpPr>
          <p:cNvPr id="13" name="Shape 11"/>
          <p:cNvSpPr/>
          <p:nvPr/>
        </p:nvSpPr>
        <p:spPr>
          <a:xfrm>
            <a:off x="812800" y="4707334"/>
            <a:ext cx="10566400" cy="0"/>
          </a:xfrm>
          <a:prstGeom prst="line">
            <a:avLst/>
          </a:prstGeom>
          <a:noFill/>
          <a:ln w="19050">
            <a:solidFill>
              <a:srgbClr val="16191C"/>
            </a:solidFill>
            <a:prstDash val="solid"/>
          </a:ln>
        </p:spPr>
      </p:sp>
      <p:sp>
        <p:nvSpPr>
          <p:cNvPr id="14" name="Text 12"/>
          <p:cNvSpPr/>
          <p:nvPr/>
        </p:nvSpPr>
        <p:spPr>
          <a:xfrm>
            <a:off x="812800" y="49200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6191C"/>
                </a:solidFill>
                <a:latin typeface="IBM Plex Mono" pitchFamily="49" charset="0"/>
                <a:ea typeface="IBM Plex Mono" pitchFamily="49" charset="-122"/>
                <a:cs typeface="IBM Plex Mono" pitchFamily="49" charset="-120"/>
              </a:rPr>
              <a:t>TEAM SARPATTA · 3+ YEARS, 3+ TINKERHUB WINS · SHIPPED ON THIS IQOO 15 AT CHENNAI</a:t>
            </a:r>
            <a:endParaRPr lang="en-US" sz="1200" dirty="0"/>
          </a:p>
        </p:txBody>
      </p:sp>
      <p:sp>
        <p:nvSpPr>
          <p:cNvPr id="15" name="Text 13"/>
          <p:cNvSpPr/>
          <p:nvPr/>
        </p:nvSpPr>
        <p:spPr>
          <a:xfrm>
            <a:off x="812800" y="5260380"/>
            <a:ext cx="3505708"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6191C"/>
                </a:solidFill>
                <a:latin typeface="Oswald" pitchFamily="34" charset="0"/>
                <a:ea typeface="Oswald" pitchFamily="34" charset="-122"/>
                <a:cs typeface="Oswald" pitchFamily="34" charset="-120"/>
              </a:rPr>
              <a:t>Melvin</a:t>
            </a:r>
            <a:endParaRPr lang="en-US" sz="2200" dirty="0"/>
          </a:p>
        </p:txBody>
      </p:sp>
      <p:sp>
        <p:nvSpPr>
          <p:cNvPr id="16" name="Text 14"/>
          <p:cNvSpPr/>
          <p:nvPr/>
        </p:nvSpPr>
        <p:spPr>
          <a:xfrm>
            <a:off x="812800" y="5593110"/>
            <a:ext cx="35057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0"/>
                </a:solidFill>
                <a:latin typeface="IBM Plex Sans" pitchFamily="34" charset="0"/>
                <a:ea typeface="IBM Plex Sans" pitchFamily="34" charset="-122"/>
                <a:cs typeface="IBM Plex Sans" pitchFamily="34" charset="-120"/>
              </a:rPr>
              <a:t>Lead Engineer</a:t>
            </a:r>
            <a:endParaRPr lang="en-US" sz="1400" dirty="0"/>
          </a:p>
        </p:txBody>
      </p:sp>
      <p:sp>
        <p:nvSpPr>
          <p:cNvPr id="17" name="Text 15"/>
          <p:cNvSpPr/>
          <p:nvPr/>
        </p:nvSpPr>
        <p:spPr>
          <a:xfrm>
            <a:off x="4394200" y="5260380"/>
            <a:ext cx="3505708"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6191C"/>
                </a:solidFill>
                <a:latin typeface="Oswald" pitchFamily="34" charset="0"/>
                <a:ea typeface="Oswald" pitchFamily="34" charset="-122"/>
                <a:cs typeface="Oswald" pitchFamily="34" charset="-120"/>
              </a:rPr>
              <a:t>Alwin</a:t>
            </a:r>
            <a:endParaRPr lang="en-US" sz="2200" dirty="0"/>
          </a:p>
        </p:txBody>
      </p:sp>
      <p:sp>
        <p:nvSpPr>
          <p:cNvPr id="18" name="Text 16"/>
          <p:cNvSpPr/>
          <p:nvPr/>
        </p:nvSpPr>
        <p:spPr>
          <a:xfrm>
            <a:off x="4394200" y="5593110"/>
            <a:ext cx="35057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0"/>
                </a:solidFill>
                <a:latin typeface="IBM Plex Sans" pitchFamily="34" charset="0"/>
                <a:ea typeface="IBM Plex Sans" pitchFamily="34" charset="-122"/>
                <a:cs typeface="IBM Plex Sans" pitchFamily="34" charset="-120"/>
              </a:rPr>
              <a:t>UI/UX</a:t>
            </a:r>
            <a:endParaRPr lang="en-US" sz="1400" dirty="0"/>
          </a:p>
        </p:txBody>
      </p:sp>
      <p:sp>
        <p:nvSpPr>
          <p:cNvPr id="19" name="Text 17"/>
          <p:cNvSpPr/>
          <p:nvPr/>
        </p:nvSpPr>
        <p:spPr>
          <a:xfrm>
            <a:off x="7975600" y="5260380"/>
            <a:ext cx="3505708"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6191C"/>
                </a:solidFill>
                <a:latin typeface="Oswald" pitchFamily="34" charset="0"/>
                <a:ea typeface="Oswald" pitchFamily="34" charset="-122"/>
                <a:cs typeface="Oswald" pitchFamily="34" charset="-120"/>
              </a:rPr>
              <a:t>Sabari</a:t>
            </a:r>
            <a:endParaRPr lang="en-US" sz="2200" dirty="0"/>
          </a:p>
        </p:txBody>
      </p:sp>
      <p:sp>
        <p:nvSpPr>
          <p:cNvPr id="20" name="Text 18"/>
          <p:cNvSpPr/>
          <p:nvPr/>
        </p:nvSpPr>
        <p:spPr>
          <a:xfrm>
            <a:off x="7975600" y="5593110"/>
            <a:ext cx="35057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0"/>
                </a:solidFill>
                <a:latin typeface="IBM Plex Sans" pitchFamily="34" charset="0"/>
                <a:ea typeface="IBM Plex Sans" pitchFamily="34" charset="-122"/>
                <a:cs typeface="IBM Plex Sans" pitchFamily="34" charset="-120"/>
              </a:rPr>
              <a:t>AI Engineer</a:t>
            </a:r>
            <a:endParaRPr lang="en-US" sz="1400" dirty="0"/>
          </a:p>
        </p:txBody>
      </p:sp>
      <p:sp>
        <p:nvSpPr>
          <p:cNvPr id="21" name="Text 19"/>
          <p:cNvSpPr/>
          <p:nvPr/>
        </p:nvSpPr>
        <p:spPr>
          <a:xfrm>
            <a:off x="812800" y="6238280"/>
            <a:ext cx="915670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191C"/>
                </a:solidFill>
                <a:latin typeface="IBM Plex Sans" pitchFamily="34" charset="0"/>
                <a:ea typeface="IBM Plex Sans" pitchFamily="34" charset="-122"/>
                <a:cs typeface="IBM Plex Sans" pitchFamily="34" charset="-120"/>
              </a:rPr>
              <a:t>Sariya measures and records. The engineer certifies. It never says "safe".</a:t>
            </a:r>
            <a:endParaRPr lang="en-US" sz="1200" dirty="0"/>
          </a:p>
        </p:txBody>
      </p:sp>
      <p:sp>
        <p:nvSpPr>
          <p:cNvPr id="22"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6191C"/>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theme/theme1.xml><?xml version="1.0" encoding="utf-8"?>
<a:theme xmlns:a="http://schemas.openxmlformats.org/drawingml/2006/main" name="Sariya: check the steel before the concrete hides it">
  <a:themeElements>
    <a:clrScheme name="Sariya: check the steel before the concrete hides it">
      <a:dk1>
        <a:srgbClr val="16191C"/>
      </a:dk1>
      <a:lt1>
        <a:srgbClr val="F3F1EC"/>
      </a:lt1>
      <a:dk2>
        <a:srgbClr val="2C2F31"/>
      </a:dk2>
      <a:lt2>
        <a:srgbClr val="BCBBB8"/>
      </a:lt2>
      <a:accent1>
        <a:srgbClr val="E2611B"/>
      </a:accent1>
      <a:accent2>
        <a:srgbClr val="B4470F"/>
      </a:accent2>
      <a:accent3>
        <a:srgbClr val="39C5CF"/>
      </a:accent3>
      <a:accent4>
        <a:srgbClr val="0A6E78"/>
      </a:accent4>
      <a:accent5>
        <a:srgbClr val="8B5A3C"/>
      </a:accent5>
      <a:accent6>
        <a:srgbClr val="B9BEC3"/>
      </a:accent6>
      <a:hlink>
        <a:srgbClr val="0563C1"/>
      </a:hlink>
      <a:folHlink>
        <a:srgbClr val="954F72"/>
      </a:folHlink>
    </a:clrScheme>
    <a:fontScheme name="Sariya: check the steel before the concrete hides it">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Sariya: check the steel before the concrete hides it</dc:title>
  <dc:subject/>
  <dc:creator/>
  <cp:lastModifiedBy/>
  <cp:revision>1</cp:revision>
  <dcterms:created xsi:type="dcterms:W3CDTF">2026-10-04T20:14:04Z</dcterms:created>
  <dcterms:modified xsi:type="dcterms:W3CDTF">2026-10-04T20:14:04Z</dcterms:modified>
</cp:coreProperties>
</file>